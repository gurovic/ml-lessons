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игры: загадать число от 1 до 32, отгадать за 5 вопросов. Показать, что каждый ответ делит интервал пополам.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Акинатора (можно запустить онлайн-версию на уроке). Спросить, как Акинатор 'понимает', какой вопрос задать следующим.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с двумя признаками (рост, вес) и классом (спортсмен/не спортсмен). Объяснить, почему именно такие вопросы, а не x + y &lt;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Пояснить, почему порогов конечное число: между любыми двумя соседними значениями признака (после сортировки) impurity одинаково — можно проверять только средние точки между ними.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узел с 40 синих, 30 красных, 30 зелёных → max p = 0.4 → I = 0.6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графики обеих функций для бинарного случая (p от 0 до 1). Обе достигают максимума при p=0.5 и минимума при p=0 или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Краткая историческая справка: от ID3 к промышленным библиотекам.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Контраст: softmax — одна линейная модель, но другая архитектура; дерево — другой принцип разбиений.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если добавить столбец Номер строки от 1 до N, дерево выберет его как лучший признак — он разделит все объекты идеально, но с нулевой обобщающей способностью.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Упомянуть: точность (precision), полноту (recall), F1-меру для каждого класса. Показать, как class_weight влияет на выбор разбиения.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 зависимости train/test accuracy от глубины дерева: train растёт монотонно, test — сначала растёт, потом падает (типичный колокол переобучения).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вызов в jupyter notebook, сделать predict на новых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feature_importances_ в sklearn. Обсудить этическую сторону — если в данных есть дискриминационный признак, модель его выучит.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кусочно-постоянную аппроксимацию на одномерном примере: ступеньки разной высоты.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углубляться — это анонс следующей темы. Сказать, что подробно разберём на следующем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все три варианта в Jupyter. Объяснить, как читать дерево: в каждом узле — условие, impurity, число объектов, класс.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картинку с делением 2D-пространства деревом глубины 3. Обсудить, почему это ограничение важно и как ансамбли его смягчают.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Обсудить компромисс: точность vs интерпретируемость. Где важна объяснимость (медицина, кредитный скоринг) — дерево может быть предпочтительнее нейросети.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номинативный признак «цвет» с Label Encoding ломает интерпретацию дерева.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Подчеркнуть, что ограничение на один признак и бинарные вопросы — это не баг, а фича: оно даёт интерпретируемость и контролируемую сложность.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Аналогия: жадный ход в шахматах без просчёта всей партии. Жадность — вынужденная необходимость, не «лень разработчиков».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два разбиения с одинаковой misclassification, но разной энтропией — почему второе предпочтительнее. Подчеркнуть: важна именно строгая вогнутость, а не «выпуклость».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Краткое резюме. Можно пропустить при нехватке времени — суть уже на предыдущем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en.akinator.com/" TargetMode="External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Дерево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решений: от игры к математике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Игра 'Угадай число': последовательность вопросов → структура дерева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Каждый вопрос разделяет множество вариантов на подмножества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Дерево: связный ациклический граф с корнем, внутренними узлами (вопросы) и листьями (ответы)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Глубина дерева — максимальное число вопросов до ответа</a:t>
            </a:r>
          </a:p>
        </p:txBody>
      </p:sp>
      <p:pic>
        <p:nvPicPr>
          <p:cNvPr id="4" name="Picture 3" descr="guess_numbe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1854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Акинатор: дерево в действии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Акинатор угадывает персонажа/объект по серии вопросов ('да/нет')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Каждый ответ ведёт к следующему вопросу — структура дерева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Листья — конкретные персонажи/объекты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Демонстрация: дерево решений уже используется в повседневных приложениях</a:t>
            </a:r>
          </a:p>
        </p:txBody>
      </p:sp>
      <p:pic>
        <p:nvPicPr>
          <p:cNvPr id="4" name="Picture 3" descr="akinato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375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400">
                <a:solidFill>
                  <a:srgbClr val="3366CC"/>
                </a:solidFill>
              </a:rPr>
              <a:t xml:space="preserve">Поиграть в Акинатора: </a:t>
            </a:r>
            <a:r>
              <a:rPr sz="1400">
                <a:solidFill>
                  <a:srgbClr val="3366CC"/>
                </a:solidFill>
                <a:hlinkClick r:id="rId3"/>
              </a:rPr>
              <a:t>https://en.akinator.com/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Бинарная классификация деревом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Дано: объекты с признаками (x₁, x₂, ..., xₙ) и меткой класса (0 или 1)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задаёт вопросы вида xᵢ &lt; a — ровно один признак в узле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Да → левый потомок, Нет → правый потомок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листе: ответ — мажоритарный класс среди попавших туда объектов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Граница решения: оси-параллельные прямоугольники</a:t>
            </a:r>
          </a:p>
        </p:txBody>
      </p:sp>
      <p:pic>
        <p:nvPicPr>
          <p:cNvPr id="4" name="Picture 3" descr="binary_classification_rectan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построить дерево?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Перебираем все признаки, для каждого — все возможные пороги (их конечное число, т.к. между соседними объектами impurity не меняется)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Выбираем разбиение с максимальным уменьшением неоднородности узла — критерии misclassification, энтропия и Джини на следующих слайдах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Критерии остановки: max_depth, min_samples_leaf — чтобы не переобучаться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листе: ответ — мажоритарный класс попавших туда объектов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Критерий качества разбиения: Misclassification Impurity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t>mis</m:t>
                    </m:r>
                  </m:sub>
                </m:sSub>
                <m:r>
                  <m:t>(t)=1−</m:t>
                </m:r>
                <m:sSub>
                  <m:e>
                    <m:r>
                      <m:t>max</m:t>
                    </m:r>
                  </m:e>
                  <m:sub>
                    <m:r>
                      <m:t>k</m:t>
                    </m:r>
                  </m:sub>
                </m:sSub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если ответить самым частым классом, какова вероятность ошибки?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Простой и интуитивный, но есть недостатки при </a:t>
            </a:r>
            <ns0:m xmlns:ns0="http://schemas.microsoft.com/office/drawing/2010/main">
              <m:oMath xmlns:m="http://schemas.openxmlformats.org/officeDocument/2006/math">
                <m:r>
                  <m:t>K≥3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разберём в теоретическом блоке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Энтропия и индекс Джини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Энтропия: </a:t>
            </a:r>
            <ns0:m xmlns:ns0="http://schemas.microsoft.com/office/drawing/2010/main">
              <m:oMath xmlns:m="http://schemas.openxmlformats.org/officeDocument/2006/math">
                <m:r>
                  <m:t>H=−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e>
                </m:nary>
                <m:sSub>
                  <m:e>
                    <m:r>
                      <m:rPr>
                        <m:sty m:val="p"/>
                      </m:rPr>
                      <m:t>log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Индекс Джини: </a:t>
            </a:r>
            <ns0:m xmlns:ns0="http://schemas.microsoft.com/office/drawing/2010/main">
              <m:oMath xmlns:m="http://schemas.openxmlformats.org/officeDocument/2006/math">
                <m:r>
                  <m:t>G=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e>
                </m:nary>
                <m:r>
                  <m:t>(1−</m:t>
                </m:r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)=1−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Sup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Обе функции строго вогнуты — учитывают распределение всех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Именно их используют на практике (sklearn: criterion='gini' или 'entropy')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Почему misclassification слабее — разберём в теоретическом блоке</a:t>
            </a:r>
          </a:p>
        </p:txBody>
      </p:sp>
      <p:pic>
        <p:nvPicPr>
          <p:cNvPr id="4" name="Picture 3" descr="impurity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Классические алгоритмы деревьев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ID3 (Iterative Dichotomiser 3, Quinlan, 1986) — энтропия, категориальные признаки, без прунинга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C4.5 — наследник ID3: непрерывные признаки (пороги), Gain Ratio против high-cardinality, прунинг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CART (Classification and Regression Trees, Breiman, 1984) — Gini/MSE, только бинарные разбиения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DecisionTreeClassifier/Regressor — реализация в духе CART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Многоклассовая классификация без усилий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K классов линейные модели часто используют one-vs-rest или одну модель с softmax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решений обобщается на K классов естественно — одна модель на все классы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Подставляем K классов в формулы энтропии/Джини — алгоритм построения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Никаких дополнительных моделей и схем one-vs-rest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Предвзятость дерева: Bias towards high-cardinality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склонно выбирать признаки с большим числом уникальных значений (ID, дата рождения, имя)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Такой признак может идеально разделить выборку — каждому объекту свой лист → переобучение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Gain Ratio в C4.5 (нормирует gain на split information), ограничение глубины, min_samples_leaf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Если есть ID или строка-идентификатор — УДАЛИТЕ перед обучением!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Оценка качества дерева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Accuracy недостаточна для несбалансированных данных — смотрите precision, recall, F1 по классам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многоклассовой классификации — микро/макро-усреднение метрик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DecisionTreeClassifier: class_weight='balanced' — увеличивает вес минорных классов при подсчёте impurity при построении дерева (не при predict)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Это частично решает проблему дисбаланса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его 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дерево идеально запоминает шум — accuracy 100% на train, низкая на test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Нестабильность (высокая дисперсия): малое изменение данных → полностью другое дерево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Одно дерево — плохая идея в продакшене из-за этой нестабильности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Оценка: обязательно train/test split! Ошибка на тех же данных — грубейшая ошибка!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Прунинг (ccp_alpha): вырастить глубокое дерево, затем обрезать ветки с малым приростом качества — эффективнее жёсткого max_depth</a:t>
            </a:r>
          </a:p>
        </p:txBody>
      </p:sp>
      <p:pic>
        <p:nvPicPr>
          <p:cNvPr id="4" name="Picture 3" descr="overfitt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clf = DecisionTreeClassifier(max_depth=3, ccp_alpha=0.01, random_state=42)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clf.fit(X, y)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Важные параметры: max_depth, min_samples_leaf, ccp_alpha, criterion (gini/entropy)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воспроизводимости: random_state фиксирует случайность при равной информативности разбиений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Интерпретируемость и важность признаков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Важность признака: суммарное уменьшение impurity во всех узлах, где он используется, взвешенное на число объектов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Можно отсортировать признаки по важности — понять, что реально влияет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Важно помнить о bias: модель может выучить несправедливые закономерности (пол, национальность) — дерево их воспроизведёт</a:t>
            </a:r>
          </a:p>
        </p:txBody>
      </p:sp>
      <p:pic>
        <p:nvPicPr>
          <p:cNvPr id="4" name="Picture 3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 для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Критерий разбиения — MSE (средний квадрат ошибки)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Значение в листе — среднее арифметическое целевой переменной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Отличие от классификации: не голосование, а среднее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Выбросы в y: чувствительны при MSE; в sklearn — DecisionTreeRegressor(criterion='absolute_error') или чистка данных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Ансамбли деревьев — мостик к следующему занятию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Одно дерево — нестабильно и склонно к переобучению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строить много деревьев и усреднять их ответы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Random Forest: случайные подвыборки данных и признаков → независимые деревья → среднее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Gradient Boosting: деревья строятся последовательно, каждое исправляет ошибки предыдущего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Оба подхода используют жадные деревья как слабых учеников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деревьев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sklearn.tree.plot_tree(clf, filled=True) — графическое дерево с цветом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export_graphviz — экспорт для Graphviz (dot-формат)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export_text — текстовое представление: правила вида X[0] &lt;= 2.5 → class=1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Границы решения: оси-параллельные прямоугольники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делит пространство признаков на прямоугольники (оси-параллельные)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Проблема лестницы: дерево не может провести диагональные или круговые границы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регрессии — кусочно-постоянная аппроксимация (в каждом прямоугольнике — своя константа)</a:t>
            </a:r>
          </a:p>
        </p:txBody>
      </p:sp>
      <p:pic>
        <p:nvPicPr>
          <p:cNvPr id="4" name="Picture 3" descr="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Зачем дерево решений сегодня?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Скорость и память: работает на слабых устройствах (микроконтроллеры, старые ноутбуки)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Интерпретируемость: решение можно объяснить пошагово (в отличие от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Чем лучше логистической регрессии? — ловит нелинейности без ручного создания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Чем лучше KNN? — не хранит обучающую выборку; предсказание за O(глубина дерева)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Какая предобработка нужна деревьям?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Нормализация не нужна — масштабирование не меняет порядок значений, структура дерева не изменится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Пропуски нужно заполнять (impute); sklearn DecisionTree не работает с NaN (в отличие от XGBoost)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Категориальные признаки: sklearn не принимает строки — нужно кодирование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Порядковые категории (младший, средний, старший): Label Encoding (0, 1, 2)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Номинативные (цвет, город, пол): только One-Hot Encoding — иначе вопросы вида «цвет &lt; 2.5» бессмысленны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One-Hot при 100+ категориях — разреженность и замедление; альтернатива — целевое кодирование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в узле мы выбираем только один признак и только вопросы вида «x &lt; a»?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Перебор комбинаций признаков в каждом узле вырос бы экспоненциально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Интерпретируемость: простые, понятные правила (если x &lt; a, то …)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 признак → оси-параллельные прямоугольные области; при достаточной глубине ими можно аппроксимировать сложные границы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Сложные комбинации в одном узле резко повышают риск переобучения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Исключение: ID3/C4.5 для категориальных признаков допускают небинарные узлы, но каждый узел всё равно соответствует одному признаку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мы строим дерево жадно?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Краткий ответ: компромисс между качеством, временем и переобучением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Полный перебор оптимального дерева — NP-трудная задача (доказано)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Жадный алгоритм: </a:t>
            </a:r>
            <ns0:m xmlns:ns0="http://schemas.microsoft.com/office/drawing/2010/main">
              <m:oMath xmlns:m="http://schemas.openxmlformats.org/officeDocument/2006/math">
                <m:r>
                  <m:t>O(</m:t>
                </m:r>
                <m:sSub>
                  <m:e>
                    <m:r>
                      <m:t>n</m:t>
                    </m:r>
                  </m:e>
                  <m:sub>
                    <m:r>
                      <m:t>features</m:t>
                    </m:r>
                  </m:sub>
                </m:sSub>
                <m:r>
                  <m:t>·</m:t>
                </m:r>
                <m:sSub>
                  <m:e>
                    <m:r>
                      <m:t>n</m:t>
                    </m:r>
                  </m:e>
                  <m:sub>
                    <m:r>
                      <m:t>samples</m:t>
                    </m:r>
                  </m:sub>
                </m:sSub>
                <m:r>
                  <m:t>·</m:t>
                </m:r>
                <m:r>
                  <m:rPr>
                    <m:sty m:val="p"/>
                  </m:rPr>
                  <m:t>log</m:t>
                </m:r>
                <m:sSub>
                  <m:e>
                    <m:r>
                      <m:t>n</m:t>
                    </m:r>
                  </m:e>
                  <m:sub>
                    <m:r>
                      <m:t>samples</m:t>
                    </m:r>
                  </m:sub>
                </m:sSub>
                <m:r>
                  <m:t>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узел (в sklearn — сортировка по признаку)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Жадность даёт интерпретируемые результаты и контроль сложности (остановка, прунинг)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Недостатки жадности — плюс в ансамблях: много слабых деревьев лучше одного сильного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нам важна строгая вогнутость, если мы не используем градиенты?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Гладкость не является причиной (она не обязательна для выбора разбиения)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Misclassification impurity кусочно-линейна и не является строго вогнутой — в этом суть проблемы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</a:t>
            </a:r>
            <ns0:m xmlns:ns0="http://schemas.microsoft.com/office/drawing/2010/main">
              <m:oMath xmlns:m="http://schemas.openxmlformats.org/officeDocument/2006/math">
                <m:r>
                  <m:t>K≥3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misclassification может совпадать на разных распределениях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Пример: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0.6</m:t>
                    </m:r>
                  </m:e>
                  <m:e>
                    <m:r>
                      <m:t>0.2</m:t>
                    </m:r>
                  </m:e>
                  <m:e>
                    <m:r>
                      <m:t>0.2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0.6</m:t>
                    </m:r>
                  </m:e>
                  <m:e>
                    <m:r>
                      <m:t>0.1</m:t>
                    </m:r>
                  </m:e>
                  <m:e>
                    <m:r>
                      <m:t>0.3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дают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t>mis</m:t>
                    </m:r>
                  </m:sub>
                </m:sSub>
                <m:r>
                  <m:t>=0.4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но разную энтропию и Джини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Misclassification смотрит только на самый большой класс, игнорируя остальные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Энтропия и Джини строго вогнуты — прирост разбиения однозначен, меньше случайности в выборе порога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Вывод: misclassification на практике почти не используют; деревья с Gini и entropy обычно близки по качеству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Джини или энтропия?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Джини быстрее (только квадраты), энтропия требует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rPr>
                        <m:sty m:val="p"/>
                      </m:rPr>
                      <m:t>log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на современных данных разница несущественна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Энтропия: интерпретация в битах; Джини — квадратичное приближение энтропии вблизи равномерного распределения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Вблизи чистых узлов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≈1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энтропия сильнее штрафует редкий класс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На практике деревья почти одинаковы — начинайте с Gini (default в sklearn), не тратьте время на тонкую настройку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