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Краткая историческая справка: от ID3 к промышленным библиотекам.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Контраст: softmax — одна линейная модель, но другая архитектура; дерево — другой принцип разбиений.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номинативный признак «цвет» с Label Encoding ломает интерпретацию дерева.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Аналогия: жадный ход в шахматах без просчёта всей партии. Жадность — вынужденная необходимость, не «лень разработчиков».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два разбиения с одинаковой misclassification, но разной энтропией — почему второе предпочтительнее. Подчеркнуть: важна именно строгая вогнутость, а не «выпуклость».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Краткое резюме. Можно пропустить при нехватке времени — суть уже на предыдущем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nch.net/~coms-4771/quinlan.pdf" TargetMode="External"/><Relationship Id="rId3" Type="http://schemas.openxmlformats.org/officeDocument/2006/relationships/hyperlink" Target="https://www.stat.berkeley.edu/~breiman/randomforest2001.pdf" TargetMode="External"/><Relationship Id="rId4" Type="http://schemas.openxmlformats.org/officeDocument/2006/relationships/hyperlink" Target="https://colab.research.google.com/github/gurovic/ml-lessons/blob/main/lessons/derevo_resheniy/code.ipynb" TargetMode="External"/><Relationship Id="rId5" Type="http://schemas.openxmlformats.org/officeDocument/2006/relationships/hyperlink" Target="https://colab.research.google.com/github/gurovic/ml-lessons/blob/main/lessons/derevo_resheniy/project.ipynb" TargetMode="External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495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Листья — конкретные персонажи/объекты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907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Поиграть в Акинатора: </a:t>
            </a:r>
            <a:r>
              <a:rPr sz="1400">
                <a:solidFill>
                  <a:srgbClr val="3366CC"/>
                </a:solidFill>
                <a:hlinkClick r:id="rId3"/>
              </a:rPr>
              <a:t>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Да → левый потомок, Нет → правый потомок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Граница решения: оси-параллельные прямоугольники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9703"/>
            <a:ext cx="617220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26279"/>
            <a:ext cx="602589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sklearn.datasets import load_iris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X, y = load_iris(return_X_y=True)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X, y = X[y != 2], (y[y != 2] == 0).astype(int)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бинарная задача: setosa vs остальные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49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Два класса из iris</a:t>
            </a:r>
          </a:p>
        </p:txBody>
      </p:sp>
      <p:pic>
        <p:nvPicPr>
          <p:cNvPr id="7" name="Picture 6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57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Выбираем разбиение с максимальным уменьшением неоднородности узла — критерии misclassification, энтропия и Джини на следующих слайдах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(t)=1−</m:t>
                </m:r>
                <m:sSub>
                  <m:e>
                    <m:r>
                      <m:t>max</m:t>
                    </m:r>
                  </m:e>
                  <m:sub>
                    <m:r>
                      <m:t>k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если ответить самым частым классом, какова вероятность ошибки?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Простой и интуитивный, но есть недостатки (обсудим на слайде 21)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Энтропия: </a:t>
            </a:r>
            <ns0:m xmlns:ns0="http://schemas.microsoft.com/office/drawing/2010/main">
              <m:oMath xmlns:m="http://schemas.openxmlformats.org/officeDocument/2006/math">
                <m:r>
                  <m:t>H=−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Индекс Джини: </a:t>
            </a:r>
            <ns0:m xmlns:ns0="http://schemas.microsoft.com/office/drawing/2010/main">
              <m:oMath xmlns:m="http://schemas.openxmlformats.org/officeDocument/2006/math">
                <m:r>
                  <m:t>G=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r>
                  <m:t>(1−</m:t>
                </m:r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)=1−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Sup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Почему misclassification слабее — разберём в теоретическом блоке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17220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02589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DecisionTreeClassifier(criterion='gini')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clf_ent = DecisionTreeClassifier(criterion='entropy')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сравните деревья на одних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Gini vs entropy</a:t>
            </a:r>
          </a:p>
        </p:txBody>
      </p:sp>
      <p:pic>
        <p:nvPicPr>
          <p:cNvPr id="7" name="Picture 6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4044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Классические алгоритмы деревьев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ID3 (Iterative Dichotomiser 3, Quinlan, 1986) — энтропия, категориальные признаки, без прунинга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C4.5 — наследник ID3: непрерывные признаки (пороги), Gain Ratio против high-cardinality, прунинг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CART (Classification and Regression Trees, Breiman, 1984) — Gini/MSE, только бинарные разбиения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sklearn DecisionTreeClassifier/Regressor — реализация в духе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K классов линейные модели часто используют one-vs-rest или одну модель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 решений обобщается на K классов естественно — одна модель на все классы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Подставляем K классов в формулы энтропии/Джини — алгоритм построения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Никаких дополнительных моделей и схем one-vs-rest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Решение: Gain Ratio в C4.5 (нормирует gain на split information), ограничение глубины, min_samples_leaf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Accuracy недостаточна для несбалансированных данных — смотрите precision, recall, F1 по классам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DecisionTreeClassifier: class_weight='balanced' — увеличивает вес минорных классов при подсчёте impurity при построении дерева (не при predict)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Это частично решает проблему дисбаланса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1115568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1100937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= clf.predict(X_test)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print(accuracy_score(y_test, y_pred))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print(f1_score(y_test, y_pred, average='macro'))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Accuracy и F1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17220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02589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clf_deep = DecisionTreeClassifier(max_depth=None)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clf_reg = DecisionTreeClassifier(max_depth=3)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глубокое дерево: высокий train, низкий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Ограничение max_depth</a:t>
            </a:r>
          </a:p>
        </p:txBody>
      </p:sp>
      <p:pic>
        <p:nvPicPr>
          <p:cNvPr id="7" name="Picture 6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8780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clf = DecisionTreeClassifier(max_depth=3, ccp_alpha=0.01, random_state=42)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clf.fit(X, 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Важные параметры: max_depth, min_samples_leaf, ccp_alpha, criterion (gini/entropy)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воспроизводимости: random_state фиксирует случайность при равной информативности разбиений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1115568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1100937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DecisionTreeClassifier(max_depth=3, 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DecisionTreeClassifier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92040"/>
            <a:ext cx="617220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28616"/>
            <a:ext cx="602589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 = pd.Series(clf.feature_importances_, index=feature_names)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imp.sort_values(ascending=False).head()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04104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feature_importances_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22786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Критерий разбиения — MSE (средний квадрат ошибки)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Отличие от классификации: не голосование, а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Выбросы в y: чувствительны при MSE; в sklearn — DecisionTreeRegressor(criterion='absolute_error') или чистка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1115568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1100937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 = DecisionTreeRegressor(max_depth=4, 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76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DecisionTreeRegressor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Одно дерево — нестабильно и склонно к переобучению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Решение: строить много деревьев и усреднять их ответы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Random Forest: случайные подвыборки данных и признаков → независимые деревья → среднее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export_graphviz — экспорт для Graphviz (dot-формат)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export_text — текстовое представление: правила вида X[0] &lt;= 2.5 → class=1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92040"/>
            <a:ext cx="1115568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28616"/>
            <a:ext cx="1100937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plot_tree(clf, feature_names=names, filled=True)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plt.show()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04104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plot_tree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регрессии — кусочно-постоянная аппроксимация (в каждом прямоугольнике — своя константа)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288536"/>
            <a:ext cx="617220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325112"/>
            <a:ext cx="602589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xx, yy = np.meshgrid(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np.linspace(x.min(), x.max(), 200),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np.linspace(y.min(), y.max(), 200),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Z = clf.predict(np.c_[xx.ravel(), yy.ravel()]).reshape(xx.shape)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21807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для границы</a:t>
            </a:r>
          </a:p>
        </p:txBody>
      </p:sp>
      <p:pic>
        <p:nvPicPr>
          <p:cNvPr id="7" name="Picture 6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5780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дерево решений сегодня?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Чем лучше KNN? — не хранит обучающую выборку; предсказание за O(глубина дерева)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Какая предобработка нужна деревьям?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Нормализация не нужна — масштабирование не меняет порядок значений, структура дерева не изменится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Пропуски нужно заполнять (impute); sklearn DecisionTree не работает с NaN (в отличие от XGBoost)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Категориальные признаки: sklearn не принимает строки — нужно кодирование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Порядковые категории (младший, средний, старший): Label Encoding (0, 1, 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Номинативные (цвет, город, пол): только One-Hot Encoding — иначе вопросы вида «цвет &lt; 2.5» бессмысленны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One-Hot при 100+ категориях — разреженность и замедление; альтернатива — целевое кодирование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90872"/>
            <a:ext cx="1115568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4727448"/>
            <a:ext cx="1100937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масштабирование не обязательно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DecisionTreeClassifier(random_state=42)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clf.fit(X_raw, y)  # можно на исходных признаках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76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Без StandardScaler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Один признак → оси-параллельные прямоугольные области; при достаточной глубине ими можно аппроксимировать сложные границы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Краткий ответ: компромисс между качеством, временем и переобучением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Жадный алгоритм: </a:t>
            </a:r>
            <ns0:m xmlns:ns0="http://schemas.microsoft.com/office/drawing/2010/main">
              <m:oMath xmlns:m="http://schemas.openxmlformats.org/officeDocument/2006/math">
                <m:r>
                  <m:t>O(</m:t>
                </m:r>
                <m:sSub>
                  <m:e>
                    <m:r>
                      <m:t>n</m:t>
                    </m:r>
                  </m:e>
                  <m:sub>
                    <m:r>
                      <m:t>features</m:t>
                    </m:r>
                  </m:sub>
                </m:sSub>
                <m:r>
                  <m:t>·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·</m:t>
                </m:r>
                <m:r>
                  <m:rPr>
                    <m:sty m:val="p"/>
                  </m:rPr>
                  <m:t>log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узел (в sklearn — сортировка по признаку)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Жадность даёт интерпретируемые результаты и контроль сложности (остановка, прунинг)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Недостатки жадности — плюс в ансамблях: много слабых деревьев лучше одного сильного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Misclassification impurity кусочно-линейна и не является строго вогнутой — в этом суть проблемы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misclassification может совпадать на разных распределениях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Пример: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0.2</m:t>
                    </m:r>
                  </m:e>
                  <m:e>
                    <m:r>
                      <m:t>0.2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0.1</m:t>
                    </m:r>
                  </m:e>
                  <m:e>
                    <m:r>
                      <m:t>0.3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дают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=0.4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но разную энтропию и Джини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Misclassification смотрит только на самый большой класс, игнорируя остальные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Энтропия и Джини строго вогнуты — прирост разбиения однозначен, меньше случайности в выборе порога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Вывод: misclassification на практике почти не используют; деревья с Gini и entropy обычно близки по качеству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Джини быстрее (только квадраты), энтропия требует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на современных данных разница несущественна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Энтропия: интерпретация в битах; Джини — квадратичное приближение энтропии вблизи равномерного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Вблизи чистых узлов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≈1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энтропия сильнее штрафует редкий класс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На практике деревья почти одинаковы — начинайте с Gini (default в sklearn), не тратьте время на тонкую настройку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Breiman L., Friedman J., Olshen R., Stone C. (1984). Classification and Regression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Quinlan J.R. (1986). Induction of Decision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Breiman L. (2001). Random Forests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https://colab.research.google.com/github/gurovic/ml-lessons/blob/main/lessons/derevo_resheniy/code.ipynb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https://colab.research.google.com/github/gurovic/ml-lessons/blob/main/lessons/derevo_resheniy/project.ipynb</a:t>
            </a:r>
          </a:p>
        </p:txBody>
      </p:sp>
      <p:pic>
        <p:nvPicPr>
          <p:cNvPr id="10" name="Picture 9" descr="_qr_ref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24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