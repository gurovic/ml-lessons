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 игры: загадать число от 1 до 32, отгадать за 5 вопросов. Показать, что каждый ответ делит интервал пополам.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 Акинатора (можно запустить онлайн-версию на уроке). Спросить, как Акинатор 'понимает', какой вопрос задать следующим.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 с двумя признаками (рост, вес) и классом (спортсмен/не спортсмен). Объяснить, почему именно такие вопросы, а не x + y &lt;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Пояснить, почему порогов конечное число: между любыми двумя соседними значениями признака (после сортировки) impurity одинаково — можно проверять только средние точки между 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узел с 40 синих, 30 красных, 30 зелёных → max p = 0.4 → I = 0.6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графики обеих функций для бинарного случая (p от 0 до 1). Обратить внимание, что обе достигают максимума при p=0.5 и минимума при p=0 или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 контраст с логистической регрессией, где для K классов нужно обучать K классификаторов или использовать softmax.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если добавить столбец Номер строки от 1 до N, дерево выберет его как лучший признак — он разделит все объекты идеально, но с нулевой обобщающей способностью.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Упомянуть: точность (precision), полноту (recall), F1-меру для каждого класса. Показать, как class_weight влияет на выбор разбиения.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график зависимости train/test accuracy от глубины дерева: train растёт монотонно, test — сначала растёт, потом падает (типичный колокол переобучения).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вызов в jupyter notebook, сделать predict на новых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пример: feature_importances_ в sklearn. Обсудить этическую сторону — если в данных есть дискриминационный признак, модель его выучит.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кусочно-постоянную аппроксимацию на одномерном примере: ступеньки разной высоты.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углубляться — это анонс следующей темы. Сказать, что подробно разберём на следующем занятии.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все три варианта в Jupyter. Объяснить, как читать дерево: в каждом узле — условие, impurity, число объектов,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картинку с делением 2D-пространства деревом глубины 3. Обсудить, почему это ограничение важно и как ансамбли его смягчают.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Можно раздать как памятку или вывести на экран во время обсуждения.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Обсудить компромисс: точность vs интерпретируемость. Где важна объяснимость (медицина, кредитный скоринг) — дерево может быть предпочтительнее нейросети.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en.akinator.com/" TargetMode="External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Дерево 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Автор: Гуровиц Владимир Михайлович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77777"/>
                </a:solidFill>
              </a:defRPr>
            </a:pPr>
            <a:r>
              <a:t>Email: vladimir.gurovic@letovo.ru, gurovic@gmail.com | Telegram: @gurovic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27.06.2026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Дерево решений: от игры к математике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Игра 'Угадай число': последовательность вопросов → структура дерева</a:t>
            </a:r>
          </a:p>
          <a:p>
            <a:pPr>
              <a:spcAft>
                <a:spcPts val="800"/>
              </a:spcAft>
              <a:defRPr sz="2000"/>
            </a:pPr>
            <a:r>
              <a:t>Каждый вопрос разделяет множество вариантов на подмножества</a:t>
            </a:r>
          </a:p>
          <a:p>
            <a:pPr>
              <a:spcAft>
                <a:spcPts val="800"/>
              </a:spcAft>
              <a:defRPr sz="2000"/>
            </a:pPr>
            <a:r>
              <a:t>Дерево: связный ациклический граф с корнем, внутренними узлами (вопросы) и листьями (ответы)</a:t>
            </a:r>
          </a:p>
          <a:p>
            <a:pPr>
              <a:spcAft>
                <a:spcPts val="800"/>
              </a:spcAft>
              <a:defRPr sz="2000"/>
            </a:pPr>
            <a:r>
              <a:t>Глубина дерева — максимальное число вопросов до ответа</a:t>
            </a:r>
          </a:p>
        </p:txBody>
      </p:sp>
      <p:pic>
        <p:nvPicPr>
          <p:cNvPr id="4" name="Picture 3" descr="guess_numbe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185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Акинатор: дерево в действии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Акинатор угадывает персонажа/объект по серии вопросов ('да/нет')</a:t>
            </a:r>
          </a:p>
          <a:p>
            <a:pPr>
              <a:spcAft>
                <a:spcPts val="800"/>
              </a:spcAft>
              <a:defRPr sz="2000"/>
            </a:pPr>
            <a:r>
              <a:t>Каждый ответ ведёт к следующему вопросу — структура дерева</a:t>
            </a:r>
          </a:p>
          <a:p>
            <a:pPr>
              <a:spcAft>
                <a:spcPts val="800"/>
              </a:spcAft>
              <a:defRPr sz="2000"/>
            </a:pPr>
            <a:r>
              <a:t>Листья — конкретные персонажи/объекты</a:t>
            </a:r>
          </a:p>
          <a:p>
            <a:pPr>
              <a:spcAft>
                <a:spcPts val="800"/>
              </a:spcAft>
              <a:defRPr sz="2000"/>
            </a:pPr>
            <a:r>
              <a:t>Демонстрация: дерево решений уже используется в повседневных приложениях</a:t>
            </a:r>
          </a:p>
        </p:txBody>
      </p:sp>
      <p:pic>
        <p:nvPicPr>
          <p:cNvPr id="4" name="Picture 3" descr="akinato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375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66CC"/>
                </a:solidFill>
                <a:hlinkClick r:id="rId3"/>
              </a:rPr>
              <a:t>Поиграть в Акинатора: https://en.akinator.com/</a:t>
            </a:r>
          </a:p>
        </p:txBody>
      </p:sp>
      <p:pic>
        <p:nvPicPr>
          <p:cNvPr id="6" name="Picture 5" descr="_qr_te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114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Бинарная классификация деревом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Дано: объекты с признаками (x₁, x₂, ..., xₙ) и меткой класса (0 или 1)</a:t>
            </a:r>
          </a:p>
          <a:p>
            <a:pPr>
              <a:spcAft>
                <a:spcPts val="800"/>
              </a:spcAft>
              <a:defRPr sz="2000"/>
            </a:pPr>
            <a:r>
              <a:t>Дерево задаёт вопросы вида xᵢ &lt; a — ровно один признак в узле</a:t>
            </a:r>
          </a:p>
          <a:p>
            <a:pPr>
              <a:spcAft>
                <a:spcPts val="800"/>
              </a:spcAft>
              <a:defRPr sz="2000"/>
            </a:pPr>
            <a:r>
              <a:t>Да → левый потомок, Нет → правый потомок</a:t>
            </a:r>
          </a:p>
          <a:p>
            <a:pPr>
              <a:spcAft>
                <a:spcPts val="800"/>
              </a:spcAft>
              <a:defRPr sz="2000"/>
            </a:pPr>
            <a:r>
              <a:t>В листе: ответ — мажоритарный класс среди попавших туда объектов</a:t>
            </a:r>
          </a:p>
          <a:p>
            <a:pPr>
              <a:spcAft>
                <a:spcPts val="800"/>
              </a:spcAft>
              <a:defRPr sz="2000"/>
            </a:pPr>
            <a:r>
              <a:t>Граница решения: оси-параллельные прямоугольники</a:t>
            </a:r>
          </a:p>
        </p:txBody>
      </p:sp>
      <p:pic>
        <p:nvPicPr>
          <p:cNvPr id="4" name="Picture 3" descr="binary_classification_rectang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Как построить дерево?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Перебираем все признаки, для каждого — все возможные пороги (их конечное число, т.к. между соседними объектами impurity не меняется)</a:t>
            </a:r>
          </a:p>
          <a:p>
            <a:pPr>
              <a:spcAft>
                <a:spcPts val="800"/>
              </a:spcAft>
              <a:defRPr sz="2000"/>
            </a:pPr>
            <a:r>
              <a:t>Выбираем разбиение с максимальным уменьшением impurity (Gini/энтропия)</a:t>
            </a:r>
          </a:p>
          <a:p>
            <a:pPr>
              <a:spcAft>
                <a:spcPts val="800"/>
              </a:spcAft>
              <a:defRPr sz="2000"/>
            </a:pPr>
            <a:r>
              <a:t>Критерии остановки: max_depth, min_samples_leaf — чтобы не переобучаться</a:t>
            </a:r>
          </a:p>
          <a:p>
            <a:pPr>
              <a:spcAft>
                <a:spcPts val="800"/>
              </a:spcAft>
              <a:defRPr sz="2000"/>
            </a:pPr>
            <a:r>
              <a:t>В листе: ответ — мажоритарный класс попавших туда объектов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Критерий качества разбиения: Misclassification Impurity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I_mis(t) = 1 - max_k p_k, где p_k — доля класса k в узле t</a:t>
            </a:r>
          </a:p>
          <a:p>
            <a:pPr>
              <a:spcAft>
                <a:spcPts val="800"/>
              </a:spcAft>
              <a:defRPr sz="2000"/>
            </a:pPr>
            <a:r>
              <a:t>Интуиция: если бы мы ответили самым частым классом, какова вероятность ошибки?</a:t>
            </a:r>
          </a:p>
          <a:p>
            <a:pPr>
              <a:spcAft>
                <a:spcPts val="800"/>
              </a:spcAft>
              <a:defRPr sz="2000"/>
            </a:pPr>
            <a:r>
              <a:t>Простой и интуитивный, но есть недостатки (обсудим на слайде 21)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Энтропия и индекс Джини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Энтропия: H = -∑ p_k · log₂(p_k)</a:t>
            </a:r>
          </a:p>
          <a:p>
            <a:pPr>
              <a:spcAft>
                <a:spcPts val="800"/>
              </a:spcAft>
              <a:defRPr sz="2000"/>
            </a:pPr>
            <a:r>
              <a:t>Индекс Джини: G = ∑ p_k · (1-p_k) = 1 - ∑ p_k²</a:t>
            </a:r>
          </a:p>
          <a:p>
            <a:pPr>
              <a:spcAft>
                <a:spcPts val="800"/>
              </a:spcAft>
              <a:defRPr sz="2000"/>
            </a:pPr>
            <a:r>
              <a:t>Обе функции строго вогнуты — учитывают распределение всех классов</a:t>
            </a:r>
          </a:p>
          <a:p>
            <a:pPr>
              <a:spcAft>
                <a:spcPts val="800"/>
              </a:spcAft>
              <a:defRPr sz="2000"/>
            </a:pPr>
            <a:r>
              <a:t>Именно их используют на практике (sklearn criterion=gini или entropy)</a:t>
            </a:r>
          </a:p>
          <a:p>
            <a:pPr>
              <a:spcAft>
                <a:spcPts val="800"/>
              </a:spcAft>
              <a:defRPr sz="2000"/>
            </a:pPr>
            <a:r>
              <a:t>Почему они лучше Misclassification — объясним позже</a:t>
            </a:r>
          </a:p>
        </p:txBody>
      </p:sp>
      <p:pic>
        <p:nvPicPr>
          <p:cNvPr id="4" name="Picture 3" descr="impurity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Многоклассовая классификация без усилий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Линейным моделям нужно K бинарных классификаторов (one-vs-rest)</a:t>
            </a:r>
          </a:p>
          <a:p>
            <a:pPr>
              <a:spcAft>
                <a:spcPts val="800"/>
              </a:spcAft>
              <a:defRPr sz="2000"/>
            </a:pPr>
            <a:r>
              <a:t>Дерево решений обобщается на K классов естественно</a:t>
            </a:r>
          </a:p>
          <a:p>
            <a:pPr>
              <a:spcAft>
                <a:spcPts val="800"/>
              </a:spcAft>
              <a:defRPr sz="2000"/>
            </a:pPr>
            <a:r>
              <a:t>Просто подставляем K классов в формулы энтропии/Джини — алгоритм не меняется</a:t>
            </a:r>
          </a:p>
          <a:p>
            <a:pPr>
              <a:spcAft>
                <a:spcPts val="800"/>
              </a:spcAft>
              <a:defRPr sz="2000"/>
            </a:pPr>
            <a:r>
              <a:t>Никаких one-vs-rest, никаких дополнительных моделей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Предвзятость дерева: Bias towards high-cardinality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Дерево склонно выбирать признаки с большим числом уникальных значений (ID, дата рождения, имя)</a:t>
            </a:r>
          </a:p>
          <a:p>
            <a:pPr>
              <a:spcAft>
                <a:spcPts val="800"/>
              </a:spcAft>
              <a:defRPr sz="2000"/>
            </a:pPr>
            <a:r>
              <a:t>Такой признак может идеально разделить выборку — каждому объекту свой лист → переобучение</a:t>
            </a:r>
          </a:p>
          <a:p>
            <a:pPr>
              <a:spcAft>
                <a:spcPts val="800"/>
              </a:spcAft>
              <a:defRPr sz="2000"/>
            </a:pPr>
            <a:r>
              <a:t>Решение: Gain Ratio (C4.5), ограничение глубины, min_samples_leaf</a:t>
            </a:r>
          </a:p>
          <a:p>
            <a:pPr>
              <a:spcAft>
                <a:spcPts val="800"/>
              </a:spcAft>
              <a:defRPr sz="2000"/>
            </a:pPr>
            <a:r>
              <a:t>Если есть ID или строка-идентификатор — УДАЛИТЕ перед обучением!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Оценка качества дерева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Accuracy недостаточна для несбалансированных данных</a:t>
            </a:r>
          </a:p>
          <a:p>
            <a:pPr>
              <a:spcAft>
                <a:spcPts val="800"/>
              </a:spcAft>
              <a:defRPr sz="2000"/>
            </a:pPr>
            <a:r>
              <a:t>Для многоклассовой классификации — микро/макро-усреднение метрик</a:t>
            </a:r>
          </a:p>
          <a:p>
            <a:pPr>
              <a:spcAft>
                <a:spcPts val="800"/>
              </a:spcAft>
              <a:defRPr sz="2000"/>
            </a:pPr>
            <a:r>
              <a:t>DecisionTreeClassifier: class_weight=balanced — автоматически увеличивает вес минорных классов при подсчёте impurity</a:t>
            </a:r>
          </a:p>
          <a:p>
            <a:pPr>
              <a:spcAft>
                <a:spcPts val="800"/>
              </a:spcAft>
              <a:defRPr sz="2000"/>
            </a:pPr>
            <a:r>
              <a:t>Это частично решает проблему дисбаланса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Переобучение и его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Переобучение: дерево идеально запоминает шум — accuracy 100% на train, низкая на test</a:t>
            </a:r>
          </a:p>
          <a:p>
            <a:pPr>
              <a:spcAft>
                <a:spcPts val="800"/>
              </a:spcAft>
              <a:defRPr sz="2000"/>
            </a:pPr>
            <a:r>
              <a:t>Нестабильность (высокая дисперсия): малое изменение данных → полностью другое дерево</a:t>
            </a:r>
          </a:p>
          <a:p>
            <a:pPr>
              <a:spcAft>
                <a:spcPts val="800"/>
              </a:spcAft>
              <a:defRPr sz="2000"/>
            </a:pPr>
            <a:r>
              <a:t>Одно дерево — плохая идея в продакшене из-за этой нестабильности</a:t>
            </a:r>
          </a:p>
          <a:p>
            <a:pPr>
              <a:spcAft>
                <a:spcPts val="800"/>
              </a:spcAft>
              <a:defRPr sz="2000"/>
            </a:pPr>
            <a:r>
              <a:t>Оценка: обязательно train/test split! Ошибка на тех же данных — грубейшая ошибка!</a:t>
            </a:r>
          </a:p>
          <a:p>
            <a:pPr>
              <a:spcAft>
                <a:spcPts val="800"/>
              </a:spcAft>
              <a:defRPr sz="2000"/>
            </a:pPr>
            <a:r>
              <a:t>Прунинг (ccp_alpha): вырастить глубокое дерево, затем обрезать ветки с малым приростом качества — эффективнее жёсткого max_depth</a:t>
            </a:r>
          </a:p>
        </p:txBody>
      </p:sp>
      <p:pic>
        <p:nvPicPr>
          <p:cNvPr id="4" name="Picture 3" descr="overfitt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Дерево решений в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clf = DecisionTreeClassifier(max_depth=3, ccp_alpha=0.01, random_state=42)</a:t>
            </a:r>
          </a:p>
          <a:p>
            <a:pPr>
              <a:spcAft>
                <a:spcPts val="800"/>
              </a:spcAft>
              <a:defRPr sz="2000"/>
            </a:pPr>
            <a:r>
              <a:t>clf.fit(X, y)</a:t>
            </a:r>
          </a:p>
          <a:p>
            <a:pPr>
              <a:spcAft>
                <a:spcPts val="800"/>
              </a:spcAft>
              <a:defRPr sz="2000"/>
            </a:pPr>
            <a:r>
              <a:t>Важные параметры: max_depth, min_samples_leaf, ccp_alpha, criterion (gini/entropy)</a:t>
            </a:r>
          </a:p>
          <a:p>
            <a:pPr>
              <a:spcAft>
                <a:spcPts val="800"/>
              </a:spcAft>
              <a:defRPr sz="2000"/>
            </a:pPr>
            <a:r>
              <a:t>Для воспроизводимости: random_state фиксирует случайность при равной информативности разбиений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Интерпретируемость и важность признаков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Важность признака: суммарное уменьшение impurity во всех узлах, где он используется, взвешенное на число объектов</a:t>
            </a:r>
          </a:p>
          <a:p>
            <a:pPr>
              <a:spcAft>
                <a:spcPts val="800"/>
              </a:spcAft>
              <a:defRPr sz="2000"/>
            </a:pPr>
            <a:r>
              <a:t>Можно отсортировать признаки по важности — понять, что реально влияет</a:t>
            </a:r>
          </a:p>
          <a:p>
            <a:pPr>
              <a:spcAft>
                <a:spcPts val="800"/>
              </a:spcAft>
              <a:defRPr sz="2000"/>
            </a:pPr>
            <a:r>
              <a:t>Важно помнить о bias: модель может выучить несправедливые закономерности (пол, национальность) — дерево их воспроизведёт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Дерево решений для регрессии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Критерий разбиения — MSE (средний квадрат ошибки)</a:t>
            </a:r>
          </a:p>
          <a:p>
            <a:pPr>
              <a:spcAft>
                <a:spcPts val="800"/>
              </a:spcAft>
              <a:defRPr sz="2000"/>
            </a:pPr>
            <a:r>
              <a:t>Значение в листе — среднее арифметическое целевой переменной</a:t>
            </a:r>
          </a:p>
          <a:p>
            <a:pPr>
              <a:spcAft>
                <a:spcPts val="800"/>
              </a:spcAft>
              <a:defRPr sz="2000"/>
            </a:pPr>
            <a:r>
              <a:t>Отличие от классификации: не голосование, а среднее</a:t>
            </a:r>
          </a:p>
          <a:p>
            <a:pPr>
              <a:spcAft>
                <a:spcPts val="800"/>
              </a:spcAft>
              <a:defRPr sz="2000"/>
            </a:pPr>
            <a:r>
              <a:t>Выбросы: дерево не чувствительно к выбросам в X, но чувствительно к выбросам в y — лучше чистить данные или использовать MAE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Ансамбли деревьев — мостик 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Одно дерево — нестабильно и склонно к переобучению</a:t>
            </a:r>
          </a:p>
          <a:p>
            <a:pPr>
              <a:spcAft>
                <a:spcPts val="800"/>
              </a:spcAft>
              <a:defRPr sz="2000"/>
            </a:pPr>
            <a:r>
              <a:t>Решение: строить много деревьев и усреднять их ответы</a:t>
            </a:r>
          </a:p>
          <a:p>
            <a:pPr>
              <a:spcAft>
                <a:spcPts val="800"/>
              </a:spcAft>
              <a:defRPr sz="2000"/>
            </a:pPr>
            <a:r>
              <a:t>Random Forest: случайные подвыборки данных и признаков → независимые деревья → среднее</a:t>
            </a:r>
          </a:p>
          <a:p>
            <a:pPr>
              <a:spcAft>
                <a:spcPts val="800"/>
              </a:spcAft>
              <a:defRPr sz="2000"/>
            </a:pPr>
            <a:r>
              <a:t>Gradient Boosting: деревья строятся последовательно, каждое исправляет ошибки предыдущего</a:t>
            </a:r>
          </a:p>
          <a:p>
            <a:pPr>
              <a:spcAft>
                <a:spcPts val="800"/>
              </a:spcAft>
              <a:defRPr sz="2000"/>
            </a:pPr>
            <a:r>
              <a:t>Оба подхода используют жадные деревья как слабых учеников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Визуализация деревьев в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sklearn.tree.plot_tree(clf, filled=True) — графическое дерево с цветом классов</a:t>
            </a:r>
          </a:p>
          <a:p>
            <a:pPr>
              <a:spcAft>
                <a:spcPts val="800"/>
              </a:spcAft>
              <a:defRPr sz="2000"/>
            </a:pPr>
            <a:r>
              <a:t>export_graphviz — экспорт для Graphviz (dot-формат)</a:t>
            </a:r>
          </a:p>
          <a:p>
            <a:pPr>
              <a:spcAft>
                <a:spcPts val="800"/>
              </a:spcAft>
              <a:defRPr sz="2000"/>
            </a:pPr>
            <a:r>
              <a:t>export_text — текстовое представление: правила вида X[0] &lt;= 2.5 → class=1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Границы решения: оси-параллельные прямоугольники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Дерево делит пространство признаков на прямоугольники (оси-параллельные)</a:t>
            </a:r>
          </a:p>
          <a:p>
            <a:pPr>
              <a:spcAft>
                <a:spcPts val="800"/>
              </a:spcAft>
              <a:defRPr sz="2000"/>
            </a:pPr>
            <a:r>
              <a:t>Проблема лестницы: дерево не может провести диагональные или круговые границы</a:t>
            </a:r>
          </a:p>
          <a:p>
            <a:pPr>
              <a:spcAft>
                <a:spcPts val="800"/>
              </a:spcAft>
              <a:defRPr sz="2000"/>
            </a:pPr>
            <a:r>
              <a:t>Для регрессии — кусочно-постоянная аппроксимация (в каждом прямоугольнике — своя константа)</a:t>
            </a:r>
          </a:p>
        </p:txBody>
      </p:sp>
      <p:pic>
        <p:nvPicPr>
          <p:cNvPr id="4" name="Picture 3" descr="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Частые вопросы школьников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Q: Дерево всегда находит лучшее разбиение? A: Жадно — локально лучшее, не глобально (NP-трудная задача)</a:t>
            </a:r>
          </a:p>
          <a:p>
            <a:pPr>
              <a:spcAft>
                <a:spcPts val="800"/>
              </a:spcAft>
              <a:defRPr sz="2000"/>
            </a:pPr>
            <a:r>
              <a:t>Q: Почему вопросы только x &lt; a? A: Иначе перебор комбинаций растёт экспоненциально</a:t>
            </a:r>
          </a:p>
          <a:p>
            <a:pPr>
              <a:spcAft>
                <a:spcPts val="800"/>
              </a:spcAft>
              <a:defRPr sz="2000"/>
            </a:pPr>
            <a:r>
              <a:t>Q: Что делать с пропусками? A: Заполнять средним/медианой (sklearn не умеет сам)</a:t>
            </a:r>
          </a:p>
          <a:p>
            <a:pPr>
              <a:spcAft>
                <a:spcPts val="800"/>
              </a:spcAft>
              <a:defRPr sz="2000"/>
            </a:pPr>
            <a:r>
              <a:t>Q: Почему дерево может быть хуже случайного леса? A: Высокая дисперсия — ответ сильно меняется от малых изменений данных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Зачем нужно дерево в эпоху нейросетей?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Скорость и память: работает на слабых устройствах (микроконтроллеры, старые ноутбуки)</a:t>
            </a:r>
          </a:p>
          <a:p>
            <a:pPr>
              <a:spcAft>
                <a:spcPts val="800"/>
              </a:spcAft>
              <a:defRPr sz="2000"/>
            </a:pPr>
            <a:r>
              <a:t>Интерпретируемость: решение можно объяснить пошагово (в отличие от нейросети)</a:t>
            </a:r>
          </a:p>
          <a:p>
            <a:pPr>
              <a:spcAft>
                <a:spcPts val="800"/>
              </a:spcAft>
              <a:defRPr sz="2000"/>
            </a:pPr>
            <a:r>
              <a:t>Чем лучше логистической регрессии? — ловит нелинейности без ручного создания признаков</a:t>
            </a:r>
          </a:p>
          <a:p>
            <a:pPr>
              <a:spcAft>
                <a:spcPts val="800"/>
              </a:spcAft>
              <a:defRPr sz="2000"/>
            </a:pPr>
            <a:r>
              <a:t>Чем лучше KNN? — не нужно хранить все данные; быстрое предсказание (O(log n))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