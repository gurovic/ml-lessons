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1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B1E6B-4715-4E8C-911A-FE42985D972B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8F8829-1860-43C5-9EEB-5D2534C2B7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9087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Пример</a:t>
            </a:r>
            <a:r>
              <a:rPr dirty="0"/>
              <a:t> </a:t>
            </a:r>
            <a:r>
              <a:rPr dirty="0" err="1"/>
              <a:t>Лапласа</a:t>
            </a:r>
            <a:r>
              <a:rPr dirty="0"/>
              <a:t>: </a:t>
            </a: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доставки</a:t>
            </a:r>
            <a:r>
              <a:rPr dirty="0"/>
              <a:t> с </a:t>
            </a:r>
            <a:r>
              <a:rPr dirty="0" err="1"/>
              <a:t>редкими</a:t>
            </a:r>
            <a:r>
              <a:rPr dirty="0"/>
              <a:t> </a:t>
            </a:r>
            <a:r>
              <a:rPr dirty="0" err="1"/>
              <a:t>катастрофическими</a:t>
            </a:r>
            <a:r>
              <a:rPr dirty="0"/>
              <a:t> </a:t>
            </a:r>
            <a:r>
              <a:rPr dirty="0" err="1"/>
              <a:t>задержками</a:t>
            </a:r>
            <a:r>
              <a:rPr dirty="0"/>
              <a:t>.</a:t>
            </a:r>
            <a:r>
              <a:rPr lang="en-US" dirty="0"/>
              <a:t> </a:t>
            </a:r>
            <a:r>
              <a:rPr lang="ru-RU" dirty="0"/>
              <a:t>Регрессию с </a:t>
            </a:r>
            <a:r>
              <a:rPr lang="en-US" dirty="0"/>
              <a:t>MAE </a:t>
            </a:r>
            <a:r>
              <a:rPr lang="ru-RU" dirty="0"/>
              <a:t>еще называют медианной регрессией, потому что минимизируя модуль разности мы стремимся именно к медианному значению.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 err="1"/>
              <a:t>Показать</a:t>
            </a:r>
            <a:r>
              <a:rPr dirty="0"/>
              <a:t>,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вес</a:t>
            </a:r>
            <a:r>
              <a:rPr dirty="0"/>
              <a:t> «</a:t>
            </a:r>
            <a:r>
              <a:rPr dirty="0" err="1"/>
              <a:t>этаж</a:t>
            </a:r>
            <a:r>
              <a:rPr dirty="0"/>
              <a:t>» и «</a:t>
            </a:r>
            <a:r>
              <a:rPr dirty="0" err="1"/>
              <a:t>площадь</a:t>
            </a:r>
            <a:r>
              <a:rPr dirty="0"/>
              <a:t>» </a:t>
            </a:r>
            <a:r>
              <a:rPr dirty="0" err="1"/>
              <a:t>несопоставимы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scaler.</a:t>
            </a:r>
            <a:r>
              <a:rPr lang="ru-RU" dirty="0"/>
              <a:t>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drop='first’ – при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OHE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удаляем столбец первой фичи, чтобы не было линейной зависимости (первый столбей </a:t>
            </a:r>
            <a:r>
              <a:rPr lang="ru-RU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равен сумма остальных)</a:t>
            </a: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Робастные – устройчивые к отклонениям или нарушениям распределения, </a:t>
            </a:r>
            <a:r>
              <a:rPr lang="ru-RU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RANSAC</a:t>
            </a:r>
            <a:r>
              <a:rPr lang="ru-RU" dirty="0"/>
              <a:t> (RANdom SAmple Consensus) — это итеративный алгоритм для надежной оценки математической модели по набору данных, сильно загрязненному шумовыми выбросами. В отличие от классических методов, алгоритм многократно выбирает случайные минимальные подмножества данных для построения модели и проверяет, сколько остальных точек (inliers) укладываются в заданный допуск; в итоге выбирается вариант модели с наибольшим числом таких подтверждающих точек, что делает его крайне эффективным в компьютерном зрении, например, при поиске соответствий на изображениях.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E5843-94AC-9224-8B71-7F09779F1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46520A-0D3F-2A09-8C56-3333165A4B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840CFC-3F92-334D-F87E-3C1151E0BF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63B78-5818-510F-F3E0-B942F7C89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818212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hyperlink" Target="https://old.maa.org/press/periodicals/convergence/a-selection-of-problems-from-aa-markov-s-calculus-of-probabilities-markovs-book" TargetMode="External"/><Relationship Id="rId7" Type="http://schemas.openxmlformats.org/officeDocument/2006/relationships/hyperlink" Target="https://colab.research.google.com/github/gurovic/ml-lessons/blob/main/lessons/lineynaya_regressiya/project.ipynb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olab.research.google.com/github/gurovic/ml-lessons/blob/main/lessons/lineynaya_regressiya/code.ipynb" TargetMode="External"/><Relationship Id="rId5" Type="http://schemas.openxmlformats.org/officeDocument/2006/relationships/hyperlink" Target="https://sites.stat.washington.edu/courses/stat527/s14/readings/j_royal_stat_soc_b1996.pdf" TargetMode="External"/><Relationship Id="rId4" Type="http://schemas.openxmlformats.org/officeDocument/2006/relationships/hyperlink" Target="https://www.stat.cmu.edu/technometrics/90-00/vol-42-01/v4201080.pdf" TargetMode="External"/><Relationship Id="rId9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Предсказание чисел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2514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Регрессия — предсказание числа по признакам: цена квартиры, время доставки, спрос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Простейшая модель: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𝑘𝑥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прямая на плоскости «признак → ответ»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Обучение: подобрать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и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чтобы ошибки на данных были как можно меньше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Визуально — найти прямую, которая «лучше всего» проходит через облако точек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2514600"/>
              </a:xfrm>
              <a:prstGeom prst="rect">
                <a:avLst/>
              </a:prstGeom>
              <a:blipFill>
                <a:blip r:embed="rId3"/>
                <a:stretch>
                  <a:fillRect l="-973" t="-1211" r="-195" b="-169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599"/>
                <a:ext cx="4846320" cy="3785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Минимизируем </a:t>
                </a:r>
                <a:r>
                  <a:rPr lang="ru-RU" sz="2000" b="1" dirty="0">
                    <a:solidFill>
                      <a:srgbClr val="000000"/>
                    </a:solidFill>
                  </a:rPr>
                  <a:t>вертикальные</a:t>
                </a:r>
                <a:r>
                  <a:rPr lang="ru-RU" sz="2000" dirty="0">
                    <a:solidFill>
                      <a:srgbClr val="000000"/>
                    </a:solidFill>
                  </a:rPr>
                  <a:t> расстояния от точек до линии (не перпендикуляры к прямой)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Остаток: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разница между фактом и прогнозом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</a:t>
                </a:r>
                <a:r>
                  <a:rPr lang="ru-RU" sz="2000" b="1" dirty="0">
                    <a:solidFill>
                      <a:srgbClr val="000000"/>
                    </a:solidFill>
                  </a:rPr>
                  <a:t>Intercept</a:t>
                </a:r>
                <a:r>
                  <a:rPr lang="ru-RU" sz="2000" dirty="0">
                    <a:solidFill>
                      <a:srgbClr val="00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): прогноз при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; в sklearn — параметр </a:t>
                </a:r>
                <a:r>
                  <a:rPr lang="ru-RU" sz="2000" dirty="0">
                    <a:latin typeface="Consolas"/>
                    <a:cs typeface="Consolas"/>
                  </a:rPr>
                  <a:t>fit_intercept=True</a:t>
                </a:r>
                <a:r>
                  <a:rPr lang="ru-RU" sz="2000" dirty="0">
                    <a:solidFill>
                      <a:srgbClr val="000000"/>
                    </a:solidFill>
                  </a:rPr>
                  <a:t> (смещение прямой по оси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)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Хорошая модель: остатки симметрично разбросаны вокруг нуля, без систематического смещения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599"/>
                <a:ext cx="4846320" cy="3785652"/>
              </a:xfrm>
              <a:prstGeom prst="rect">
                <a:avLst/>
              </a:prstGeom>
              <a:blipFill>
                <a:blip r:embed="rId3"/>
                <a:stretch>
                  <a:fillRect l="-1258" t="-805" r="-1006" b="-19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residuals_geomet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667" y="1312333"/>
            <a:ext cx="6133253" cy="55756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82787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Функция потерь</a:t>
            </a:r>
            <a:r>
              <a:rPr lang="en-US" sz="3200" b="1" dirty="0">
                <a:solidFill>
                  <a:srgbClr val="1A1A2E"/>
                </a:solidFill>
              </a:rPr>
              <a:t> (loss)</a:t>
            </a:r>
            <a:r>
              <a:rPr lang="ru-RU" sz="3200" b="1" dirty="0">
                <a:solidFill>
                  <a:srgbClr val="1A1A2E"/>
                </a:solidFill>
              </a:rPr>
              <a:t>: почему MSE?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38862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MSE: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</m:e>
                    </m:nary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средний квадрат ошибки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Минимизация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</m:e>
                    </m:nary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без деления на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даёт те же оптимальные веса; деление на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нужно для сравнимости между выборками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MAE (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∑|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) устойчивее к выбросам, но не гладкая в нуле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MSE гладкая везде — удобно для производной и градиентного спуска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MSE = MLE при нормальных остатках; MAE = MLE, если ошибки распределены по Лапласу (редкие, но крупные сбои — например, катастрофические задержки доставки)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3886200"/>
              </a:xfrm>
              <a:prstGeom prst="rect">
                <a:avLst/>
              </a:prstGeom>
              <a:blipFill>
                <a:blip r:embed="rId3"/>
                <a:stretch>
                  <a:fillRect l="-973" t="-13636" b="-145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34908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80067"/>
                <a:ext cx="6263640" cy="35278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Аналитическое решение (метод наименьших квадратов):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ar-AE" sz="2000" dirty="0">
                    <a:solidFill>
                      <a:srgbClr val="000000"/>
                    </a:solidFill>
                  </a:rPr>
                  <a:t> —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быстро для не очень больших матриц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𝑠𝑎𝑚𝑝𝑙𝑒𝑠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∗</m:t>
                    </m:r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𝑓𝑒𝑎𝑡𝑢𝑟𝑒𝑠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ar-AE" sz="2000" dirty="0">
                  <a:solidFill>
                    <a:srgbClr val="000000"/>
                  </a:solidFill>
                </a:endParaRPr>
              </a:p>
              <a:p>
                <a:pPr>
                  <a:spcAft>
                    <a:spcPts val="800"/>
                  </a:spcAft>
                </a:pPr>
                <a:r>
                  <a:rPr lang="ar-AE" sz="2000" dirty="0">
                    <a:solidFill>
                      <a:srgbClr val="000000"/>
                    </a:solidFill>
                  </a:rPr>
                  <a:t>• </a:t>
                </a:r>
                <a:r>
                  <a:rPr lang="en-US" sz="2000" dirty="0">
                    <a:latin typeface="Consolas"/>
                    <a:cs typeface="Consolas"/>
                  </a:rPr>
                  <a:t>LinearRegression</a:t>
                </a:r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в </a:t>
                </a:r>
                <a:r>
                  <a:rPr lang="en-US" sz="2000" dirty="0">
                    <a:solidFill>
                      <a:srgbClr val="000000"/>
                    </a:solidFill>
                  </a:rPr>
                  <a:t>sklearn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использует по</a:t>
                </a:r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умолчанию этот метод (</a:t>
                </a:r>
                <a:r>
                  <a:rPr lang="en-US" sz="2000" dirty="0">
                    <a:solidFill>
                      <a:srgbClr val="000000"/>
                    </a:solidFill>
                  </a:rPr>
                  <a:t>solver </a:t>
                </a:r>
                <a:r>
                  <a:rPr lang="en-US" sz="2000" dirty="0" err="1">
                    <a:latin typeface="Consolas"/>
                    <a:cs typeface="Consolas"/>
                  </a:rPr>
                  <a:t>linalg</a:t>
                </a:r>
                <a:r>
                  <a:rPr lang="ru-RU" sz="2000" dirty="0">
                    <a:latin typeface="Consolas"/>
                    <a:cs typeface="Consolas"/>
                  </a:rPr>
                  <a:t>)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При огромных данных — итеративные методы: </a:t>
                </a:r>
                <a:r>
                  <a:rPr lang="en-US" sz="2000" dirty="0">
                    <a:solidFill>
                      <a:srgbClr val="000000"/>
                    </a:solidFill>
                  </a:rPr>
                  <a:t>SGD</a:t>
                </a:r>
                <a:r>
                  <a:rPr lang="ru-RU" sz="2000" dirty="0">
                    <a:solidFill>
                      <a:srgbClr val="000000"/>
                    </a:solidFill>
                  </a:rPr>
                  <a:t> (стохастический градиентный спуск</a:t>
                </a:r>
                <a:r>
                  <a:rPr lang="en-US" sz="2000" dirty="0">
                    <a:solidFill>
                      <a:srgbClr val="000000"/>
                    </a:solidFill>
                  </a:rPr>
                  <a:t>,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в </a:t>
                </a:r>
                <a:r>
                  <a:rPr lang="en-US" sz="2000" dirty="0" err="1">
                    <a:solidFill>
                      <a:srgbClr val="000000"/>
                    </a:solidFill>
                  </a:rPr>
                  <a:t>sklearn</a:t>
                </a:r>
                <a:r>
                  <a:rPr lang="en-US" sz="2000" dirty="0">
                    <a:solidFill>
                      <a:srgbClr val="000000"/>
                    </a:solidFill>
                  </a:rPr>
                  <a:t> – </a:t>
                </a:r>
                <a:r>
                  <a:rPr lang="en-US" sz="2000" dirty="0" err="1">
                    <a:latin typeface="Consolas"/>
                  </a:rPr>
                  <a:t>SGDRegressor</a:t>
                </a:r>
                <a:r>
                  <a:rPr lang="en-US" sz="2000" dirty="0">
                    <a:latin typeface="Consolas"/>
                    <a:cs typeface="Consolas"/>
                  </a:rPr>
                  <a:t>)</a:t>
                </a:r>
              </a:p>
              <a:p>
                <a:pPr>
                  <a:spcAft>
                    <a:spcPts val="800"/>
                  </a:spcAft>
                </a:pPr>
                <a:r>
                  <a:rPr lang="en-US" sz="2000" dirty="0">
                    <a:solidFill>
                      <a:srgbClr val="000000"/>
                    </a:solidFill>
                  </a:rPr>
                  <a:t>• </a:t>
                </a:r>
                <a:r>
                  <a:rPr lang="ru-RU" sz="2000" i="1" dirty="0">
                    <a:solidFill>
                      <a:srgbClr val="000000"/>
                    </a:solidFill>
                  </a:rPr>
                  <a:t>Градиентный спуск</a:t>
                </a:r>
                <a:r>
                  <a:rPr lang="ru-RU" sz="2000" dirty="0">
                    <a:solidFill>
                      <a:srgbClr val="000000"/>
                    </a:solidFill>
                  </a:rPr>
                  <a:t>: шаг против градиента функции потерь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80067"/>
                <a:ext cx="6263640" cy="3527825"/>
              </a:xfrm>
              <a:prstGeom prst="rect">
                <a:avLst/>
              </a:prstGeom>
              <a:blipFill>
                <a:blip r:embed="rId3"/>
                <a:stretch>
                  <a:fillRect l="-1070" t="-864" b="-20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sklearn.linear_model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LinearRegression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LinearRegression()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fit(X_train, y_train)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model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predict(X_test)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9" name="Picture 8" descr="gradient_descent_con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Множественная регрессия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37311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Несколько признаков: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+…+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ar-AE" sz="2000" dirty="0">
                  <a:solidFill>
                    <a:srgbClr val="000000"/>
                  </a:solidFill>
                </a:endParaRPr>
              </a:p>
              <a:p>
                <a:pPr>
                  <a:spcAft>
                    <a:spcPts val="800"/>
                  </a:spcAft>
                </a:pPr>
                <a:r>
                  <a:rPr lang="ar-AE" sz="2000" dirty="0">
                    <a:solidFill>
                      <a:srgbClr val="000000"/>
                    </a:solidFill>
                  </a:rPr>
                  <a:t>•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Векторная форма: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lim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</m:lim>
                        </m:limUpp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limUpp>
                      <m:limUp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lim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ar-AE" sz="2000" dirty="0">
                  <a:solidFill>
                    <a:srgbClr val="000000"/>
                  </a:solidFill>
                </a:endParaRPr>
              </a:p>
              <a:p>
                <a:pPr>
                  <a:spcAft>
                    <a:spcPts val="800"/>
                  </a:spcAft>
                </a:pPr>
                <a:r>
                  <a:rPr lang="ar-AE" sz="2000" dirty="0">
                    <a:solidFill>
                      <a:srgbClr val="000000"/>
                    </a:solidFill>
                  </a:rPr>
                  <a:t>•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Если добавить в начало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lim>
                        <m:r>
                          <a:rPr lang="ar-AE" sz="2000"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еще одну компоненту 1:</a:t>
                </a:r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,…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 </a:t>
                </a:r>
                <a:r>
                  <a:rPr lang="ru-RU" sz="2000" dirty="0">
                    <a:solidFill>
                      <a:srgbClr val="000000"/>
                    </a:solidFill>
                  </a:rPr>
                  <a:t>то можно обойтись без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: </a:t>
                </a:r>
                <a:br>
                  <a:rPr lang="en-US" sz="20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+…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br>
                  <a:rPr lang="en-US" sz="2000" b="0" i="0" dirty="0">
                    <a:latin typeface="Cambria Math" panose="02040503050406030204" pitchFamily="18" charset="0"/>
                  </a:rPr>
                </a:br>
                <a:r>
                  <a:rPr lang="ru-RU" sz="2000" b="0" i="0" dirty="0">
                    <a:latin typeface="Cambria Math" panose="02040503050406030204" pitchFamily="18" charset="0"/>
                  </a:rPr>
                  <a:t>или в векторной форме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limUpp>
                          <m:limUpp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sz="200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lim>
                            <m:r>
                              <a:rPr lang="ar-AE" sz="2000">
                                <a:latin typeface="Cambria Math" panose="02040503050406030204" pitchFamily="18" charset="0"/>
                              </a:rPr>
                              <m:t>→</m:t>
                            </m:r>
                          </m:lim>
                        </m:limUpp>
                      </m:e>
                      <m:sup>
                        <m:r>
                          <a:rPr lang="ar-AE" sz="200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limUpp>
                      <m:limUpp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lim>
                        <m:r>
                          <a:rPr lang="ar-AE" sz="2000">
                            <a:latin typeface="Cambria Math" panose="02040503050406030204" pitchFamily="18" charset="0"/>
                          </a:rPr>
                          <m:t>→</m:t>
                        </m:r>
                      </m:lim>
                    </m:limUpp>
                  </m:oMath>
                </a14:m>
                <a:endParaRPr lang="ar-AE" sz="2000" dirty="0">
                  <a:solidFill>
                    <a:srgbClr val="000000"/>
                  </a:solidFill>
                </a:endParaRPr>
              </a:p>
              <a:p>
                <a:pPr>
                  <a:spcAft>
                    <a:spcPts val="800"/>
                  </a:spcAft>
                </a:pPr>
                <a:r>
                  <a:rPr lang="ar-AE" sz="2000" dirty="0">
                    <a:solidFill>
                      <a:srgbClr val="000000"/>
                    </a:solidFill>
                  </a:rPr>
                  <a:t>•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Геометрически — гиперплоскость в пространстве признаков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МНК и градиентный спуск обобщаются на множество признаков без изменений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3731150"/>
              </a:xfrm>
              <a:prstGeom prst="rect">
                <a:avLst/>
              </a:prstGeom>
              <a:blipFill>
                <a:blip r:embed="rId3"/>
                <a:stretch>
                  <a:fillRect l="-1070" t="-817" r="-486" b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Предобработка: категории, масштабирование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Категории: One-Hot Encoding (столбцы 0/1)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StandardScaler: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𝜇</m:t>
                    </m:r>
                    <m:r>
                      <a:rPr>
                        <a:latin typeface="Cambria Math" panose="02040503050406030204" pitchFamily="18" charset="0"/>
                      </a:rPr>
                      <m:t>)/</m:t>
                    </m:r>
                    <m:r>
                      <a:rPr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для МНК качество прогноза на test не меняется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Масштабирование нужно для </a:t>
                </a:r>
                <a:r>
                  <a:rPr lang="ru-RU" sz="2000" b="1" dirty="0">
                    <a:solidFill>
                      <a:srgbClr val="000000"/>
                    </a:solidFill>
                  </a:rPr>
                  <a:t>интерпретации весов</a:t>
                </a:r>
                <a:r>
                  <a:rPr lang="ru-RU" sz="2000" dirty="0">
                    <a:solidFill>
                      <a:srgbClr val="000000"/>
                    </a:solidFill>
                  </a:rPr>
                  <a:t> (сравнивать влияние признаков)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Для градиентного спуска и регуляризации масштабирование </a:t>
                </a:r>
                <a:r>
                  <a:rPr lang="ru-RU" sz="2000" b="1" dirty="0">
                    <a:solidFill>
                      <a:srgbClr val="000000"/>
                    </a:solidFill>
                  </a:rPr>
                  <a:t>обязательно</a:t>
                </a:r>
                <a:r>
                  <a:rPr lang="ru-RU" sz="2000" dirty="0">
                    <a:solidFill>
                      <a:srgbClr val="000000"/>
                    </a:solidFill>
                  </a:rPr>
                  <a:t> — иначе медленная или неверная сходимость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2862322"/>
              </a:xfrm>
              <a:prstGeom prst="rect">
                <a:avLst/>
              </a:prstGeom>
              <a:blipFill>
                <a:blip r:embed="rId3"/>
                <a:stretch>
                  <a:fillRect l="-973" t="-1064" b="-27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640080" y="4994655"/>
            <a:ext cx="6172200" cy="14427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1" y="50403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sklearn.compose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ColumnTransformer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1800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sklearn.preprocessing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3197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StandardScaler,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4594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OneHotEncoder)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55991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prep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ColumnTransformer([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</a:t>
            </a:r>
            <a:r>
              <a:rPr sz="1100">
                <a:solidFill>
                  <a:srgbClr val="4070A0"/>
                </a:solidFill>
                <a:latin typeface="Consolas"/>
              </a:rPr>
              <a:t>'num'</a:t>
            </a:r>
            <a:r>
              <a:rPr sz="1100">
                <a:solidFill>
                  <a:srgbClr val="000000"/>
                </a:solidFill>
                <a:latin typeface="Consolas"/>
              </a:rPr>
              <a:t>, StandardScaler(), num_cols),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</a:t>
            </a:r>
            <a:r>
              <a:rPr sz="1100">
                <a:solidFill>
                  <a:srgbClr val="4070A0"/>
                </a:solidFill>
                <a:latin typeface="Consolas"/>
              </a:rPr>
              <a:t>'cat'</a:t>
            </a:r>
            <a:r>
              <a:rPr sz="1100">
                <a:solidFill>
                  <a:srgbClr val="000000"/>
                </a:solidFill>
                <a:latin typeface="Consolas"/>
              </a:rPr>
              <a:t>, OneHotEncoder(), cat_cols),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X_scaled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prep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fit_transform(X_train)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15" name="Picture 14" descr="scaling_weights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9832" y="1371600"/>
            <a:ext cx="3804310" cy="3458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Выбросы в данных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4093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Выброс в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: при MSE сильно тянет линию — одна точка может заметно сдвинуть прямую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Выброс в </a:t>
                </a:r>
                <a14:m>
                  <m:oMath xmlns:m="http://schemas.openxmlformats.org/officeDocument/2006/math">
                    <m:r>
                      <a:rPr lang="ru-RU" sz="200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(leverage – “рычаг”): точка далеко по оси X может резко изменить наклон, даже при нормальном </a:t>
                </a:r>
                <a14:m>
                  <m:oMath xmlns:m="http://schemas.openxmlformats.org/officeDocument/2006/math">
                    <m:r>
                      <a:rPr lang="ru-RU" sz="200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ru-RU" sz="2000" dirty="0">
                  <a:solidFill>
                    <a:srgbClr val="000000"/>
                  </a:solidFill>
                </a:endParaRP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</a:t>
                </a:r>
                <a:r>
                  <a:rPr lang="ru-RU" sz="2000" b="1" dirty="0">
                    <a:solidFill>
                      <a:srgbClr val="000000"/>
                    </a:solidFill>
                  </a:rPr>
                  <a:t>Робастные</a:t>
                </a:r>
                <a:r>
                  <a:rPr lang="ru-RU" sz="2000" dirty="0">
                    <a:solidFill>
                      <a:srgbClr val="000000"/>
                    </a:solidFill>
                  </a:rPr>
                  <a:t> методы (MAE, </a:t>
                </a:r>
                <a:r>
                  <a:rPr lang="ru-RU" sz="2000" dirty="0">
                    <a:latin typeface="Consolas"/>
                    <a:cs typeface="Consolas"/>
                  </a:rPr>
                  <a:t>HuberRegressor – квадратичная функция потерь для небольших ошибок и линейная для бОльших</a:t>
                </a:r>
                <a:r>
                  <a:rPr lang="ru-RU" sz="2000" dirty="0">
                    <a:solidFill>
                      <a:srgbClr val="000000"/>
                    </a:solidFill>
                  </a:rPr>
                  <a:t>, RANSAC* </a:t>
                </a:r>
                <a:r>
                  <a:rPr lang="ru-RU" sz="2000" dirty="0">
                    <a:latin typeface="Consolas"/>
                    <a:cs typeface="Consolas"/>
                  </a:rPr>
                  <a:t>–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для очень шумных датасетов) меньше реагируют на выбросы, чем MSE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Перед обучением: scatter «признак vs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» и boxplot остатков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4093428"/>
              </a:xfrm>
              <a:prstGeom prst="rect">
                <a:avLst/>
              </a:prstGeom>
              <a:blipFill>
                <a:blip r:embed="rId3"/>
                <a:stretch>
                  <a:fillRect l="-973" t="-745" r="-1070" b="-1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outlier_eff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Мультиколлинеарность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501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Сильная корреляция признаков: «площадь м²» и «площадь ft²», «зарплата» и «налоги»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Прогнозы часто остаются точными, но веса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нестабильны — большие, меняют знак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Интерпретация «вклад признака» становится бессмысленной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Проблемы при вычислении обратной матрицы</a:t>
                </a:r>
                <a:endParaRPr lang="en-US" sz="2000" dirty="0">
                  <a:solidFill>
                    <a:srgbClr val="000000"/>
                  </a:solidFill>
                </a:endParaRP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Решения: </a:t>
                </a:r>
              </a:p>
              <a:p>
                <a:pPr marL="457200" indent="-457200">
                  <a:spcAft>
                    <a:spcPts val="800"/>
                  </a:spcAft>
                  <a:buAutoNum type="arabicParenR"/>
                </a:pPr>
                <a:r>
                  <a:rPr lang="ru-RU" sz="2000" dirty="0">
                    <a:solidFill>
                      <a:srgbClr val="000000"/>
                    </a:solidFill>
                  </a:rPr>
                  <a:t>Удаление фич-дубликатов, </a:t>
                </a:r>
              </a:p>
              <a:p>
                <a:pPr marL="457200" indent="-457200">
                  <a:spcAft>
                    <a:spcPts val="800"/>
                  </a:spcAft>
                  <a:buAutoNum type="arabicParenR"/>
                </a:pPr>
                <a:r>
                  <a:rPr lang="ru-RU" sz="2000" dirty="0">
                    <a:solidFill>
                      <a:srgbClr val="000000"/>
                    </a:solidFill>
                  </a:rPr>
                  <a:t>Снижение размерности – PCA, </a:t>
                </a:r>
              </a:p>
              <a:p>
                <a:pPr marL="457200" indent="-457200">
                  <a:spcAft>
                    <a:spcPts val="800"/>
                  </a:spcAft>
                  <a:buAutoNum type="arabicParenR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Регуляризация: Ridge (регуляризация) </a:t>
                </a:r>
              </a:p>
              <a:p>
                <a:pPr marL="457200" indent="-457200">
                  <a:spcAft>
                    <a:spcPts val="800"/>
                  </a:spcAft>
                  <a:buAutoNum type="arabicParenR"/>
                </a:pPr>
                <a:r>
                  <a:rPr lang="ru-RU" sz="2000" dirty="0">
                    <a:solidFill>
                      <a:srgbClr val="000000"/>
                    </a:solidFill>
                  </a:rPr>
                  <a:t>собрать один составной признак</a:t>
                </a:r>
              </a:p>
              <a:p>
                <a:pPr>
                  <a:spcAft>
                    <a:spcPts val="800"/>
                  </a:spcAft>
                </a:pPr>
                <a:endParaRPr lang="ru-RU" sz="20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5016758"/>
              </a:xfrm>
              <a:prstGeom prst="rect">
                <a:avLst/>
              </a:prstGeom>
              <a:blipFill>
                <a:blip r:embed="rId3"/>
                <a:stretch>
                  <a:fillRect l="-1070" t="-6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Никогда не оценивайте качество на train — только на отложенной выборке </a:t>
            </a:r>
            <a:r>
              <a:rPr lang="en-US" sz="2000" dirty="0">
                <a:solidFill>
                  <a:srgbClr val="000000"/>
                </a:solidFill>
              </a:rPr>
              <a:t>test</a:t>
            </a:r>
            <a:endParaRPr lang="ru-RU" sz="2000" dirty="0">
              <a:solidFill>
                <a:srgbClr val="000000"/>
              </a:solidFill>
            </a:endParaRPr>
          </a:p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</a:t>
            </a:r>
            <a:r>
              <a:rPr lang="ru-RU" sz="2000" dirty="0">
                <a:latin typeface="Consolas"/>
                <a:cs typeface="Consolas"/>
              </a:rPr>
              <a:t>train_test_split</a:t>
            </a:r>
            <a:r>
              <a:rPr lang="ru-RU" sz="2000" dirty="0">
                <a:solidFill>
                  <a:srgbClr val="000000"/>
                </a:solidFill>
              </a:rPr>
              <a:t>: train — подбор весов, test — финальная проверка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134355"/>
            <a:ext cx="6172200" cy="13030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1" y="51800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sklearn.model_selection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train_test_split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3197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sklearn.linear_model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LinearRegression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4594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X_tr, X_te, y_tr, y_te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train_test_split(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5991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X,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57388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y,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test_size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0.2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LinearRegression()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fit(X_tr, y_tr)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метрики только на X_te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14" name="Picture 13" descr="train_test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2997" y="1371600"/>
            <a:ext cx="3957980" cy="3598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Регуляризация: Ridge и Lasso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3337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Добавляем штраф за большие веса к функции потерь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Ridge (L2):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сжимает веса </a:t>
                </a:r>
                <a:r>
                  <a:rPr lang="ru-RU" sz="2000" b="1" dirty="0">
                    <a:solidFill>
                      <a:srgbClr val="000000"/>
                    </a:solidFill>
                  </a:rPr>
                  <a:t>вместе</a:t>
                </a:r>
                <a:r>
                  <a:rPr lang="ru-RU" sz="2000" dirty="0">
                    <a:solidFill>
                      <a:srgbClr val="000000"/>
                    </a:solidFill>
                  </a:rPr>
                  <a:t>, не обнуляя; стабилизирует при мультиколлинеарности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Lasso (L1):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обнуляет слабые признаки → отбор фич, но не лечит дублирующие столбцы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При коррелированных признаках предпочтите </a:t>
                </a:r>
                <a:r>
                  <a:rPr lang="ru-RU" sz="2000" b="1" dirty="0">
                    <a:solidFill>
                      <a:srgbClr val="000000"/>
                    </a:solidFill>
                  </a:rPr>
                  <a:t>Ridge</a:t>
                </a:r>
                <a:r>
                  <a:rPr lang="ru-RU" sz="2000" dirty="0">
                    <a:solidFill>
                      <a:srgbClr val="000000"/>
                    </a:solidFill>
                  </a:rPr>
                  <a:t>; Lasso выберет один из дублей случайно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Гиперпараметр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подбирают по validation / cross-validation (см. график)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3337560"/>
              </a:xfrm>
              <a:prstGeom prst="rect">
                <a:avLst/>
              </a:prstGeom>
              <a:blipFill>
                <a:blip r:embed="rId3"/>
                <a:stretch>
                  <a:fillRect l="-973" t="-912" b="-72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32726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MAE — средняя ошибка в тех же единицах, что и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(понятно бизнесу)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RMSE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MSE</m:t>
                        </m:r>
                      </m:e>
                    </m:rad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сильнее штрафует крупные промахи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: 1 — идеал; 0 — не лучше константы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ba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; </a:t>
                </a:r>
                <a14:m>
                  <m:oMath xmlns:m="http://schemas.openxmlformats.org/officeDocument/2006/math">
                    <m:d>
                      <m:dPr>
                        <m:begChr m:val="&lt;"/>
                        <m:endChr m:val="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хуже константы</a:t>
                </a:r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ba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(проверьте код/данные)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Пример: ошибки</a:t>
                </a:r>
                <a:r>
                  <a:rPr lang="en-US" sz="2000" dirty="0">
                    <a:solidFill>
                      <a:srgbClr val="000000"/>
                    </a:solidFill>
                  </a:rPr>
                  <a:t> (1, 1, 1, 8, 1)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→ MAE = 2.4, RMSE ≈ 3.3 (один промах 8 «тянет» RMSE)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Для сравнения моделей на одной задаче смотрите MAE и RMSE вместе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3272691"/>
              </a:xfrm>
              <a:prstGeom prst="rect">
                <a:avLst/>
              </a:prstGeom>
              <a:blipFill>
                <a:blip r:embed="rId3"/>
                <a:stretch>
                  <a:fillRect l="-973" t="-931" r="-973" b="-24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640080" y="5134355"/>
            <a:ext cx="6172200" cy="13030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1" y="51800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sklearn.metrics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3197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mean_absolute_error,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4594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mean_squared_error,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5991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r2_score)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57388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mae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mean_absolute_error(y_te, y_pred)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rmse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mean_squared_error(y_te, y_pred, squared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False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r2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r2_score(y_te, y_pred)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7020"/>
                </a:solidFill>
                <a:latin typeface="Consolas"/>
              </a:rPr>
              <a:t>print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f'MAE=</a:t>
            </a:r>
            <a:r>
              <a:rPr sz="1100" i="1">
                <a:solidFill>
                  <a:srgbClr val="70A0D0"/>
                </a:solidFill>
                <a:latin typeface="Consolas"/>
              </a:rPr>
              <a:t>{</a:t>
            </a:r>
            <a:r>
              <a:rPr sz="1100">
                <a:solidFill>
                  <a:srgbClr val="000000"/>
                </a:solidFill>
                <a:latin typeface="Consolas"/>
              </a:rPr>
              <a:t>mae</a:t>
            </a:r>
            <a:r>
              <a:rPr sz="1100" i="1">
                <a:solidFill>
                  <a:srgbClr val="70A0D0"/>
                </a:solidFill>
                <a:latin typeface="Consolas"/>
              </a:rPr>
              <a:t>:</a:t>
            </a:r>
            <a:r>
              <a:rPr sz="1100">
                <a:solidFill>
                  <a:srgbClr val="4070A0"/>
                </a:solidFill>
                <a:latin typeface="Consolas"/>
              </a:rPr>
              <a:t>.2f</a:t>
            </a:r>
            <a:r>
              <a:rPr sz="1100" i="1">
                <a:solidFill>
                  <a:srgbClr val="70A0D0"/>
                </a:solidFill>
                <a:latin typeface="Consolas"/>
              </a:rPr>
              <a:t>}</a:t>
            </a:r>
            <a:r>
              <a:rPr sz="1100">
                <a:solidFill>
                  <a:srgbClr val="4070A0"/>
                </a:solidFill>
                <a:latin typeface="Consolas"/>
              </a:rPr>
              <a:t>, RMSE=</a:t>
            </a:r>
            <a:r>
              <a:rPr sz="1100" i="1">
                <a:solidFill>
                  <a:srgbClr val="70A0D0"/>
                </a:solidFill>
                <a:latin typeface="Consolas"/>
              </a:rPr>
              <a:t>{</a:t>
            </a:r>
            <a:r>
              <a:rPr sz="1100">
                <a:solidFill>
                  <a:srgbClr val="000000"/>
                </a:solidFill>
                <a:latin typeface="Consolas"/>
              </a:rPr>
              <a:t>rmse</a:t>
            </a:r>
            <a:r>
              <a:rPr sz="1100" i="1">
                <a:solidFill>
                  <a:srgbClr val="70A0D0"/>
                </a:solidFill>
                <a:latin typeface="Consolas"/>
              </a:rPr>
              <a:t>:</a:t>
            </a:r>
            <a:r>
              <a:rPr sz="1100">
                <a:solidFill>
                  <a:srgbClr val="4070A0"/>
                </a:solidFill>
                <a:latin typeface="Consolas"/>
              </a:rPr>
              <a:t>.2f</a:t>
            </a:r>
            <a:r>
              <a:rPr sz="1100" i="1">
                <a:solidFill>
                  <a:srgbClr val="70A0D0"/>
                </a:solidFill>
                <a:latin typeface="Consolas"/>
              </a:rPr>
              <a:t>}</a:t>
            </a:r>
            <a:r>
              <a:rPr sz="1100">
                <a:solidFill>
                  <a:srgbClr val="4070A0"/>
                </a:solidFill>
                <a:latin typeface="Consolas"/>
              </a:rPr>
              <a:t>, R²=</a:t>
            </a:r>
            <a:r>
              <a:rPr sz="1100" i="1">
                <a:solidFill>
                  <a:srgbClr val="70A0D0"/>
                </a:solidFill>
                <a:latin typeface="Consolas"/>
              </a:rPr>
              <a:t>{</a:t>
            </a:r>
            <a:r>
              <a:rPr sz="1100">
                <a:solidFill>
                  <a:srgbClr val="000000"/>
                </a:solidFill>
                <a:latin typeface="Consolas"/>
              </a:rPr>
              <a:t>r2</a:t>
            </a:r>
            <a:r>
              <a:rPr sz="1100" i="1">
                <a:solidFill>
                  <a:srgbClr val="70A0D0"/>
                </a:solidFill>
                <a:latin typeface="Consolas"/>
              </a:rPr>
              <a:t>:</a:t>
            </a:r>
            <a:r>
              <a:rPr sz="1100">
                <a:solidFill>
                  <a:srgbClr val="4070A0"/>
                </a:solidFill>
                <a:latin typeface="Consolas"/>
              </a:rPr>
              <a:t>.3f</a:t>
            </a:r>
            <a:r>
              <a:rPr sz="1100" i="1">
                <a:solidFill>
                  <a:srgbClr val="70A0D0"/>
                </a:solidFill>
                <a:latin typeface="Consolas"/>
              </a:rPr>
              <a:t>}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MAE, RMSE и R²</a:t>
            </a:r>
          </a:p>
        </p:txBody>
      </p:sp>
      <p:pic>
        <p:nvPicPr>
          <p:cNvPr id="14" name="Picture 13" descr="regression_metrics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997" y="1371600"/>
            <a:ext cx="3957980" cy="3598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685D9-B32B-70FB-5DE6-9AE1E982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40FE701-1BA3-1E12-39B6-9A71B0AD2CB3}"/>
                  </a:ext>
                </a:extLst>
              </p:cNvPr>
              <p:cNvSpPr txBox="1"/>
              <p:nvPr/>
            </p:nvSpPr>
            <p:spPr>
              <a:xfrm>
                <a:off x="457200" y="274320"/>
                <a:ext cx="11247120" cy="5959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3200" b="1" dirty="0">
                    <a:solidFill>
                      <a:srgbClr val="1A1A2E"/>
                    </a:solidFill>
                  </a:rPr>
                  <a:t>Отступление: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3200" b="1" i="1" smtClean="0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1" i="1" smtClean="0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3200" b="1" i="1" smtClean="0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ru-RU" sz="3200" b="1" dirty="0">
                  <a:solidFill>
                    <a:srgbClr val="1A1A2E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40FE701-1BA3-1E12-39B6-9A71B0AD2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4320"/>
                <a:ext cx="11247120" cy="595932"/>
              </a:xfrm>
              <a:prstGeom prst="rect">
                <a:avLst/>
              </a:prstGeom>
              <a:blipFill>
                <a:blip r:embed="rId3"/>
                <a:stretch>
                  <a:fillRect l="-1355" t="-10204" b="-336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7BA4D86-3C1B-60A4-6E2D-8EABDCC1252E}"/>
                  </a:ext>
                </a:extLst>
              </p:cNvPr>
              <p:cNvSpPr txBox="1"/>
              <p:nvPr/>
            </p:nvSpPr>
            <p:spPr>
              <a:xfrm>
                <a:off x="550333" y="1126067"/>
                <a:ext cx="11664283" cy="53801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ru-RU" dirty="0"/>
                  <a:t>Наивное предсказание – среднее всех </a:t>
                </a:r>
                <a:r>
                  <a:rPr lang="en-US" dirty="0"/>
                  <a:t>y.</a:t>
                </a:r>
                <a:r>
                  <a:rPr lang="ru-RU" dirty="0"/>
                  <a:t> </a:t>
                </a:r>
                <a:r>
                  <a:rPr lang="ru-RU" i="1" dirty="0"/>
                  <a:t>Общий хаос</a:t>
                </a:r>
                <a:r>
                  <a:rPr lang="ru-RU" dirty="0"/>
                  <a:t> – ошибка при наивном предсказании.</a:t>
                </a:r>
              </a:p>
              <a:p>
                <a:pPr marL="342900" indent="-342900">
                  <a:buAutoNum type="arabicPeriod"/>
                </a:pPr>
                <a:r>
                  <a:rPr lang="ru-RU" dirty="0"/>
                  <a:t>Построим линейную регрессию. </a:t>
                </a:r>
                <a:r>
                  <a:rPr lang="ru-RU" i="1" dirty="0"/>
                  <a:t>Оставшийся хаос</a:t>
                </a:r>
                <a:r>
                  <a:rPr lang="ru-RU" dirty="0"/>
                  <a:t> – ошибка при линейной регрессии</a:t>
                </a:r>
              </a:p>
              <a:p>
                <a:endParaRPr lang="ru-RU" dirty="0"/>
              </a:p>
              <a:p>
                <a:r>
                  <a:rPr lang="ru-RU" dirty="0"/>
                  <a:t>Какую долю хаос мы победили</a:t>
                </a:r>
                <a:r>
                  <a:rPr lang="en-US" dirty="0"/>
                  <a:t>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smtClean="0">
                        <a:solidFill>
                          <a:srgbClr val="1A1A2E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(Общий хаос – Оставшийся хаос)</a:t>
                </a:r>
                <a:r>
                  <a:rPr lang="en-US" dirty="0"/>
                  <a:t>/</a:t>
                </a:r>
                <a:r>
                  <a:rPr lang="ru-RU" dirty="0"/>
                  <a:t>Общий хаос</a:t>
                </a:r>
              </a:p>
              <a:p>
                <a:endParaRPr lang="ru-RU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b="1" dirty="0"/>
                  <a:t>1 – идеал </a:t>
                </a:r>
                <a:r>
                  <a:rPr lang="ru-RU" dirty="0"/>
                  <a:t>(не достижим на практике или модель переобучена)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b="1" dirty="0"/>
                  <a:t>0.8 – отлично</a:t>
                </a:r>
                <a:r>
                  <a:rPr lang="ru-RU" dirty="0"/>
                  <a:t>! Модель объясняет 80</a:t>
                </a:r>
                <a:r>
                  <a:rPr lang="en-US" dirty="0"/>
                  <a:t>% </a:t>
                </a:r>
                <a:r>
                  <a:rPr lang="ru-RU" dirty="0"/>
                  <a:t>изменчивости данных, остальное – шум.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b="1" dirty="0"/>
                  <a:t>0 – бесполезно</a:t>
                </a:r>
                <a:r>
                  <a:rPr lang="ru-RU" dirty="0"/>
                  <a:t>. Модель не лучше обычного среднего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b="1" dirty="0"/>
                  <a:t>Отрицательное число</a:t>
                </a:r>
                <a:r>
                  <a:rPr lang="ru-RU" dirty="0"/>
                  <a:t> (не для линейной регрессии, но так бывает) – модель абсолютно не подходит под данные.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r>
                  <a:rPr lang="ru-RU" b="1" dirty="0"/>
                  <a:t>Преимущества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smtClean="0">
                        <a:solidFill>
                          <a:srgbClr val="1A1A2E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1" dirty="0">
                  <a:solidFill>
                    <a:srgbClr val="1A1A2E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ru-RU" dirty="0"/>
                  <a:t>Не зависит от единиц измерения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ru-RU" dirty="0"/>
                  <a:t>Легко сравнивать разные модели и даже разные задачи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ru-RU" dirty="0"/>
                  <a:t>Наличие жесткого </a:t>
                </a:r>
                <a:r>
                  <a:rPr lang="en-US" dirty="0"/>
                  <a:t>baseline</a:t>
                </a:r>
              </a:p>
              <a:p>
                <a:endParaRPr lang="en-US" b="1" dirty="0"/>
              </a:p>
              <a:p>
                <a:r>
                  <a:rPr lang="ru-RU" b="1" dirty="0"/>
                  <a:t>Недостатки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smtClean="0">
                        <a:solidFill>
                          <a:srgbClr val="1A1A2E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1" dirty="0">
                  <a:solidFill>
                    <a:srgbClr val="1A1A2E"/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ru-RU" dirty="0"/>
                  <a:t>Скрывает реальный масштаб ошибки (бизнесу часто важно </a:t>
                </a:r>
                <a:r>
                  <a:rPr lang="en-US" dirty="0"/>
                  <a:t>“</a:t>
                </a:r>
                <a:r>
                  <a:rPr lang="ru-RU" dirty="0"/>
                  <a:t>в рублях</a:t>
                </a:r>
                <a:r>
                  <a:rPr lang="en-US" dirty="0"/>
                  <a:t>”</a:t>
                </a:r>
                <a:r>
                  <a:rPr lang="ru-RU" dirty="0"/>
                  <a:t>)</a:t>
                </a:r>
              </a:p>
              <a:p>
                <a:pPr marL="342900" indent="-342900">
                  <a:buAutoNum type="arabicPeriod"/>
                </a:pPr>
                <a:r>
                  <a:rPr lang="ru-RU" dirty="0"/>
                  <a:t>Искусственно растет при добавлении любых признаков (исправление – </a:t>
                </a:r>
                <a:r>
                  <a:rPr lang="en-US" dirty="0"/>
                  <a:t>Adjusted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>
                            <a:solidFill>
                              <a:srgbClr val="1A1A2E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smtClean="0">
                        <a:solidFill>
                          <a:srgbClr val="1A1A2E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7BA4D86-3C1B-60A4-6E2D-8EABDCC12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333" y="1126067"/>
                <a:ext cx="11664283" cy="5380191"/>
              </a:xfrm>
              <a:prstGeom prst="rect">
                <a:avLst/>
              </a:prstGeom>
              <a:blipFill>
                <a:blip r:embed="rId4"/>
                <a:stretch>
                  <a:fillRect l="-418" t="-680" b="-9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6315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Интерпретация весов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2514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Вес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: при увеличении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на 1 (остальные признаки фиксированы) прогноз меняется 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>
                  <a:solidFill>
                    <a:srgbClr val="000000"/>
                  </a:solidFill>
                </a:endParaRP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Ceteris paribus — «при прочих равных»; в реальных данных признаки коррелированы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Большой вес не означает причинность — только ассоциацию при текущей модели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После StandardScaler веса сравнимы по «силе влияния»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2514600"/>
              </a:xfrm>
              <a:prstGeom prst="rect">
                <a:avLst/>
              </a:prstGeom>
              <a:blipFill>
                <a:blip r:embed="rId3"/>
                <a:stretch>
                  <a:fillRect l="-973" t="-1453" b="-169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38967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Базовый цикл: </a:t>
            </a:r>
            <a:r>
              <a:rPr lang="ru-RU" sz="2000" dirty="0">
                <a:latin typeface="Consolas"/>
                <a:cs typeface="Consolas"/>
              </a:rPr>
              <a:t>model.fit(X_train, y_train)</a:t>
            </a:r>
            <a:r>
              <a:rPr lang="ru-RU" sz="2000" dirty="0">
                <a:solidFill>
                  <a:srgbClr val="000000"/>
                </a:solidFill>
              </a:rPr>
              <a:t>, </a:t>
            </a:r>
            <a:r>
              <a:rPr lang="ru-RU" sz="2000" dirty="0">
                <a:latin typeface="Consolas"/>
                <a:cs typeface="Consolas"/>
              </a:rPr>
              <a:t>model.predict(X_test)</a:t>
            </a:r>
          </a:p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Data leakage: impute/scale </a:t>
            </a:r>
            <a:r>
              <a:rPr lang="ru-RU" sz="2000" b="1" dirty="0">
                <a:solidFill>
                  <a:srgbClr val="000000"/>
                </a:solidFill>
              </a:rPr>
              <a:t>до</a:t>
            </a:r>
            <a:r>
              <a:rPr lang="ru-RU" sz="2000" dirty="0">
                <a:solidFill>
                  <a:srgbClr val="000000"/>
                </a:solidFill>
              </a:rPr>
              <a:t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Решение: </a:t>
            </a:r>
            <a:r>
              <a:rPr lang="ru-RU" sz="2000" dirty="0">
                <a:latin typeface="Consolas"/>
                <a:cs typeface="Consolas"/>
              </a:rPr>
              <a:t>Pipeline([('scaler', StandardScaler()), ('reg', LinearRegression())])</a:t>
            </a:r>
          </a:p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Pipeline.fit на train; transform+predict на test — без утечки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274055"/>
            <a:ext cx="6172200" cy="11633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1" y="53197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sklearn.pipeline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Pipeline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4594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sklearn.preprocessing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StandardScaler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5991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sklearn.linear_model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LinearRegression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7388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Pipeline([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</a:t>
            </a:r>
            <a:r>
              <a:rPr sz="1100">
                <a:solidFill>
                  <a:srgbClr val="4070A0"/>
                </a:solidFill>
                <a:latin typeface="Consolas"/>
              </a:rPr>
              <a:t>'scaler'</a:t>
            </a:r>
            <a:r>
              <a:rPr sz="1100">
                <a:solidFill>
                  <a:srgbClr val="000000"/>
                </a:solidFill>
                <a:latin typeface="Consolas"/>
              </a:rPr>
              <a:t>, StandardScaler()),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</a:t>
            </a:r>
            <a:r>
              <a:rPr sz="1100">
                <a:solidFill>
                  <a:srgbClr val="4070A0"/>
                </a:solidFill>
                <a:latin typeface="Consolas"/>
              </a:rPr>
              <a:t>'reg'</a:t>
            </a:r>
            <a:r>
              <a:rPr sz="1100">
                <a:solidFill>
                  <a:srgbClr val="000000"/>
                </a:solidFill>
                <a:latin typeface="Consolas"/>
              </a:rPr>
              <a:t>, LinearRegression())])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fit(X_train, y_train)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13" name="Picture 12" descr="pipeline_lea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6162" y="1371600"/>
            <a:ext cx="4111650" cy="37378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6263640" cy="2788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Зависимость нелинейная: парабола, периодика, пороги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Эффект одного признака зависит от другого, но в модели нет произведения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·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— линейная формула это не описывает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Что попробовать: полиномиальные признаки (</a:t>
                </a:r>
                <a:r>
                  <a:rPr lang="ru-RU" sz="2000" dirty="0">
                    <a:latin typeface="Consolas"/>
                    <a:cs typeface="Consolas"/>
                  </a:rPr>
                  <a:t>PolynomialFeatures</a:t>
                </a:r>
                <a:r>
                  <a:rPr lang="ru-RU" sz="2000" dirty="0">
                    <a:solidFill>
                      <a:srgbClr val="000000"/>
                    </a:solidFill>
                  </a:rPr>
                  <a:t>), логарифм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нелинейные модели (деревья, нейросети)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Линейная модель — всё равно полезный baseline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6263640" cy="2788920"/>
              </a:xfrm>
              <a:prstGeom prst="rect">
                <a:avLst/>
              </a:prstGeom>
              <a:blipFill>
                <a:blip r:embed="rId3"/>
                <a:stretch>
                  <a:fillRect l="-973" t="-1092" b="-163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371600"/>
            <a:ext cx="4465015" cy="350300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Итоги и чек-лист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640080" y="1371600"/>
                <a:ext cx="5532120" cy="1828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Линейная регрессия — интерпретируемый baseline для числового прогноза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Train/test split и Pipeline — обязательная гигиена</a:t>
                </a:r>
              </a:p>
              <a:p>
                <a:pPr>
                  <a:spcAft>
                    <a:spcPts val="800"/>
                  </a:spcAft>
                </a:pPr>
                <a:r>
                  <a:rPr lang="ru-RU" sz="2000" dirty="0">
                    <a:solidFill>
                      <a:srgbClr val="000000"/>
                    </a:solidFill>
                  </a:rPr>
                  <a:t>• Смотрите графики остатков, не только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ru-RU" sz="20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5532120" cy="1828800"/>
              </a:xfrm>
              <a:prstGeom prst="rect">
                <a:avLst/>
              </a:prstGeom>
              <a:blipFill>
                <a:blip r:embed="rId3"/>
                <a:stretch>
                  <a:fillRect l="-1101" t="-1667" b="-5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6355080" y="1371600"/>
            <a:ext cx="5532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sz="2000" dirty="0">
                <a:solidFill>
                  <a:srgbClr val="000000"/>
                </a:solidFill>
              </a:rPr>
              <a:t>• 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sz="1600" dirty="0">
                <a:solidFill>
                  <a:srgbClr val="000000"/>
                </a:solidFill>
              </a:rPr>
              <a:t>• </a:t>
            </a:r>
            <a:r>
              <a:rPr sz="1600">
                <a:solidFill>
                  <a:srgbClr val="3366CC"/>
                </a:solidFill>
                <a:hlinkClick r:id="rId3"/>
              </a:rPr>
              <a:t>Markov A.A. (1900). Least Squares Estimation of Linear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sz="1600" dirty="0">
                <a:solidFill>
                  <a:srgbClr val="000000"/>
                </a:solidFill>
              </a:rPr>
              <a:t>• </a:t>
            </a:r>
            <a:r>
              <a:rPr sz="1600">
                <a:solidFill>
                  <a:srgbClr val="3366CC"/>
                </a:solidFill>
                <a:hlinkClick r:id="rId4"/>
              </a:rPr>
              <a:t>Hoerl A.E., Kennard R.W. (1970). Ridge Regression: Biased Estimation for Nonorthogonal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sz="1600" dirty="0">
                <a:solidFill>
                  <a:srgbClr val="000000"/>
                </a:solidFill>
              </a:rPr>
              <a:t>• </a:t>
            </a:r>
            <a:r>
              <a:rPr sz="1600">
                <a:solidFill>
                  <a:srgbClr val="3366CC"/>
                </a:solidFill>
                <a:hlinkClick r:id="rId5"/>
              </a:rPr>
              <a:t>Tibshirani R. (1996). Regression Shrinkage and Selection via the Lasso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rgbClr val="000000"/>
                </a:solidFill>
              </a:rPr>
              <a:t>• Примеры по слайдам: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rgbClr val="000000"/>
                </a:solidFill>
              </a:rPr>
              <a:t>• Мини-проект: </a:t>
            </a:r>
            <a:r>
              <a:rPr sz="1400">
                <a:solidFill>
                  <a:srgbClr val="3366CC"/>
                </a:solidFill>
                <a:hlinkClick r:id="rId7"/>
              </a:rPr>
              <a:t>https://colab.research.google.com/github/gurovic/ml-lessons/blob/main/lessons/lineynaya_regressiya/project.ipynb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2067</Words>
  <Application>Microsoft Office PowerPoint</Application>
  <PresentationFormat>Widescreen</PresentationFormat>
  <Paragraphs>173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Martina Joe</cp:lastModifiedBy>
  <cp:revision>2</cp:revision>
  <dcterms:created xsi:type="dcterms:W3CDTF">2013-01-27T09:14:16Z</dcterms:created>
  <dcterms:modified xsi:type="dcterms:W3CDTF">2026-06-29T20:58:14Z</dcterms:modified>
  <cp:category/>
</cp:coreProperties>
</file>