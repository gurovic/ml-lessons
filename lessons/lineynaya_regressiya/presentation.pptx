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бытового примера: площадь → цена. Показать scatter с линией.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точку выше/ниже линии — показать вертикальный остаток.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Лапласа: время доставки с редкими катастрофическими задержками.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Уточнить: при $p \gg n$ или вырожденной $X^TX$ нужна регуляризация или псевдообратная.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цена = f(площадь, этаж, район).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вес «этаж» и «площадь» несопоставимы без scaler.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одна точка с огромным y сдвигает MSE-линию.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два почти совпадающих столбца в pandas.corr().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R²=0.99 на train и 0.3 на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ElasticNet — компромисс L1+L2.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mean_absolute_error, mean_squared_error, r2_score.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хороший и плохой residual plot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«этаж» и «лифт» коррелируют — веса не разделить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разницу R² с утечкой и без на синтетике.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площадь vs цена с ускоряющимся ростом.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2307/1271436" TargetMode="External"/><Relationship Id="rId3" Type="http://schemas.openxmlformats.org/officeDocument/2006/relationships/hyperlink" Target="https://doi.org/10.1111/j.2517-6161.1996.tb00880.x" TargetMode="External"/><Relationship Id="rId4" Type="http://schemas.openxmlformats.org/officeDocument/2006/relationships/hyperlink" Target="https://doi.org/10.2307/2332423" TargetMode="External"/><Relationship Id="rId5" Type="http://schemas.openxmlformats.org/officeDocument/2006/relationships/hyperlink" Target="https://colab.research.google.com/github/gurovic/ml-lessons/blob/main/lessons/lineynaya_regressiya/code.ipynb" TargetMode="External"/><Relationship Id="rId6" Type="http://schemas.openxmlformats.org/officeDocument/2006/relationships/hyperlink" Target="https://colab.research.google.com/github/gurovic/ml-lessons/blob/main/lessons/lineynaya_regressiya/project.ipynb" TargetMode="External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Линейная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Предсказание чисел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Регрессия — предсказание числа по признакам: цена квартиры, время доставки, спрос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Простейшая модель: </a:t>
            </a:r>
            <ns0:m xmlns:ns0="http://schemas.microsoft.com/office/drawing/2010/main">
              <m:oMath xmlns:m="http://schemas.openxmlformats.org/officeDocument/2006/math">
                <m:r>
                  <m:t>y=kx+b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прямая на плоскости «признак → ответ»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Обучение: подобрать </a:t>
            </a:r>
            <ns0:m xmlns:ns0="http://schemas.microsoft.com/office/drawing/2010/main">
              <m:oMath xmlns:m="http://schemas.openxmlformats.org/officeDocument/2006/math">
                <m:r>
                  <m:t>k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чтобы ошибки на данных были как можно меньше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Визуально — найти прямую, которая «лучше всего» проходит через облако точек</a:t>
            </a:r>
          </a:p>
        </p:txBody>
      </p:sp>
      <p:pic>
        <p:nvPicPr>
          <p:cNvPr id="4" name="Picture 3" descr="intro_scatt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Геометрическая интуиция и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Минимизируем </a:t>
            </a:r>
            <a:r>
              <a:rPr lang="ru-RU" dirty="0" sz="2000" b="1">
                <a:solidFill>
                  <a:srgbClr val="000000"/>
                </a:solidFill>
              </a:rPr>
              <a:t>вертикальные</a:t>
            </a:r>
            <a:r>
              <a:rPr lang="ru-RU" dirty="0" sz="2000">
                <a:solidFill>
                  <a:srgbClr val="000000"/>
                </a:solidFill>
              </a:rPr>
              <a:t xml:space="preserve"> расстояния от точек до линии (не перпендикуляры к прямой)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Остаток: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ϵ</m:t>
                    </m:r>
                  </m:e>
                  <m:sub>
                    <m:r>
                      <m:t>i</m:t>
                    </m:r>
                  </m:sub>
                </m:sSub>
                <m:r>
                  <m:t>=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разница между фактом и прогнозом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модель: остатки симметрично разбросаны вокруг нуля, без систематического смещения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Сумма остатков на обучающей выборке при МНК равна нулю (для модели с intercept)</a:t>
            </a:r>
          </a:p>
        </p:txBody>
      </p:sp>
      <p:pic>
        <p:nvPicPr>
          <p:cNvPr id="4" name="Picture 3" descr="residuals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1192" y="1325880"/>
            <a:ext cx="3211495" cy="2203704"/>
          </a:xfrm>
          <a:prstGeom prst="rect">
            <a:avLst/>
          </a:prstGeom>
        </p:spPr>
      </p:pic>
      <p:pic>
        <p:nvPicPr>
          <p:cNvPr id="5" name="Picture 4" descr="residuals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Функция потерь: почему MSE?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MSE: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средний квадрат ошибки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Сумму без деления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минимизировать то же самое; деление нужно для сравнимости между выборками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MAE (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∑|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устойчивее к выбросам, но не гладкая в нуле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гладкая везде — удобно для производной и градиентного спуска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= MLE при гауссовских остатках; MAE = MLE при распределении Лапласа (например, медианный шум в задачах с редкими сбоями)</a:t>
            </a:r>
          </a:p>
        </p:txBody>
      </p:sp>
      <p:pic>
        <p:nvPicPr>
          <p:cNvPr id="4" name="Picture 3" descr="mse_vs_ma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компьютер ищет минимум?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Аналитическое решение (МНК): производная по весам → система линейных уравнений →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w</m:t>
                    </m:r>
                  </m:e>
                </m:acc>
                <m:r>
                  <m:t>=(</m:t>
                </m:r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X</m:t>
                </m:r>
                <m:sSup>
                  <m:e>
                    <m:r>
                      <m:t>)</m:t>
                    </m:r>
                  </m:e>
                  <m:sup>
                    <m:r>
                      <m:t>−1</m:t>
                    </m:r>
                  </m:sup>
                </m:sSup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`LinearRegression` в sklearn по умолчанию решает так (solver `linalg`) — быстро и точно для умеренных матриц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очень больших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нехватке памяти — итеративные методы: SGD, `sag`, `lsqr`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Градиентный спуск: шаг против градиента функции потерь; `SGDRegressor` в sklearn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На практике для линейной регрессии чаще используют не «чистый» SGD, а стабильные solver'ы (`lbfgs`, `sag` в Ridge/Lasso)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675887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712463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sklearn.linear_model import LinearRegression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model = LinearRegression()  # solver='linalg' по умолчанию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model.fit(X_train, y_train)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y_pred = model.predict(X_test)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5423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МНК через LinearRegression</a:t>
            </a:r>
          </a:p>
        </p:txBody>
      </p:sp>
      <p:pic>
        <p:nvPicPr>
          <p:cNvPr id="7" name="Picture 6" descr="gradient_descent_con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Множественная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Несколько признаков: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b>
                  <m:e>
                    <m:r>
                      <m:t>w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+</m:t>
                </m:r>
                <m:sSub>
                  <m:e>
                    <m:r>
                      <m:t>w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  <m:r>
                  <m:t>+…+b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Векторная форма: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p>
                  <m:e>
                    <m:limUpp>
                      <m:e>
                        <m:r>
                          <m:t>w</m:t>
                        </m:r>
                      </m:e>
                      <m:lim>
                        <m:r>
                          <m:t>→</m:t>
                        </m:r>
                      </m:lim>
                    </m:limUpp>
                  </m:e>
                  <m:sup>
                    <m:r>
                      <m:t>⊤</m:t>
                    </m:r>
                  </m:sup>
                </m:sSup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Геометрически — гиперплоскость в пространстве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МНК и градиентный спуск обобщаются на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признаков без смены идеи</a:t>
            </a:r>
          </a:p>
        </p:txBody>
      </p:sp>
      <p:pic>
        <p:nvPicPr>
          <p:cNvPr id="4" name="Picture 3" descr="hyperplan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306" y="1325880"/>
            <a:ext cx="4277267" cy="44805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Предобработка: масштабирование и категории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Категории: One-Hot Encoding (столбцы 0/1); порядковое кодирование 0,1,2 искажает расстояния между уровнями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StandardScaler: </a:t>
            </a:r>
            <ns0:m xmlns:ns0="http://schemas.microsoft.com/office/drawing/2010/main">
              <m:oMath xmlns:m="http://schemas.openxmlformats.org/officeDocument/2006/math">
                <m:r>
                  <m:t>(x−μ)/σ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для МНК качество прогноза на test часто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Масштабирование нужно для </a:t>
            </a:r>
            <a:r>
              <a:rPr lang="ru-RU" dirty="0" sz="2000" b="1">
                <a:solidFill>
                  <a:srgbClr val="000000"/>
                </a:solidFill>
              </a:rPr>
              <a:t>интерпретации весов</a:t>
            </a:r>
            <a:r>
              <a:rPr lang="ru-RU" dirty="0" sz="2000">
                <a:solidFill>
                  <a:srgbClr val="000000"/>
                </a:solidFill>
              </a:rPr>
              <a:t xml:space="preserve"> (сравнивать влияние признаков)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градиентного спуска и регуляризации масштабирование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 xml:space="preserve"> — иначе медленная или неверная сходимость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13258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12527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sklearn.preprocessing import StandardScaler, OneHotEncoder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sklearn.compose import ColumnTransformer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prep = ColumnTransformer([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('num', StandardScaler(), num_cols),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('cat', OneHotEncoder(), cat_cols),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X_scaled = prep.fit_transform(X_train)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672584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Числа + категории</a:t>
            </a:r>
          </a:p>
        </p:txBody>
      </p:sp>
      <p:pic>
        <p:nvPicPr>
          <p:cNvPr id="7" name="Picture 6" descr="scaling_weight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27162"/>
            <a:ext cx="4343400" cy="1677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Выбросы в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: при MSE сильно тянет линию — решение: MAE (`HuberRegressor`), робастные методы или чистка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(leverage): точка далеко по оси X может резко изменить наклон, даже при нормальном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Всегда стройте scatter «признак vs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» и boxplot остатков перед 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Влиятельные точки диагностируют через остатки и расстояние от центра признаков</a:t>
            </a:r>
          </a:p>
        </p:txBody>
      </p:sp>
      <p:pic>
        <p:nvPicPr>
          <p:cNvPr id="4" name="Picture 3" descr="outlier_y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04240"/>
            <a:ext cx="4343400" cy="1646984"/>
          </a:xfrm>
          <a:prstGeom prst="rect">
            <a:avLst/>
          </a:prstGeom>
        </p:spPr>
      </p:pic>
      <p:pic>
        <p:nvPicPr>
          <p:cNvPr id="5" name="Picture 4" descr="outlier_leverage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881659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Мультиколлинеарность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корреляция признаков: «площадь м²» и «площадь ft²», «зарплата» и «налоги»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Прогнозы часто остаются точными, но веса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нестабильны — большие, меняют 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Интерпретация «вклад признака» становится бессмысленной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Решения: удалить дубликаты, PCA, Ridge (L2), или собрать один составной признак</a:t>
            </a:r>
          </a:p>
        </p:txBody>
      </p:sp>
      <p:pic>
        <p:nvPicPr>
          <p:cNvPr id="4" name="Picture 3" descr="multicol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629149"/>
            <a:ext cx="4343400" cy="18740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разделение train/test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модель подстраивается под шум обучающей выборки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с малым числом признаков переобучается реже деревьев, но шум в данных всё равно завышает метрики на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Никогда не оценивайте качество на train — только на отложенной выборке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`train_test_split`: train — подбор весов, test — финальная проверка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9052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sklearn.model_selection import train_test_split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X_tr, X_te, y_tr, y_te = train_test_split(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X, y, test_size=0.2, random_state=42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model.fit(X_tr, y_tr)  # метрики только на X_te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25112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Отложенная выборка</a:t>
            </a:r>
          </a:p>
        </p:txBody>
      </p:sp>
      <p:pic>
        <p:nvPicPr>
          <p:cNvPr id="7" name="Picture 6" descr="train_tes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Регуляризация: Ridge и Lasso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Добавляем штраф за большие веса к функции потерь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Ridge (L2):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sSubSup>
                      <m:e>
                        <m:r>
                          <m:t>w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сжимает веса, помогает при мультиколлинеарности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Lasso (L1):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r>
                      <m:t>|</m:t>
                    </m:r>
                  </m:e>
                </m:nary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может обнулять веса → отбор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Гиперпараметр </a:t>
            </a:r>
            <ns0:m xmlns:ns0="http://schemas.microsoft.com/office/drawing/2010/main">
              <m:oMath xmlns:m="http://schemas.openxmlformats.org/officeDocument/2006/math">
                <m:r>
                  <m:t>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подбирают по validation / cross-validation</a:t>
            </a:r>
          </a:p>
        </p:txBody>
      </p:sp>
      <p:pic>
        <p:nvPicPr>
          <p:cNvPr id="4" name="Picture 3" descr="regularization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585197"/>
            <a:ext cx="4343400" cy="19619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Метрики качества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MAE — средняя ошибка в тех же единицах, что 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(понятно бизнесу)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RMSE = </a:t>
            </a:r>
            <ns0:m xmlns:ns0="http://schemas.microsoft.com/office/drawing/2010/main">
              <m:oMath xmlns:m="http://schemas.openxmlformats.org/officeDocument/2006/math">
                <m:rad>
                  <m:radPr>
                    <m:degHide m:val="on"/>
                  </m:radPr>
                  <m:deg/>
                  <m:e>
                    <m:r>
                      <m:rPr>
                        <m:sty m:val="p"/>
                      </m:rPr>
                      <m:t>MSE</m:t>
                    </m:r>
                  </m:e>
                </m:ra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сильнее штрафует крупные промахи</a:t>
            </a:r>
          </a:p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1 — идеал; 0 — не лучше константы </a:t>
            </a:r>
            <ns0:m xmlns:ns0="http://schemas.microsoft.com/office/drawing/2010/main">
              <m:oMath xmlns:m="http://schemas.openxmlformats.org/officeDocument/2006/math"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&lt;"/>
                    <m:sepChr m:val=""/>
                    <m:endChr m:val=""/>
                  </m:dPr>
                  <m:e>
                    <m:r>
                      <m:t>0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хуже среднего (проверьте код/данные)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сравнения моделей на одной задаче смотрите MAE и RMSE вместе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sklearn.metrics import mean_absolute_error, r2_score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mae = mean_absolute_error(y_te, y_pred)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r2 = r2_score(y_te, y_pred)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print(f'MAE={mae:.2f}, R²={r2:.3f}')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MAE и R²</a:t>
            </a:r>
          </a:p>
        </p:txBody>
      </p:sp>
      <p:pic>
        <p:nvPicPr>
          <p:cNvPr id="7" name="Picture 6" descr="regression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Диагностика: графики остатков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График: по оси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(или признак), по оси Y — остаток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Хорошо: случайное облако вокруг нуля, без тренда (гомоскедастичность)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Плохо: «воронка» (дисперсия ошибки растёт) — нужна трансформация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другая модель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Плохо: U-образная форма — не учтена нелинейность</a:t>
            </a:r>
          </a:p>
        </p:txBody>
      </p:sp>
      <p:pic>
        <p:nvPicPr>
          <p:cNvPr id="4" name="Picture 3" descr="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58695"/>
            <a:ext cx="4343400" cy="161492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(остальные признаки фиксированы) прогноз меняется на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Ceteris paribus — «при прочих равных»; в реальных данных признаки коррелированы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Большой вес не означает причинность — только ассоциацию при текущей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StandardScaler веса сравнимы по «силе влияния»</a:t>
            </a:r>
          </a:p>
        </p:txBody>
      </p:sp>
      <p:pic>
        <p:nvPicPr>
          <p:cNvPr id="4" name="Picture 3" descr="standardized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sklearn и защита от утечек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цикл: `model.fit(X_train, y_train)`, `model.predict(X_test)`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Data leakage: impute/scale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статистики теста попадают в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`Pipeline([('scaler', StandardScaler()), ('reg', LinearRegression())])`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Pipeline.fit на train; transform+predict на test — без утечки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149961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1426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sklearn.pipeline import Pipeline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sklearn.preprocessing import StandardScaler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sklearn.linear_model import LinearRegression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pipe = Pipeline([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('scaler', StandardScaler()),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('reg', LinearRegression()),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pipe.fit(X_train, y_train)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Pipeline без утечки</a:t>
            </a:r>
          </a:p>
        </p:txBody>
      </p:sp>
      <p:pic>
        <p:nvPicPr>
          <p:cNvPr id="7" name="Picture 6" descr="pipeline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57963"/>
            <a:ext cx="4343400" cy="141639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Когда линейная модель не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Зависимость нелинейная: парабола, периодика, пороги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Сильное взаимодействие признаков без явных фичей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·</m:t>
                </m:r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Что попробовать: полиномиальные признаки (`PolynomialFeatures`), логарифм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нелинейные модели (деревья,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— всё равно полезный baseline</a:t>
            </a:r>
          </a:p>
        </p:txBody>
      </p:sp>
      <p:pic>
        <p:nvPicPr>
          <p:cNvPr id="4" name="Picture 3" descr="nonlinear_vs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39840"/>
            <a:ext cx="4343400" cy="1652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Итоги и чек-лист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 — интерпретируемый baseline для числового прогноза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Train/test split и Pipeline — обязательная гигиена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Смотрите графики остатков, не только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Интерпретируйте веса с оговоркой ceteris paribus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Мультиколлинеарность → Ridge; отбор признаков → Lasso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Hoerl A.E., Kennard R.W. (1970). Ridge Regression: Biased Estimation for Nonorthogonal Problems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Tibshirani R. (1996). Regression Shrinkage and Selection via the Lasso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Markov A.A. (1900). Least Squares Estimation of Linear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https://colab.research.google.com/github/gurovic/ml-lessons/blob/main/lessons/lineynaya_regressiya/code.ipynb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https://colab.research.google.com/github/gurovic/ml-lessons/blob/main/lessons/lineynaya_regressiya/project.ipynb</a:t>
            </a:r>
          </a:p>
        </p:txBody>
      </p:sp>
      <p:pic>
        <p:nvPicPr>
          <p:cNvPr id="10" name="Picture 9" descr="_qr_ref_17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7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