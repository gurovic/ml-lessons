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tat.cmu.edu/technometrics/90-00/vol-42-01/v4201080.pdf" TargetMode="External"/><Relationship Id="rId3" Type="http://schemas.openxmlformats.org/officeDocument/2006/relationships/hyperlink" Target="https://sites.stat.washington.edu/courses/stat527/s14/readings/j_royal_stat_soc_b1996.pdf" TargetMode="External"/><Relationship Id="rId4" Type="http://schemas.openxmlformats.org/officeDocument/2006/relationships/hyperlink" Target="https://old.maa.org/press/periodicals/convergence/a-selection-of-problems-from-aa-markov-s-calculus-of-probabilities-markovs-book" TargetMode="External"/><Relationship Id="rId5" Type="http://schemas.openxmlformats.org/officeDocument/2006/relationships/hyperlink" Target="https://colab.research.google.com/github/gurovic/ml-lessons/blob/main/lessons/lineynaya_regressiya/code.ipynb" TargetMode="External"/><Relationship Id="rId6" Type="http://schemas.openxmlformats.org/officeDocument/2006/relationships/hyperlink" Target="https://colab.research.google.com/github/gurovic/ml-lessons/blob/main/lessons/lineynaya_regressiya/project.ipynb" TargetMode="External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Визуально — найти прямую, которая «лучше всего» проходит через облако точек</a:t>
            </a:r>
          </a:p>
        </p:txBody>
      </p:sp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Минимизируем </a:t>
            </a:r>
            <a:r>
              <a:rPr lang="ru-RU" dirty="0" sz="2000" b="1">
                <a:solidFill>
                  <a:srgbClr val="000000"/>
                </a:solidFill>
              </a:rPr>
              <a:t>вертикальные</a:t>
            </a:r>
            <a:r>
              <a:rPr lang="ru-RU" dirty="0" sz="2000">
                <a:solidFill>
                  <a:srgbClr val="000000"/>
                </a:solidFill>
              </a:rPr>
              <a:t xml:space="preserve">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модель: остатки симметрично разбросаны вокруг нуля, без систематического смещения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Сумма остатков на обучающей выборке при МНК равна нулю (для модели с intercept)</a:t>
            </a:r>
          </a:p>
        </p:txBody>
      </p:sp>
      <p:pic>
        <p:nvPicPr>
          <p:cNvPr id="4" name="Picture 3" descr="residuals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1192" y="1325880"/>
            <a:ext cx="3211495" cy="2203704"/>
          </a:xfrm>
          <a:prstGeom prst="rect">
            <a:avLst/>
          </a:prstGeom>
        </p:spPr>
      </p:pic>
      <p:pic>
        <p:nvPicPr>
          <p:cNvPr id="5" name="Picture 4" descr="residuals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Сумму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минимизировать то же самое; деление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= MLE при гауссовских остатках; MAE = MLE при распределении Лапласа (например, медианный шум в задачах с редкими сбоями)</a:t>
            </a:r>
          </a:p>
        </p:txBody>
      </p:sp>
      <p:pic>
        <p:nvPicPr>
          <p:cNvPr id="4" name="Picture 3" descr="mse_vs_ma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Аналитическое решение (МНК): производная по весам → система линейных уравнений →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`LinearRegression` в sklearn по умолчанию решает так (solver `linalg`) — быстро и точно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очень больших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нехватке памяти — итеративные методы: SGD, `sag`, `lsqr`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Градиентный спуск: шаг против градиента функции потерь; `SGDRegressor` в sklearn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для линейной регрессии чаще используют не «чистый» SGD, а стабильные solver'ы (`lbfgs`, `sag` в Ridge/Lasso)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 = LinearRegression()  # solver='linalg' по умолчанию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 = model.predict(X_test)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через LinearRegression</a:t>
            </a:r>
          </a:p>
        </p:txBody>
      </p:sp>
      <p:pic>
        <p:nvPicPr>
          <p:cNvPr id="7" name="Picture 6" descr="gradient_descent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  <p:pic>
        <p:nvPicPr>
          <p:cNvPr id="4" name="Picture 3" descr="hyperplan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306" y="1325880"/>
            <a:ext cx="4277267" cy="44805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68833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Масштабирование нужно для </a:t>
            </a:r>
            <a:r>
              <a:rPr lang="ru-RU" dirty="0" sz="2000" b="1">
                <a:solidFill>
                  <a:srgbClr val="000000"/>
                </a:solidFill>
              </a:rPr>
              <a:t>интерпретации весов</a:t>
            </a:r>
            <a:r>
              <a:rPr lang="ru-RU" dirty="0" sz="2000">
                <a:solidFill>
                  <a:srgbClr val="000000"/>
                </a:solidFill>
              </a:rPr>
              <a:t xml:space="preserve">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градиентного спуска и регуляризации масштабирование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медленная или неверная сходимость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169663"/>
            <a:ext cx="6766560" cy="13258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206240"/>
            <a:ext cx="6620256" cy="125272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sklearn.preprocessing import StandardScaler, OneHotEncoder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sklearn.compose import ColumnTransformer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prep = ColumnTransformer([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('num', StandardScaler(), num_cols),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('cat', OneHotEncoder(), cat_cols),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X_scaled = prep.fit_transform(X_train)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Числа + категории</a:t>
            </a:r>
          </a:p>
        </p:txBody>
      </p:sp>
      <p:pic>
        <p:nvPicPr>
          <p:cNvPr id="7" name="Picture 6" descr="scaling_weight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27162"/>
            <a:ext cx="4343400" cy="1677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решение: MAE (`HuberRegressor`), робастные методы или чистка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Всегда стройте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 перед 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Влиятельные точки диагностируют через остатки и расстояние от центра признаков</a:t>
            </a:r>
          </a:p>
        </p:txBody>
      </p:sp>
      <p:pic>
        <p:nvPicPr>
          <p:cNvPr id="4" name="Picture 3" descr="outlier_y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04240"/>
            <a:ext cx="4343400" cy="1646984"/>
          </a:xfrm>
          <a:prstGeom prst="rect">
            <a:avLst/>
          </a:prstGeom>
        </p:spPr>
      </p:pic>
      <p:pic>
        <p:nvPicPr>
          <p:cNvPr id="5" name="Picture 4" descr="outlier_leverag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881659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удалить дубликаты, PCA, Ridge (L2), или собрать один составной признак</a:t>
            </a:r>
          </a:p>
        </p:txBody>
      </p:sp>
      <p:pic>
        <p:nvPicPr>
          <p:cNvPr id="4" name="Picture 3" descr="multi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29149"/>
            <a:ext cx="4343400" cy="18740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0358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`train_test_split`: train — подбор весов, test — финальная проверка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17136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553712"/>
            <a:ext cx="6620256" cy="90525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sklearn.model_selection import train_test_split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X_tr, X_te, y_tr, y_te = train_test_split(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X, y, test_size=0.2, random_state=42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model.fit(X_tr, y_tr)  # метрики только на X_te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Отложенная выборка</a:t>
            </a:r>
          </a:p>
        </p:txBody>
      </p:sp>
      <p:pic>
        <p:nvPicPr>
          <p:cNvPr id="7" name="Picture 6" descr="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веса, помогает при мультиколлинеарности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может обнулять веса → отбор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</a:t>
            </a:r>
          </a:p>
        </p:txBody>
      </p:sp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585197"/>
            <a:ext cx="4343400" cy="19619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сравнения моделей на одной задаче смотрите MAE и RMSE вместе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sklearn.metrics import mean_absolute_error, r2_score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mae = mean_absolute_error(y_te, y_pred)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r2 = r2_score(y_te, y_pred)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print(f'MAE={mae:.2f}, R²={r2:.3f}')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MAE и R²</a:t>
            </a:r>
          </a:p>
        </p:txBody>
      </p:sp>
      <p:pic>
        <p:nvPicPr>
          <p:cNvPr id="7" name="Picture 6" descr="regressio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Хорошо: случайное облако вокруг нуля, без тренда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Плохо: U-образная форма — не учтена нелинейность</a:t>
            </a:r>
          </a:p>
        </p:txBody>
      </p:sp>
      <p:pic>
        <p:nvPicPr>
          <p:cNvPr id="4" name="Picture 3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58695"/>
            <a:ext cx="4343400" cy="161492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Ceteris paribus — «при прочих равных»; в реальных данных признаки коррелированы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StandardScaler веса сравнимы по «силе влияния»</a:t>
            </a:r>
          </a:p>
        </p:txBody>
      </p:sp>
      <p:pic>
        <p:nvPicPr>
          <p:cNvPr id="4" name="Picture 3" descr="standardized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5145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цикл: `model.fit(X_train, y_train)`, `model.predict(X_test)`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Data leakage: impute/scale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`Pipeline([('scaler', StandardScaler()), ('reg', LinearRegression())])`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Pipeline.fit на train; transform+predict на test — без утечки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995927"/>
            <a:ext cx="6766560" cy="149961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032503"/>
            <a:ext cx="6620256" cy="142646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sklearn.pipeline import Pipeline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sklearn.preprocessing import StandardScaler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 = Pipeline([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('scaler', StandardScaler()),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('reg', LinearRegression()),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pipe.fit(X_train, y_train)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Pipeline без утечки</a:t>
            </a:r>
          </a:p>
        </p:txBody>
      </p:sp>
      <p:pic>
        <p:nvPicPr>
          <p:cNvPr id="7" name="Picture 6" descr="pipeline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57963"/>
            <a:ext cx="4343400" cy="14163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Сильное взаимодействие признаков без явных фичей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Что попробовать: полиномиальные признаки (`PolynomialFeatures`),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— всё равно полезный baseline</a:t>
            </a:r>
          </a:p>
        </p:txBody>
      </p:sp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9840"/>
            <a:ext cx="4343400" cy="1652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Hoerl A.E., Kennard R.W. (1970). Ridge Regression: Biased Estimation for Nonorthogonal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Tibshirani R. (1996). Regression Shrinkage and Selection via the Lasso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Markov A.A. (1900). Least Squares Estimation of Linear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https://colab.research.google.com/github/gurovic/ml-lessons/blob/main/lessons/lineynaya_regressiya/code.ipynb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https://colab.research.google.com/github/gurovic/ml-lessons/blob/main/lessons/lineynaya_regressiya/project.ipynb</a:t>
            </a:r>
          </a:p>
        </p:txBody>
      </p:sp>
      <p:pic>
        <p:nvPicPr>
          <p:cNvPr id="10" name="Picture 9" descr="_qr_ref_17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7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