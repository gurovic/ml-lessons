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Начать с бытового примера: площадь → цена. Показать scatter с линией.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 доске: нарисовать точку выше/ниже линии — показать вертикальный остаток.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 Лапласа: время доставки с редкими катастрофическими задержками.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Уточнить: при $p \gg n$ или вырожденной $X^TX$ нужна регуляризация или псевдообратная.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цена = f(площадь, этаж, район).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Показать, как вес «этаж» и «площадь» несопоставимы без scaler.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Демо: одна точка с огромным y сдвигает MSE-линию.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два почти совпадающих столбца в pandas.corr().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R²=0.99 на train и 0.3 на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ElasticNet — компромисс L1+L2.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sklearn: mean_absolute_error, mean_squared_error, r2_score.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хороший и плохой residual plot рядом.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«этаж» и «лифт» коррелируют — веса не разделить причину.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разницу R² с утечкой и без на синтетике.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Пример: площадь vs цена с ускоряющимся ростом.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Можно раздать чек-лист одним слайдом в конце.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Colab-ссылки обновляются агентом при --apply.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old.maa.org/press/periodicals/convergence/a-selection-of-problems-from-aa-markov-s-calculus-of-probabilities-markovs-book" TargetMode="External"/><Relationship Id="rId3" Type="http://schemas.openxmlformats.org/officeDocument/2006/relationships/hyperlink" Target="https://www.stat.cmu.edu/technometrics/90-00/vol-42-01/v4201080.pdf" TargetMode="External"/><Relationship Id="rId4" Type="http://schemas.openxmlformats.org/officeDocument/2006/relationships/hyperlink" Target="https://sites.stat.washington.edu/courses/stat527/s14/readings/j_royal_stat_soc_b1996.pdf" TargetMode="External"/><Relationship Id="rId5" Type="http://schemas.openxmlformats.org/officeDocument/2006/relationships/hyperlink" Target="https://colab.research.google.com/github/gurovic/ml-lessons/blob/main/lessons/lineynaya_regressiya/code.ipynb" TargetMode="External"/><Relationship Id="rId6" Type="http://schemas.openxmlformats.org/officeDocument/2006/relationships/hyperlink" Target="https://colab.research.google.com/github/gurovic/ml-lessons/blob/main/lessons/lineynaya_regressiya/project.ipynb" TargetMode="External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1A1A2E"/>
                </a:solidFill>
              </a:defRPr>
            </a:pPr>
            <a:r>
              <a:t>Линейная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555555"/>
                </a:solidFill>
              </a:defRPr>
            </a:pPr>
            <a:r>
              <a:t>Автор: Гуровиц Владимир Михайлович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29768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777777"/>
                </a:solidFill>
              </a:defRPr>
            </a:pPr>
            <a:r>
              <a:t>Email: vladimir.gurovic@letovo.ru, gurovic@gmail.com | Telegram: @gurovic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999999"/>
                </a:solidFill>
              </a:defRPr>
            </a:pPr>
            <a:r>
              <a:t>29.06.2026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Предсказание чисел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Регрессия — предсказание числа по признакам: цена квартиры, время доставки, спрос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Простейшая модель: </a:t>
            </a:r>
            <ns0:m xmlns:ns0="http://schemas.microsoft.com/office/drawing/2010/main">
              <m:oMath xmlns:m="http://schemas.openxmlformats.org/officeDocument/2006/math">
                <m:r>
                  <m:t>y=kx+b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прямая на плоскости «признак → ответ»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Обучение: подобрать </a:t>
            </a:r>
            <ns0:m xmlns:ns0="http://schemas.microsoft.com/office/drawing/2010/main">
              <m:oMath xmlns:m="http://schemas.openxmlformats.org/officeDocument/2006/math">
                <m:r>
                  <m:t>k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 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чтобы ошибки на данных были как можно меньше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Визуально — найти прямую, которая «лучше всего» проходит через облако точек</a:t>
            </a:r>
          </a:p>
        </p:txBody>
      </p:sp>
      <p:pic>
        <p:nvPicPr>
          <p:cNvPr id="4" name="Picture 3" descr="intro_scatter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Геометрическая интуиция и остатки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Минимизируем </a:t>
            </a:r>
            <a:r>
              <a:rPr lang="ru-RU" dirty="0" sz="2000" b="1">
                <a:solidFill>
                  <a:srgbClr val="000000"/>
                </a:solidFill>
              </a:rPr>
              <a:t>вертикальные</a:t>
            </a:r>
            <a:r>
              <a:rPr lang="ru-RU" dirty="0" sz="2000">
                <a:solidFill>
                  <a:srgbClr val="000000"/>
                </a:solidFill>
              </a:rPr>
              <a:t xml:space="preserve"> расстояния от точек до линии (не перпендикуляры к прямой)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Остаток: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ϵ</m:t>
                    </m:r>
                  </m:e>
                  <m:sub>
                    <m:r>
                      <m:t>i</m:t>
                    </m:r>
                  </m:sub>
                </m:sSub>
                <m:r>
                  <m:t>=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разница между фактом и прогнозом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Intercept</a:t>
            </a:r>
            <a:r>
              <a:rPr lang="ru-RU" dirty="0" sz="2000">
                <a:solidFill>
                  <a:srgbClr val="000000"/>
                </a:solidFill>
              </a:rPr>
              <a:t xml:space="preserve"> (</a:t>
            </a:r>
            <ns0:m xmlns:ns0="http://schemas.microsoft.com/office/drawing/2010/main">
              <m:oMath xmlns:m="http://schemas.openxmlformats.org/officeDocument/2006/math">
                <m:r>
                  <m:t>b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): прогноз при </a:t>
            </a:r>
            <ns0:m xmlns:ns0="http://schemas.microsoft.com/office/drawing/2010/main">
              <m:oMath xmlns:m="http://schemas.openxmlformats.org/officeDocument/2006/math">
                <m:r>
                  <m:t>x=0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в sklearn — параметр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fit_intercept=True</a:t>
            </a:r>
            <a:r>
              <a:rPr lang="ru-RU" dirty="0" sz="2000">
                <a:solidFill>
                  <a:srgbClr val="000000"/>
                </a:solidFill>
              </a:rPr>
              <a:t xml:space="preserve"> (смещение прямой по оси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Хорошая модель: остатки симметрично разбросаны вокруг нуля, без систематического смещения</a:t>
            </a:r>
          </a:p>
        </p:txBody>
      </p:sp>
      <p:pic>
        <p:nvPicPr>
          <p:cNvPr id="4" name="Picture 3" descr="residuals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Функция потерь: почему MSE?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MSE: 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средний квадрат ошибки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Минимизация </a:t>
            </a:r>
            <ns0:m xmlns:ns0="http://schemas.microsoft.com/office/drawing/2010/main">
              <m:oMath xmlns:m="http://schemas.openxmlformats.org/officeDocument/2006/math"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i</m:t>
                    </m:r>
                  </m:sub>
                  <m:sup/>
                  <m:e>
                    <m:r>
                      <m:t>(</m:t>
                    </m:r>
                  </m:e>
                </m:nary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sSup>
                  <m:e>
                    <m:r>
                      <m:t>)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без деления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даёт те же оптимальные веса; деление на </a:t>
            </a:r>
            <ns0:m xmlns:ns0="http://schemas.microsoft.com/office/drawing/2010/main">
              <m:oMath xmlns:m="http://schemas.openxmlformats.org/officeDocument/2006/math">
                <m:r>
                  <m:t>N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нужно для сравнимости между выборками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MAE (</a:t>
            </a:r>
            <ns0:m xmlns:ns0="http://schemas.microsoft.com/office/drawing/2010/main">
              <m:oMath xmlns:m="http://schemas.openxmlformats.org/officeDocument/2006/math">
                <m:f>
                  <m:fPr>
                    <m:type m:val="bar"/>
                  </m:fPr>
                  <m:num>
                    <m:r>
                      <m:t>1</m:t>
                    </m:r>
                  </m:num>
                  <m:den>
                    <m:r>
                      <m:t>N</m:t>
                    </m:r>
                  </m:den>
                </m:f>
                <m:r>
                  <m:t>∑|</m:t>
                </m:r>
                <m:sSub>
                  <m:e>
                    <m:r>
                      <m:t>y</m:t>
                    </m:r>
                  </m:e>
                  <m:sub>
                    <m:r>
                      <m:t>i</m:t>
                    </m:r>
                  </m:sub>
                </m:sSub>
                <m:r>
                  <m:t>−</m:t>
                </m:r>
                <m:sSub>
                  <m:e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</m:e>
                  <m:sub>
                    <m:r>
                      <m:t>i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) устойчивее к выбросам, но не гладкая в нуле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MSE гладкая везде — удобно для производной и градиентного спуска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MSE = MLE при нормальных остатках; MAE = MLE, если ошибки распределены по Лапласу (редкие, но крупные сбои — например, катастрофические задержки доставки)</a:t>
            </a:r>
          </a:p>
        </p:txBody>
      </p:sp>
      <p:pic>
        <p:nvPicPr>
          <p:cNvPr id="4" name="Picture 3" descr="mse_vs_mae_lo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08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Как компьютер ищет минимум?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Аналитическое решение (МНК):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w</m:t>
                    </m:r>
                  </m:e>
                </m:acc>
                <m:r>
                  <m:t>=(</m:t>
                </m:r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X</m:t>
                </m:r>
                <m:sSup>
                  <m:e>
                    <m:r>
                      <m:t>)</m:t>
                    </m:r>
                  </m:e>
                  <m:sup>
                    <m:r>
                      <m:t>−1</m:t>
                    </m:r>
                  </m:sup>
                </m:sSup>
                <m:sSup>
                  <m:e>
                    <m:r>
                      <m:t>X</m:t>
                    </m:r>
                  </m:e>
                  <m:sup>
                    <m:r>
                      <m:t>T</m:t>
                    </m:r>
                  </m:sup>
                </m:sSup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быстро для умеренных матриц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LinearRegression</a:t>
            </a:r>
            <a:r>
              <a:rPr lang="ru-RU" dirty="0" sz="2000">
                <a:solidFill>
                  <a:srgbClr val="000000"/>
                </a:solidFill>
              </a:rPr>
              <a:t xml:space="preserve"> в sklearn использует solver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linalg</a:t>
            </a:r>
            <a:r>
              <a:rPr lang="ru-RU" dirty="0" sz="2000">
                <a:solidFill>
                  <a:srgbClr val="000000"/>
                </a:solidFill>
              </a:rPr>
              <a:t xml:space="preserve"> без итераций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огромных данных — итеративные методы: SGD,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SGDRegressor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Градиентный спуск: шаг против градиента функции потерь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832856"/>
            <a:ext cx="6172200" cy="6045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model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model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predict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X_test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МНК через LinearRegression</a:t>
            </a:r>
          </a:p>
        </p:txBody>
      </p:sp>
      <p:pic>
        <p:nvPicPr>
          <p:cNvPr id="9" name="Picture 8" descr="gradient_descent_contou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4948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Множественная регрессия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Несколько признаков: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b>
                  <m:e>
                    <m:r>
                      <m:t>w</m:t>
                    </m:r>
                  </m:e>
                  <m:sub>
                    <m:r>
                      <m:t>1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+</m:t>
                </m:r>
                <m:sSub>
                  <m:e>
                    <m:r>
                      <m:t>w</m:t>
                    </m:r>
                  </m:e>
                  <m:sub>
                    <m:r>
                      <m:t>2</m:t>
                    </m:r>
                  </m:sub>
                </m:sSub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  <m:r>
                  <m:t>+…+b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Векторная форма: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  <m:r>
                  <m:t>=</m:t>
                </m:r>
                <m:sSup>
                  <m:e>
                    <m:limUpp>
                      <m:e>
                        <m:r>
                          <m:t>w</m:t>
                        </m:r>
                      </m:e>
                      <m:lim>
                        <m:r>
                          <m:t>→</m:t>
                        </m:r>
                      </m:lim>
                    </m:limUpp>
                  </m:e>
                  <m:sup>
                    <m:r>
                      <m:t>⊤</m:t>
                    </m:r>
                  </m:sup>
                </m:sSup>
                <m:limUpp>
                  <m:e>
                    <m:r>
                      <m:t>x</m:t>
                    </m:r>
                  </m:e>
                  <m:lim>
                    <m:r>
                      <m:t>→</m:t>
                    </m:r>
                  </m:lim>
                </m:limUpp>
                <m:r>
                  <m:t>+b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Геометрически — гиперплоскость в пространстве признаков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МНК и градиентный спуск обобщаются на </a:t>
            </a:r>
            <ns0:m xmlns:ns0="http://schemas.microsoft.com/office/drawing/2010/main">
              <m:oMath xmlns:m="http://schemas.openxmlformats.org/officeDocument/2006/math">
                <m:r>
                  <m:t>p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признаков без смены идеи</a:t>
            </a:r>
          </a:p>
        </p:txBody>
      </p:sp>
      <p:pic>
        <p:nvPicPr>
          <p:cNvPr id="4" name="Picture 3" descr="hyperplane_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Предобработка: масштабирование и категории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Категории: One-Hot Encoding (столбцы 0/1); порядковое кодирование 0,1,2 искажает расстояния между уровнями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StandardScaler: </a:t>
            </a:r>
            <ns0:m xmlns:ns0="http://schemas.microsoft.com/office/drawing/2010/main">
              <m:oMath xmlns:m="http://schemas.openxmlformats.org/officeDocument/2006/math">
                <m:r>
                  <m:t>(x−μ)/σ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для МНК качество прогноза на test часто не меняется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Масштабирование нужно для </a:t>
            </a:r>
            <a:r>
              <a:rPr lang="ru-RU" dirty="0" sz="2000" b="1">
                <a:solidFill>
                  <a:srgbClr val="000000"/>
                </a:solidFill>
              </a:rPr>
              <a:t>интерпретации весов</a:t>
            </a:r>
            <a:r>
              <a:rPr lang="ru-RU" dirty="0" sz="2000">
                <a:solidFill>
                  <a:srgbClr val="000000"/>
                </a:solidFill>
              </a:rPr>
              <a:t xml:space="preserve"> (сравнивать влияние признаков)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Для градиентного спуска и регуляризации масштабирование </a:t>
            </a:r>
            <a:r>
              <a:rPr lang="ru-RU" dirty="0" sz="2000" b="1">
                <a:solidFill>
                  <a:srgbClr val="000000"/>
                </a:solidFill>
              </a:rPr>
              <a:t>обязательно</a:t>
            </a:r>
            <a:r>
              <a:rPr lang="ru-RU" dirty="0" sz="2000">
                <a:solidFill>
                  <a:srgbClr val="000000"/>
                </a:solidFill>
              </a:rPr>
              <a:t xml:space="preserve"> — иначе медленная или неверная сходимость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4994655"/>
            <a:ext cx="6172200" cy="14427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0403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compose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ColumnTransformer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1800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preprocessing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StandardScaler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OneHotEncoder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5991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prep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ColumnTransformer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57388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num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StandardScaler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num_cols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cat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OneHotEncoder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cat_cols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X_scaled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prep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fit_transform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Числа + категории</a:t>
            </a:r>
          </a:p>
        </p:txBody>
      </p:sp>
      <p:pic>
        <p:nvPicPr>
          <p:cNvPr id="15" name="Picture 14" descr="scaling_weights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9832" y="1371600"/>
            <a:ext cx="3804310" cy="34584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Выбросы в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Выброс в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: при MSE сильно тянет линию — одна точка может заметно сдвинуть прямую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 b="1">
                <a:solidFill>
                  <a:srgbClr val="000000"/>
                </a:solidFill>
              </a:rPr>
              <a:t>Робастные</a:t>
            </a:r>
            <a:r>
              <a:rPr lang="ru-RU" dirty="0" sz="2000">
                <a:solidFill>
                  <a:srgbClr val="000000"/>
                </a:solidFill>
              </a:rPr>
              <a:t xml:space="preserve"> методы (MAE,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HuberRegressor</a:t>
            </a:r>
            <a:r>
              <a:rPr lang="ru-RU" dirty="0" sz="2000">
                <a:solidFill>
                  <a:srgbClr val="000000"/>
                </a:solidFill>
              </a:rPr>
              <a:t>, RANSAC) меньше реагируют на выбросы, чем MSE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Выброс в </a:t>
            </a:r>
            <ns0:m xmlns:ns0="http://schemas.microsoft.com/office/drawing/2010/main">
              <m:oMath xmlns:m="http://schemas.openxmlformats.org/officeDocument/2006/math">
                <m:r>
                  <m:t>x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(leverage): точка далеко по оси X может резко изменить наклон, даже при нормальном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Перед обучением: scatter «признак vs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» и boxplot остатков</a:t>
            </a:r>
          </a:p>
        </p:txBody>
      </p:sp>
      <p:pic>
        <p:nvPicPr>
          <p:cNvPr id="4" name="Picture 3" descr="outlier_eff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Мультиколлинеарность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Сильная корреляция признаков: «площадь м²» и «площадь ft²», «зарплата» и «налоги»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Прогнозы часто остаются точными, но веса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i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нестабильны — большие, меняют знак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Интерпретация «вклад признака» становится бессмысленной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Решения: удалить дубликаты, PCA, Ridge (L2), или собрать один составной признак</a:t>
            </a:r>
          </a:p>
        </p:txBody>
      </p:sp>
      <p:pic>
        <p:nvPicPr>
          <p:cNvPr id="4" name="Picture 3" descr="multicollinear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Переобучение и разделение train/test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Переобучение: модель подстраивается под шум обучающей выборки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модель с малым числом признаков переобучается реже деревьев, но шум в данных всё равно завышает метрики на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Никогда не оценивайте качество на train — только на отложенной выборке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train_test_split</a:t>
            </a:r>
            <a:r>
              <a:rPr lang="ru-RU" dirty="0" sz="2000">
                <a:solidFill>
                  <a:srgbClr val="000000"/>
                </a:solidFill>
              </a:rPr>
              <a:t>: train — подбор весов, test — финальная проверка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134355"/>
            <a:ext cx="6172200" cy="13030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1800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model_selection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train_test_split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X_tr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X_te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y_te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train_test_split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5991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X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7388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y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test_size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0.2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random_state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40A070"/>
                </a:solidFill>
                <a:latin typeface="Consolas"/>
              </a:rPr>
              <a:t>42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  </a:t>
            </a:r>
            <a:r>
              <a:rPr sz="1100" i="1">
                <a:solidFill>
                  <a:srgbClr val="60A0B0"/>
                </a:solidFill>
                <a:latin typeface="Consolas"/>
              </a:rPr>
              <a:t># метрики только на X_te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Отложенная выборка</a:t>
            </a:r>
          </a:p>
        </p:txBody>
      </p:sp>
      <p:pic>
        <p:nvPicPr>
          <p:cNvPr id="14" name="Picture 13" descr="train_test_sp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2997" y="1371600"/>
            <a:ext cx="3957980" cy="359816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Регуляризация: Ridge и Lasso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Добавляем штраф за большие веса к функции потерь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Ridge (L2):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sSubSup>
                      <m:e>
                        <m:r>
                          <m:t>w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</m:e>
                </m:nary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сжимает веса </a:t>
            </a:r>
            <a:r>
              <a:rPr lang="ru-RU" dirty="0" sz="2000" b="1">
                <a:solidFill>
                  <a:srgbClr val="000000"/>
                </a:solidFill>
              </a:rPr>
              <a:t>вместе</a:t>
            </a:r>
            <a:r>
              <a:rPr lang="ru-RU" dirty="0" sz="2000">
                <a:solidFill>
                  <a:srgbClr val="000000"/>
                </a:solidFill>
              </a:rPr>
              <a:t>, не обнуляя; стабилизирует при мультиколлинеарности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Lasso (L1): </a:t>
            </a:r>
            <ns0:m xmlns:ns0="http://schemas.microsoft.com/office/drawing/2010/main">
              <m:oMath xmlns:m="http://schemas.openxmlformats.org/officeDocument/2006/math">
                <m:r>
                  <m:t>+α</m:t>
                </m:r>
                <m:nary>
                  <m:naryPr>
                    <m:chr m:val="∑"/>
                    <m:limLoc m:val="subSup"/>
                    <m:grow m:val="1"/>
                    <m:subHide m:val="off"/>
                    <m:supHide m:val="on"/>
                  </m:naryPr>
                  <m:sub>
                    <m:r>
                      <m:t>j</m:t>
                    </m:r>
                  </m:sub>
                  <m:sup/>
                  <m:e>
                    <m:r>
                      <m:t>|</m:t>
                    </m:r>
                  </m:e>
                </m:nary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  <m:r>
                  <m:t>|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обнуляет слабые признаки → отбор фич, но не лечит дублирующие столбцы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 коррелированных признаках предпочтите </a:t>
            </a:r>
            <a:r>
              <a:rPr lang="ru-RU" dirty="0" sz="2000" b="1">
                <a:solidFill>
                  <a:srgbClr val="000000"/>
                </a:solidFill>
              </a:rPr>
              <a:t>Ridge</a:t>
            </a:r>
            <a:r>
              <a:rPr lang="ru-RU" dirty="0" sz="2000">
                <a:solidFill>
                  <a:srgbClr val="000000"/>
                </a:solidFill>
              </a:rPr>
              <a:t>; Lasso выберет один из дублей случайно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Гиперпараметр </a:t>
            </a:r>
            <ns0:m xmlns:ns0="http://schemas.microsoft.com/office/drawing/2010/main">
              <m:oMath xmlns:m="http://schemas.openxmlformats.org/officeDocument/2006/math">
                <m:r>
                  <m:t>α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подбирают по validation / cross-validation (см. график)</a:t>
            </a:r>
          </a:p>
        </p:txBody>
      </p:sp>
      <p:pic>
        <p:nvPicPr>
          <p:cNvPr id="4" name="Picture 3" descr="regularization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Метрики качества регрессии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MAE — средняя ошибка в тех же единицах, что и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(понятно бизнесу)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RMSE = </a:t>
            </a:r>
            <ns0:m xmlns:ns0="http://schemas.microsoft.com/office/drawing/2010/main">
              <m:oMath xmlns:m="http://schemas.openxmlformats.org/officeDocument/2006/math">
                <m:rad>
                  <m:radPr>
                    <m:degHide m:val="on"/>
                  </m:radPr>
                  <m:deg/>
                  <m:e>
                    <m:r>
                      <m:rPr>
                        <m:sty m:val="p"/>
                      </m:rPr>
                      <m:t>MSE</m:t>
                    </m:r>
                  </m:e>
                </m:ra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сильнее штрафует крупные промахи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1 — идеал; 0 — не лучше константы </a:t>
            </a:r>
            <ns0:m xmlns:ns0="http://schemas.microsoft.com/office/drawing/2010/main">
              <m:oMath xmlns:m="http://schemas.openxmlformats.org/officeDocument/2006/math">
                <m:bar>
                  <m:barPr>
                    <m:pos m:val="top"/>
                  </m:barPr>
                  <m:e>
                    <m:r>
                      <m:t>y</m:t>
                    </m:r>
                  </m:e>
                </m:ba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;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&lt;"/>
                    <m:sepChr m:val=""/>
                    <m:endChr m:val=""/>
                  </m:dPr>
                  <m:e>
                    <m:r>
                      <m:t>0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хуже среднего (проверьте код/данные)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Пример: ошибки </a:t>
            </a:r>
            <ns0:m xmlns:ns0="http://schemas.microsoft.com/office/drawing/2010/main">
              <m:oMath xmlns:m="http://schemas.openxmlformats.org/officeDocument/2006/math">
                <m:d>
                  <m:dPr>
                    <m:begChr m:val="["/>
                    <m:sepChr m:val=","/>
                    <m:endChr m:val="]"/>
                  </m:dPr>
                  <m:e>
                    <m:r>
                      <m:t>1</m:t>
                    </m:r>
                  </m:e>
                  <m:e>
                    <m:r>
                      <m:t>1</m:t>
                    </m:r>
                  </m:e>
                  <m:e>
                    <m:r>
                      <m:t>1</m:t>
                    </m:r>
                  </m:e>
                  <m:e>
                    <m:r>
                      <m:t>8</m:t>
                    </m:r>
                  </m:e>
                  <m:e>
                    <m:r>
                      <m:t>1</m:t>
                    </m:r>
                  </m:e>
                </m:d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→ MAE = 2.4, RMSE ≈ 3.3 (один промах 8 «тянет» RMSE)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Для сравнения моделей на одной задаче смотрите MAE и RMSE вместе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134355"/>
            <a:ext cx="6172200" cy="13030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1800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metrics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mean_absolute_error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mean_squared_error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5991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r2_score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7388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mae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mean_absolute_error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rmse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mean_squared_error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squared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 b="1">
                <a:solidFill>
                  <a:srgbClr val="007020"/>
                </a:solidFill>
                <a:latin typeface="Consolas"/>
              </a:rPr>
              <a:t>False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r2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r2_score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y_te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y_pred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7020"/>
                </a:solidFill>
                <a:latin typeface="Consolas"/>
              </a:rPr>
              <a:t>print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f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MAE=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mae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.2f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, RMSE=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rmse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.2f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, R²=</a:t>
            </a:r>
            <a:r>
              <a:rPr sz="1100" i="1">
                <a:solidFill>
                  <a:srgbClr val="70A0D0"/>
                </a:solidFill>
                <a:latin typeface="Consolas"/>
              </a:rPr>
              <a:t>{</a:t>
            </a:r>
            <a:r>
              <a:rPr sz="1100">
                <a:solidFill>
                  <a:srgbClr val="000000"/>
                </a:solidFill>
                <a:latin typeface="Consolas"/>
              </a:rPr>
              <a:t>r2</a:t>
            </a:r>
            <a:r>
              <a:rPr sz="1100" i="1">
                <a:solidFill>
                  <a:srgbClr val="70A0D0"/>
                </a:solidFill>
                <a:latin typeface="Consolas"/>
              </a:rPr>
              <a:t>:</a:t>
            </a:r>
            <a:r>
              <a:rPr sz="1100">
                <a:solidFill>
                  <a:srgbClr val="4070A0"/>
                </a:solidFill>
                <a:latin typeface="Consolas"/>
              </a:rPr>
              <a:t>.3f</a:t>
            </a:r>
            <a:r>
              <a:rPr sz="1100" i="1">
                <a:solidFill>
                  <a:srgbClr val="70A0D0"/>
                </a:solidFill>
                <a:latin typeface="Consolas"/>
              </a:rPr>
              <a:t>}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MAE, RMSE и R²</a:t>
            </a:r>
          </a:p>
        </p:txBody>
      </p:sp>
      <p:pic>
        <p:nvPicPr>
          <p:cNvPr id="14" name="Picture 13" descr="regression_metric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22997" y="1371600"/>
            <a:ext cx="3957980" cy="359816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Диагностика: графики остатков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График: по оси X — </a:t>
            </a:r>
            <ns0:m xmlns:ns0="http://schemas.microsoft.com/office/drawing/2010/main">
              <m:oMath xmlns:m="http://schemas.openxmlformats.org/officeDocument/2006/math"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(или признак), по оси Y — остаток </a:t>
            </a:r>
            <ns0:m xmlns:ns0="http://schemas.microsoft.com/office/drawing/2010/main">
              <m:oMath xmlns:m="http://schemas.openxmlformats.org/officeDocument/2006/math">
                <m:r>
                  <m:t>y−</m:t>
                </m:r>
                <m:acc>
                  <m:accPr>
                    <m:chr m:val="̂"/>
                  </m:accPr>
                  <m:e>
                    <m:r>
                      <m:t>y</m:t>
                    </m:r>
                  </m:e>
                </m:acc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Хорошо: случайное облако вокруг нуля, без тренда (гомоскедастичность)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Плохо: «воронка» (дисперсия ошибки растёт) — нужна трансформация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или другая модель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Плохо: U-образная форма — не учтена нелинейность</a:t>
            </a:r>
          </a:p>
        </p:txBody>
      </p:sp>
      <p:pic>
        <p:nvPicPr>
          <p:cNvPr id="4" name="Picture 3" descr="residual_diagno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40591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Интерпретация весов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Вес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: при увеличении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на 1 (остальные признаки фиксированы) прогноз меняется на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w</m:t>
                    </m:r>
                  </m:e>
                  <m:sub>
                    <m:r>
                      <m:t>j</m:t>
                    </m:r>
                  </m:sub>
                </m:sSub>
              </m:oMath>
            </ns0:m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Ceteris paribus — «при прочих равных»; в реальных данных признаки коррелированы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Большой вес не означает причинность — только ассоциацию при текущей модели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После StandardScaler веса сравнимы по «силе влияния»</a:t>
            </a:r>
          </a:p>
        </p:txBody>
      </p:sp>
      <p:pic>
        <p:nvPicPr>
          <p:cNvPr id="4" name="Picture 3" descr="standardized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8967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sklearn и защита от утечек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Базовый цикл: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model.fit(X_train, y_train)</a:t>
            </a:r>
            <a:r>
              <a:rPr lang="ru-RU" dirty="0" sz="2000">
                <a:solidFill>
                  <a:srgbClr val="000000"/>
                </a:solidFill>
              </a:rPr>
              <a:t xml:space="preserve">,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model.predict(X_test)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Data leakage: impute/scale </a:t>
            </a:r>
            <a:r>
              <a:rPr lang="ru-RU" dirty="0" sz="2000" b="1">
                <a:solidFill>
                  <a:srgbClr val="000000"/>
                </a:solidFill>
              </a:rPr>
              <a:t>до</a:t>
            </a:r>
            <a:r>
              <a:rPr lang="ru-RU" dirty="0" sz="2000">
                <a:solidFill>
                  <a:srgbClr val="000000"/>
                </a:solidFill>
              </a:rPr>
              <a:t xml:space="preserve"> split — статистики теста попадают в train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Решение: 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Pipeline([('scaler', StandardScaler()), ('reg', LinearRegression())])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Pipeline.fit на train; transform+predict на test — без утечки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5274055"/>
            <a:ext cx="6172200" cy="1163320"/>
          </a:xfrm>
          <a:prstGeom prst="rect">
            <a:avLst/>
          </a:prstGeom>
          <a:solidFill>
            <a:srgbClr val="F5F5F5"/>
          </a:solidFill>
          <a:ln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1" y="53197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pipeline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Pipeline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1" y="54594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preprocessing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StandardScaler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55991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007020"/>
                </a:solidFill>
                <a:latin typeface="Consolas"/>
              </a:rPr>
              <a:t>from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E84B5"/>
                </a:solidFill>
                <a:latin typeface="Consolas"/>
              </a:rPr>
              <a:t>sklearn</a:t>
            </a:r>
            <a:r>
              <a:rPr sz="1100" b="1">
                <a:solidFill>
                  <a:srgbClr val="0E84B5"/>
                </a:solidFill>
                <a:latin typeface="Consolas"/>
              </a:rPr>
              <a:t>.</a:t>
            </a:r>
            <a:r>
              <a:rPr sz="1100" b="1">
                <a:solidFill>
                  <a:srgbClr val="0E84B5"/>
                </a:solidFill>
                <a:latin typeface="Consolas"/>
              </a:rPr>
              <a:t>linear_model</a:t>
            </a:r>
            <a:r>
              <a:rPr sz="1100">
                <a:solidFill>
                  <a:srgbClr val="BBBBBB"/>
                </a:solidFill>
                <a:latin typeface="Consolas"/>
              </a:rPr>
              <a:t> </a:t>
            </a:r>
            <a:r>
              <a:rPr sz="1100" b="1">
                <a:solidFill>
                  <a:srgbClr val="007020"/>
                </a:solidFill>
                <a:latin typeface="Consolas"/>
              </a:rPr>
              <a:t>import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57388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666666"/>
                </a:solidFill>
                <a:latin typeface="Consolas"/>
              </a:rPr>
              <a:t>=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Pipeline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[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1" y="5878576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scaler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StandardScaler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1" y="60182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    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4070A0"/>
                </a:solidFill>
                <a:latin typeface="Consolas"/>
              </a:rPr>
              <a:t>reg</a:t>
            </a:r>
            <a:r>
              <a:rPr sz="1100">
                <a:solidFill>
                  <a:srgbClr val="4070A0"/>
                </a:solidFill>
                <a:latin typeface="Consolas"/>
              </a:rPr>
              <a:t>'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LinearRegression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000000"/>
                </a:solidFill>
                <a:latin typeface="Consolas"/>
              </a:rPr>
              <a:t>]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1" y="6157975"/>
            <a:ext cx="6025896" cy="139700"/>
          </a:xfrm>
          <a:prstGeom prst="rect">
            <a:avLst/>
          </a:prstGeom>
          <a:noFill/>
          <a:ln>
            <a:noFill/>
          </a:ln>
        </p:spPr>
        <p:txBody>
          <a:bodyPr wrap="none" anchor="t" lIns="0" rIns="0" tIns="0" bIns="0">
            <a:no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>
                <a:solidFill>
                  <a:srgbClr val="000000"/>
                </a:solidFill>
                <a:latin typeface="Consolas"/>
              </a:rPr>
              <a:t>pipe</a:t>
            </a:r>
            <a:r>
              <a:rPr sz="1100">
                <a:solidFill>
                  <a:srgbClr val="666666"/>
                </a:solidFill>
                <a:latin typeface="Consolas"/>
              </a:rPr>
              <a:t>.</a:t>
            </a:r>
            <a:r>
              <a:rPr sz="1100">
                <a:solidFill>
                  <a:srgbClr val="000000"/>
                </a:solidFill>
                <a:latin typeface="Consolas"/>
              </a:rPr>
              <a:t>fit</a:t>
            </a:r>
            <a:r>
              <a:rPr sz="1100">
                <a:solidFill>
                  <a:srgbClr val="000000"/>
                </a:solidFill>
                <a:latin typeface="Consolas"/>
              </a:rPr>
              <a:t>(</a:t>
            </a:r>
            <a:r>
              <a:rPr sz="1100">
                <a:solidFill>
                  <a:srgbClr val="000000"/>
                </a:solidFill>
                <a:latin typeface="Consolas"/>
              </a:rPr>
              <a:t>X_train</a:t>
            </a:r>
            <a:r>
              <a:rPr sz="1100">
                <a:solidFill>
                  <a:srgbClr val="000000"/>
                </a:solidFill>
                <a:latin typeface="Consolas"/>
              </a:rPr>
              <a:t>,</a:t>
            </a:r>
            <a:r>
              <a:rPr sz="1100">
                <a:solidFill>
                  <a:srgbClr val="000000"/>
                </a:solidFill>
                <a:latin typeface="Consolas"/>
              </a:rPr>
              <a:t> </a:t>
            </a:r>
            <a:r>
              <a:rPr sz="1100">
                <a:solidFill>
                  <a:srgbClr val="000000"/>
                </a:solidFill>
                <a:latin typeface="Consolas"/>
              </a:rPr>
              <a:t>y_train</a:t>
            </a:r>
            <a:r>
              <a:rPr sz="1100">
                <a:solidFill>
                  <a:srgbClr val="000000"/>
                </a:solidFill>
                <a:latin typeface="Consolas"/>
              </a:rPr>
              <a:t>)</a:t>
            </a:r>
            <a:r>
              <a:rPr sz="1100">
                <a:solidFill>
                  <a:srgbClr val="BBBBBB"/>
                </a:solidFill>
                <a:latin typeface="Consolas"/>
              </a:rPr>
              <a:t>
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92240"/>
            <a:ext cx="61722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 i="1">
                <a:solidFill>
                  <a:srgbClr val="555555"/>
                </a:solidFill>
              </a:defRPr>
            </a:pPr>
            <a:r>
              <a:t>Pipeline без утечки</a:t>
            </a:r>
          </a:p>
        </p:txBody>
      </p:sp>
      <p:pic>
        <p:nvPicPr>
          <p:cNvPr id="13" name="Picture 12" descr="pipeline_leak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6162" y="1371600"/>
            <a:ext cx="4111650" cy="373786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Когда линейная модель не работает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6263640" cy="2788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Зависимость нелинейная: парабола, периодика, пороги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Эффект одного признака зависит от другого, но в модели нет произведения </a:t>
            </a:r>
            <ns0:m xmlns:ns0="http://schemas.microsoft.com/office/drawing/2010/main">
              <m:oMath xmlns:m="http://schemas.openxmlformats.org/officeDocument/2006/math">
                <m:sSub>
                  <m:e>
                    <m:r>
                      <m:t>x</m:t>
                    </m:r>
                  </m:e>
                  <m:sub>
                    <m:r>
                      <m:t>1</m:t>
                    </m:r>
                  </m:sub>
                </m:sSub>
                <m:r>
                  <m:t>·</m:t>
                </m:r>
                <m:sSub>
                  <m:e>
                    <m:r>
                      <m:t>x</m:t>
                    </m:r>
                  </m:e>
                  <m:sub>
                    <m:r>
                      <m:t>2</m:t>
                    </m:r>
                  </m:sub>
                </m:sSub>
              </m:oMath>
            </ns0:m>
            <a:r>
              <a:rPr lang="ru-RU" dirty="0" sz="2000">
                <a:solidFill>
                  <a:srgbClr val="000000"/>
                </a:solidFill>
              </a:rPr>
              <a:t xml:space="preserve"> — линейная формула это не описывает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Что попробовать: полиномиальные признаки (</a:t>
            </a:r>
            <a:r>
              <a:rPr lang="ru-RU" dirty="0" sz="2000">
                <a:latin typeface="Consolas"/>
                <a:cs typeface="Consolas"/>
                <a:ea typeface="Consolas"/>
                <a:solidFill>
                  <a:srgbClr val="000000"/>
                </a:solidFill>
              </a:rPr>
              <a:t>PolynomialFeatures</a:t>
            </a:r>
            <a:r>
              <a:rPr lang="ru-RU" dirty="0" sz="2000">
                <a:solidFill>
                  <a:srgbClr val="000000"/>
                </a:solidFill>
              </a:rPr>
              <a:t xml:space="preserve">), логарифм </a:t>
            </a:r>
            <ns0:m xmlns:ns0="http://schemas.microsoft.com/office/drawing/2010/main">
              <m:oMath xmlns:m="http://schemas.openxmlformats.org/officeDocument/2006/math">
                <m:r>
                  <m:t>y</m:t>
                </m:r>
              </m:oMath>
            </ns0:m>
            <a:r>
              <a:rPr lang="ru-RU" dirty="0" sz="2000">
                <a:solidFill>
                  <a:srgbClr val="000000"/>
                </a:solidFill>
              </a:rPr>
              <a:t>, нелинейные модели (деревья, нейросети)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модель — всё равно полезный baseline</a:t>
            </a:r>
          </a:p>
        </p:txBody>
      </p:sp>
      <p:pic>
        <p:nvPicPr>
          <p:cNvPr id="4" name="Picture 3" descr="nonlinear_v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371600"/>
            <a:ext cx="4465015" cy="350300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Итоги и чек-лист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5532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Линейная регрессия — интерпретируемый baseline для числового прогноза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Train/test split и Pipeline — обязательная гигиена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 xml:space="preserve">• Смотрите графики остатков, не только </a:t>
            </a:r>
            <ns0:m xmlns:ns0="http://schemas.microsoft.com/office/drawing/2010/main">
              <m:oMath xmlns:m="http://schemas.openxmlformats.org/officeDocument/2006/math">
                <m:sSup>
                  <m:e>
                    <m:r>
                      <m:t>R</m:t>
                    </m:r>
                  </m:e>
                  <m:sup>
                    <m:r>
                      <m:t>2</m:t>
                    </m:r>
                  </m:sup>
                </m:sSup>
              </m:oMath>
            </ns0:m>
          </a:p>
        </p:txBody>
      </p:sp>
      <p:sp>
        <p:nvSpPr>
          <p:cNvPr id="4" name="TextBox 3"/>
          <p:cNvSpPr txBox="1"/>
          <p:nvPr/>
        </p:nvSpPr>
        <p:spPr>
          <a:xfrm>
            <a:off x="6355080" y="1371600"/>
            <a:ext cx="5532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Интерпретируйте веса с оговоркой ceteris paribus</a:t>
            </a:r>
          </a:p>
          <a:p>
            <a:pPr>
              <a:spcAft>
                <a:spcPts val="800"/>
              </a:spcAft>
            </a:pPr>
            <a:r>
              <a:rPr lang="ru-RU" dirty="0" sz="2000">
                <a:solidFill>
                  <a:srgbClr val="000000"/>
                </a:solidFill>
              </a:rPr>
              <a:t>• Мультиколлинеарность → Ridge; отбор признаков → Lasso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3200" b="1">
                <a:solidFill>
                  <a:srgbClr val="1A1A2E"/>
                </a:solidFill>
              </a:rPr>
              <a:t>Источники и практика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25880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Литература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73352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2"/>
              </a:rPr>
              <a:t>Markov A.A. (1900). Least Squares Estimation of Linear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3"/>
              </a:rPr>
              <a:t>Hoerl A.E., Kennard R.W. (1970). Ridge Regression: Biased Estimation for Nonorthogonal 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07208"/>
            <a:ext cx="65836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ru-RU" dirty="0" sz="1600">
                <a:solidFill>
                  <a:srgbClr val="000000"/>
                </a:solidFill>
              </a:rPr>
              <a:t xml:space="preserve">• </a:t>
            </a:r>
            <a:r>
              <a:rPr sz="1600">
                <a:solidFill>
                  <a:srgbClr val="3366CC"/>
                </a:solidFill>
                <a:hlinkClick r:id="rId4"/>
              </a:rPr>
              <a:t>Tibshirani R. (1996). Regression Shrinkage and Selection via the Lasso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74136"/>
            <a:ext cx="6583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0000"/>
                </a:solidFill>
              </a:defRPr>
            </a:pPr>
            <a:r>
              <a:t>Практика в Colab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7216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Примеры по слайдам: </a:t>
            </a:r>
            <a:r>
              <a:rPr sz="1400">
                <a:solidFill>
                  <a:srgbClr val="3366CC"/>
                </a:solidFill>
                <a:hlinkClick r:id="rId5"/>
              </a:rPr>
              <a:t>https://colab.research.google.com/github/gurovic/ml-lessons/blob/main/lessons/lineynaya_regressiya/code.ipynb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78808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sz="1500">
                <a:solidFill>
                  <a:srgbClr val="000000"/>
                </a:solidFill>
              </a:rPr>
              <a:t xml:space="preserve">• Мини-проект: </a:t>
            </a:r>
            <a:r>
              <a:rPr sz="1400">
                <a:solidFill>
                  <a:srgbClr val="3366CC"/>
                </a:solidFill>
                <a:hlinkClick r:id="rId6"/>
              </a:rPr>
              <a:t>https://colab.research.google.com/github/gurovic/ml-lessons/blob/main/lessons/lineynaya_regressiya/project.ipynb</a:t>
            </a:r>
          </a:p>
        </p:txBody>
      </p:sp>
      <p:pic>
        <p:nvPicPr>
          <p:cNvPr id="10" name="Picture 9" descr="_qr_ref_17_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1463040"/>
            <a:ext cx="1051560" cy="1051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138160" y="2532888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Примеры по слайдам</a:t>
            </a:r>
          </a:p>
        </p:txBody>
      </p:sp>
      <p:pic>
        <p:nvPicPr>
          <p:cNvPr id="12" name="Picture 11" descr="_qr_ref_17_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0" y="3063240"/>
            <a:ext cx="1051560" cy="10515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38160" y="4133087"/>
            <a:ext cx="1417319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555555"/>
                </a:solidFill>
              </a:defRPr>
            </a:pPr>
            <a:r>
              <a:t>Мини-проект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