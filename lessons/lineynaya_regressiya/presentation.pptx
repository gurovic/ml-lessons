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ld.maa.org/press/periodicals/convergence/a-selection-of-problems-from-aa-markov-s-calculus-of-probabilities-markovs-book" TargetMode="External"/><Relationship Id="rId3" Type="http://schemas.openxmlformats.org/officeDocument/2006/relationships/hyperlink" Target="https://www.stat.cmu.edu/technometrics/90-00/vol-42-01/v4201080.pdf" TargetMode="External"/><Relationship Id="rId4" Type="http://schemas.openxmlformats.org/officeDocument/2006/relationships/hyperlink" Target="https://sites.stat.washington.edu/courses/stat527/s14/readings/j_royal_stat_soc_b1996.pdf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1670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Intercept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): прогноз при </a:t>
            </a:r>
            <ns0:m xmlns:ns0="http://schemas.microsoft.com/office/drawing/2010/main">
              <m:oMath xmlns:m="http://schemas.openxmlformats.org/officeDocument/2006/math">
                <m:r>
                  <m:t>x=0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в sklearn — параметр `fit_intercept=True` (смещение прямой по оси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Хорошая модель: остатки симметрично разбросаны вокруг нуля, без систематического смещения</a:t>
            </a:r>
          </a:p>
        </p:txBody>
      </p:sp>
      <p:pic>
        <p:nvPicPr>
          <p:cNvPr id="4" name="Picture 3" descr="residuals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307" y="1325880"/>
            <a:ext cx="4057361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Минимизация </a:t>
            </a:r>
            <ns0:m xmlns:ns0="http://schemas.microsoft.com/office/drawing/2010/main">
              <m:oMath xmlns:m="http://schemas.openxmlformats.org/officeDocument/2006/math"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даёт те же оптимальные веса; деление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MSE = MLE при нормальных остатках; MAE = MLE, если ошибки распределены по Лапласу (редкие, но крупные сбои — например, катастрофические задержки доставки)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29260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Аналитическое решение (МНК):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быстро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`LinearRegression` в sklearn использует solver `linalg` без итераций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При огромных данных — итеративные методы: SGD, `SGDRegressor`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Градиентный спуск: шаг против градиента функции потерь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937759"/>
            <a:ext cx="6172200" cy="557784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74336"/>
            <a:ext cx="6025896" cy="484632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= LinearRegression().fit(X_train,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1216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9334" y="1325880"/>
            <a:ext cx="4025306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9077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782312"/>
            <a:ext cx="6172200" cy="71323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818888"/>
            <a:ext cx="6025896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= ColumnTransformer([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('num', StandardScaler(), num_cols),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('cat', OneHotEncoder(), cat_cols)])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6686" y="1325880"/>
            <a:ext cx="4390601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одна точка может заметно сдвинуть прямую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Робастные</a:t>
            </a:r>
            <a:r>
              <a:rPr lang="ru-RU" dirty="0" sz="2000">
                <a:solidFill>
                  <a:srgbClr val="000000"/>
                </a:solidFill>
              </a:rPr>
              <a:t xml:space="preserve"> методы (MAE, `HuberRegressor`, RANSAC) меньше реагируют на выбросы, чем MSE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Перед обучением: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</a:t>
            </a:r>
          </a:p>
        </p:txBody>
      </p:sp>
      <p:pic>
        <p:nvPicPr>
          <p:cNvPr id="4" name="Picture 3" descr="outlier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822" y="1325880"/>
            <a:ext cx="4296330" cy="44074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6592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782312"/>
            <a:ext cx="6172200" cy="71323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818888"/>
            <a:ext cx="6025896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= train_test_split(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 y, test_size=0.2,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962" y="1325880"/>
            <a:ext cx="4050050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 </a:t>
            </a:r>
            <a:r>
              <a:rPr lang="ru-RU" dirty="0" sz="2000" b="1">
                <a:solidFill>
                  <a:srgbClr val="000000"/>
                </a:solidFill>
              </a:rPr>
              <a:t>вместе</a:t>
            </a:r>
            <a:r>
              <a:rPr lang="ru-RU" dirty="0" sz="2000">
                <a:solidFill>
                  <a:srgbClr val="000000"/>
                </a:solidFill>
              </a:rPr>
              <a:t>, не обнуляя; стабилизирует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обнуляет слабые признаки → отбор фич, но не лечит дублирующие столбцы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коррелированных признаках предпочтите </a:t>
            </a:r>
            <a:r>
              <a:rPr lang="ru-RU" dirty="0" sz="2000" b="1">
                <a:solidFill>
                  <a:srgbClr val="000000"/>
                </a:solidFill>
              </a:rPr>
              <a:t>Ridge</a:t>
            </a:r>
            <a:r>
              <a:rPr lang="ru-RU" dirty="0" sz="2000">
                <a:solidFill>
                  <a:srgbClr val="000000"/>
                </a:solidFill>
              </a:rPr>
              <a:t>; Lasso выберет один из дублей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 (см. график)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413468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90779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ошибки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1</m:t>
                    </m:r>
                  </m:e>
                  <m:e>
                    <m:r>
                      <m:t>1</m:t>
                    </m:r>
                  </m:e>
                  <m:e>
                    <m:r>
                      <m:t>1</m:t>
                    </m:r>
                  </m:e>
                  <m:e>
                    <m:r>
                      <m:t>8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MAE = 2.4, RMSE ≈ 3.3 (один промах 8 «тянет» RMSE)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782312"/>
            <a:ext cx="6172200" cy="71323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818888"/>
            <a:ext cx="6025896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= mean_absolute_error(y_te,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rmse = mean_squared_error(y_te, y_pred, squared=False)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= r2_score(y_te,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print(f'MAE={mae:.2f}, RMSE={rmse:.2f},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MAE, RMSE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416734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505" y="1325880"/>
            <a:ext cx="4312963" cy="44074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1426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93207"/>
            <a:ext cx="6172200" cy="4023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129783"/>
            <a:ext cx="6025896" cy="3291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= Pipeline([('scaler', StandardScaler()), ('reg', LinearRegression())])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43254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Эффект одного признака зависит от другого, но в модели нет произведения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линейная формула это не описывает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25880"/>
            <a:ext cx="4465015" cy="32472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Markov A.A. (1900). Least Squares Estimation of Linear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Hoerl A.E., Kennard R.W. (1970). Ridge Regression: Biased Estimation for Nonorthogonal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Tibshirani R. (1996). Regression Shrinkage and Selection via the Lasso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