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бытовых примеров. Показать scatter двух классов с прямой границей.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LinearRegression на 0/1 — predict вне [0,1]. Один выброс меняет наклон.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S-кривую и отметить σ(0)=0.5.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порог 0.7 для диагностики — больше recall, меньше пропусков болезни.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при уверенной ошибке MSE «молчит», LogLoss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log_loss. Сравнить штрафы при p=0.99 и p=0.01 для y=1.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Единство математики: (p−y) как «остатки» вероятностей.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при C→∞ граница становится почти вертикальной.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fraud detection — accuracy обманчива.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roc_curve, precision_recall_curve,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Iris: три класса, multinomial vs ovr.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возраст +1 год → odds ×2.72 при w=1.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Pipeline.fit на train; transform+predict на test —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make_classification с weights=[0.95, 0.05].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sklearn.calibration.calibration_curve.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make_moons / XOR: LogReg fail, PolynomialFeatures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таблица на доске — можно дополнить устно.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80/01621459.1944.10500628" TargetMode="External"/><Relationship Id="rId3" Type="http://schemas.openxmlformats.org/officeDocument/2006/relationships/hyperlink" Target="https://doi.org/10.1111/j.2517-6161.1958.tb00078.x" TargetMode="External"/><Relationship Id="rId4" Type="http://schemas.openxmlformats.org/officeDocument/2006/relationships/hyperlink" Target="https://doi.org/10.2307/2344614" TargetMode="External"/><Relationship Id="rId5" Type="http://schemas.openxmlformats.org/officeDocument/2006/relationships/hyperlink" Target="https://colab.research.google.com/github/gurovic/ml-lessons/blob/main/lessons/logisticheskaya_regressiya/code.ipynb" TargetMode="External"/><Relationship Id="rId6" Type="http://schemas.openxmlformats.org/officeDocument/2006/relationships/hyperlink" Target="https://colab.research.google.com/github/gurovic/ml-lessons/blob/main/lessons/logistichesk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Задача классификации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Классификация — предсказание </a:t>
            </a:r>
            <a:r>
              <a:rPr lang="ru-RU" dirty="0" sz="2000" b="1">
                <a:solidFill>
                  <a:srgbClr val="000000"/>
                </a:solidFill>
              </a:rPr>
              <a:t>дискретного класса</a:t>
            </a:r>
            <a:r>
              <a:rPr lang="ru-RU" dirty="0" sz="2000">
                <a:solidFill>
                  <a:srgbClr val="000000"/>
                </a:solidFill>
              </a:rPr>
              <a:t>: спам/не спам, клик/не клик, болен/здоров, легально/мошенничество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отличие от регрессии ответ — не непрерывное число, а метка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Цель — найти </a:t>
            </a:r>
            <a:r>
              <a:rPr lang="ru-RU" dirty="0" sz="2000" b="1">
                <a:solidFill>
                  <a:srgbClr val="000000"/>
                </a:solidFill>
              </a:rPr>
              <a:t>границу решения</a:t>
            </a:r>
            <a:r>
              <a:rPr lang="ru-RU" dirty="0" sz="2000">
                <a:solidFill>
                  <a:srgbClr val="000000"/>
                </a:solidFill>
              </a:rPr>
              <a:t xml:space="preserve"> (гиперплоскость), которая лучше всего разделяет классы на плоскости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 регрессия — интерпретируемый baseline для таких задач</a:t>
            </a:r>
          </a:p>
        </p:txBody>
      </p:sp>
      <p:pic>
        <p:nvPicPr>
          <p:cNvPr id="4" name="Picture 3" descr="binary_classificat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линейная регрессия не подходит?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Наивная попытка:</a:t>
            </a:r>
            <a:r>
              <a:rPr lang="ru-RU" dirty="0" sz="2000">
                <a:solidFill>
                  <a:srgbClr val="000000"/>
                </a:solidFill>
              </a:rPr>
              <a:t xml:space="preserve"> закодировать классы как 0 и 1, обучить обычный МНК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Предсказания выходят за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(например </a:t>
            </a:r>
            <ns0:m xmlns:ns0="http://schemas.microsoft.com/office/drawing/2010/main">
              <m:oMath xmlns:m="http://schemas.openxmlformats.org/officeDocument/2006/math">
                <m:r>
                  <m:t>−0.3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ns0:m xmlns:ns0="http://schemas.microsoft.com/office/drawing/2010/main">
              <m:oMath xmlns:m="http://schemas.openxmlformats.org/officeDocument/2006/math">
                <m:r>
                  <m:t>1.5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— нельзя интерпретировать как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Один выброс сдвигает разделяющую линию </a:t>
            </a:r>
            <a:r>
              <a:rPr lang="ru-RU" dirty="0" sz="2000" b="1">
                <a:solidFill>
                  <a:srgbClr val="000000"/>
                </a:solidFill>
              </a:rPr>
              <a:t>катастрофически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слабо штрафует «уверенные правильные» ответы — нужна модель, созданная для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LinearRegression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lr = LinearRegression().fit(X, y_binary)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pred = lr.predict(X_new)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print(pred.min(), pred.max())  # часто вне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на классах 0/1</a:t>
            </a:r>
          </a:p>
        </p:txBody>
      </p:sp>
      <p:pic>
        <p:nvPicPr>
          <p:cNvPr id="7" name="Picture 6" descr="linear_reg_on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Сигмоида: сжатие выхода в [0, 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Линейная комбинация: </a:t>
            </a: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Сигмоида</a:t>
            </a:r>
            <a:r>
              <a:rPr lang="ru-RU" dirty="0" sz="2000">
                <a:solidFill>
                  <a:srgbClr val="000000"/>
                </a:solidFill>
              </a:rPr>
              <a:t xml:space="preserve"> (логистическая функция): </a:t>
            </a:r>
            <ns0:m xmlns:ns0="http://schemas.microsoft.com/office/drawing/2010/main">
              <m:oMath xmlns:m="http://schemas.openxmlformats.org/officeDocument/2006/math">
                <m:r>
                  <m:t>σ(z)=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1+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−z</m:t>
                        </m:r>
                      </m:sup>
                    </m:sSup>
                  </m:den>
                </m:f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S-образная кривая: при </a:t>
            </a:r>
            <ns0:m xmlns:ns0="http://schemas.microsoft.com/office/drawing/2010/main">
              <m:oMath xmlns:m="http://schemas.openxmlformats.org/officeDocument/2006/math">
                <m:r>
                  <m:t>z→+∞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значение </a:t>
            </a:r>
            <ns0:m xmlns:ns0="http://schemas.microsoft.com/office/drawing/2010/main">
              <m:oMath xmlns:m="http://schemas.openxmlformats.org/officeDocument/2006/math">
                <m:r>
                  <m:t>→1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при </a:t>
            </a:r>
            <ns0:m xmlns:ns0="http://schemas.microsoft.com/office/drawing/2010/main">
              <m:oMath xmlns:m="http://schemas.openxmlformats.org/officeDocument/2006/math">
                <m:r>
                  <m:t>z→−∞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→0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Выход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вероятность</a:t>
            </a:r>
            <a:r>
              <a:rPr lang="ru-RU" dirty="0" sz="2000">
                <a:solidFill>
                  <a:srgbClr val="000000"/>
                </a:solidFill>
              </a:rPr>
              <a:t xml:space="preserve"> класса 1: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numpy as np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def sigmoid(z):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1 / (1 + np.exp(-z))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z = np.linspace(-6, 6, 100)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 = sigmoid(z)  # всегда в (0,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Функция сигмоиды</a:t>
            </a:r>
          </a:p>
        </p:txBody>
      </p:sp>
      <p:pic>
        <p:nvPicPr>
          <p:cNvPr id="7" name="Picture 6" descr="sigmoi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От вероятности к решению: порог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)≥0.5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класс 1, иначе → класс 0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Порог 0.5 соответствует </a:t>
            </a:r>
            <ns0:m xmlns:ns0="http://schemas.microsoft.com/office/drawing/2010/main">
              <m:oMath xmlns:m="http://schemas.openxmlformats.org/officeDocument/2006/math"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разделяющая гиперплоскость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Порог можно менять: например 0.7 в медицине — лучше ложная тревога, чем пропуск болезни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Логистическая регрессия строит только </a:t>
            </a:r>
            <a:r>
              <a:rPr lang="ru-RU" dirty="0" sz="2000" b="1">
                <a:solidFill>
                  <a:srgbClr val="000000"/>
                </a:solidFill>
              </a:rPr>
              <a:t>линейную</a:t>
            </a:r>
            <a:r>
              <a:rPr lang="ru-RU" dirty="0" sz="2000">
                <a:solidFill>
                  <a:srgbClr val="000000"/>
                </a:solidFill>
              </a:rPr>
              <a:t xml:space="preserve"> границу — сложные нелинейные области требуют преобразования признаков</a:t>
            </a:r>
          </a:p>
        </p:txBody>
      </p:sp>
      <p:pic>
        <p:nvPicPr>
          <p:cNvPr id="4" name="Picture 3" descr="decision_threshold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MSE + сигмоида даёт vanishing gradient?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 с сигмоидой: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=(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−y)·</m:t>
                </m:r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(z)·x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где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(z)=σ(z)(1−σ(z))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Катастрофа:</a:t>
            </a:r>
            <a:r>
              <a:rPr lang="ru-RU" dirty="0" sz="2000">
                <a:solidFill>
                  <a:srgbClr val="000000"/>
                </a:solidFill>
              </a:rPr>
              <a:t xml:space="preserve"> модель уверена, но неправа (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t>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сильно отрицательное,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— тогда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градиент обнуляется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Веса перестают обновляться — модель «застревает»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LogLoss</a:t>
            </a:r>
            <a:r>
              <a:rPr lang="ru-RU" dirty="0" sz="2000">
                <a:solidFill>
                  <a:srgbClr val="000000"/>
                </a:solidFill>
              </a:rPr>
              <a:t xml:space="preserve"> решает проблему: градиент не содержит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; чем сильнее ошибка, тем больше шаг обновления</a:t>
            </a:r>
          </a:p>
        </p:txBody>
      </p:sp>
      <p:pic>
        <p:nvPicPr>
          <p:cNvPr id="4" name="Picture 3" descr="vanishing_gradient_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2973"/>
            <a:ext cx="4343400" cy="16663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LogLoss (бинарная кросс-энтропия)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L=−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</m:t>
                </m:r>
                <m:d>
                  <m:dPr>
                    <m:begChr m:val="["/>
                    <m:sepChr m:val=""/>
                    <m:endChr m:val="]"/>
                  </m:dPr>
                  <m:e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t>+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предсказание </a:t>
            </a:r>
            <ns0:m xmlns:ns0="http://schemas.microsoft.com/office/drawing/2010/main">
              <m:oMath xmlns:m="http://schemas.openxmlformats.org/officeDocument/2006/math">
                <m:r>
                  <m:t>p=0.99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при </a:t>
            </a:r>
            <ns0:m xmlns:ns0="http://schemas.microsoft.com/office/drawing/2010/main">
              <m:oMath xmlns:m="http://schemas.openxmlformats.org/officeDocument/2006/math">
                <m:r>
                  <m:t>p=0.01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≈4.6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LogLoss </a:t>
            </a:r>
            <a:r>
              <a:rPr lang="ru-RU" dirty="0" sz="2000" b="1">
                <a:solidFill>
                  <a:srgbClr val="000000"/>
                </a:solidFill>
              </a:rPr>
              <a:t>строго выпукла</a:t>
            </a:r>
            <a:r>
              <a:rPr lang="ru-RU" dirty="0" sz="2000">
                <a:solidFill>
                  <a:srgbClr val="000000"/>
                </a:solidFill>
              </a:rPr>
              <a:t xml:space="preserve"> → градиентный спуск находит глобальный минимум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Минимизация LogLoss эквивалентна </a:t>
            </a:r>
            <a:r>
              <a:rPr lang="ru-RU" dirty="0" sz="2000" b="1">
                <a:solidFill>
                  <a:srgbClr val="000000"/>
                </a:solidFill>
              </a:rPr>
              <a:t>максимизации правдоподобия (MLE)</a:t>
            </a:r>
            <a:r>
              <a:rPr lang="ru-RU" dirty="0" sz="2000">
                <a:solidFill>
                  <a:srgbClr val="000000"/>
                </a:solidFill>
              </a:rPr>
              <a:t xml:space="preserve">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log_loss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y_true = [0, 1, 1, 0]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y_prob = [0.1, 0.9, 0.8, 0.3]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loss = log_loss(y_true, y_prob)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print(f'LogLoss = {loss:.3f}')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Штраф за уверенные ошибки</a:t>
            </a:r>
          </a:p>
        </p:txBody>
      </p:sp>
      <p:pic>
        <p:nvPicPr>
          <p:cNvPr id="7" name="Picture 6" descr="log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2668"/>
            <a:ext cx="4343400" cy="1646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Обучение: градиент и оптимизация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Аналитического решения </a:t>
            </a:r>
            <a:r>
              <a:rPr lang="ru-RU" dirty="0" sz="2000" b="1">
                <a:solidFill>
                  <a:srgbClr val="000000"/>
                </a:solidFill>
              </a:rPr>
              <a:t>нет</a:t>
            </a:r>
            <a:r>
              <a:rPr lang="ru-RU" dirty="0" sz="2000">
                <a:solidFill>
                  <a:srgbClr val="000000"/>
                </a:solidFill>
              </a:rPr>
              <a:t xml:space="preserve"> — функция потерь нелинейная; используем итеративные методы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Градиент LogLoss: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L=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(p−y)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та же форма, что у МНК, но вместо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стоят предсказанные вероятности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по умолчанию </a:t>
            </a:r>
            <a:r>
              <a:rPr lang="ru-RU" dirty="0" sz="2000" b="1">
                <a:solidFill>
                  <a:srgbClr val="000000"/>
                </a:solidFill>
              </a:rPr>
              <a:t>L-BFGS</a:t>
            </a:r>
            <a:r>
              <a:rPr lang="ru-RU" dirty="0" sz="2000">
                <a:solidFill>
                  <a:srgbClr val="000000"/>
                </a:solidFill>
              </a:rPr>
              <a:t xml:space="preserve"> — квази-ньютоновский метод, учитывает вторые производные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L-BFGS сходится быстрее обычного градиентного спуска на типичных задачах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LogisticRegression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LogisticRegression(max_iter=1000,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proba = clf.predict_proba(X_test)[:,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Оптимизация в sklearn</a:t>
            </a:r>
          </a:p>
        </p:txBody>
      </p:sp>
      <p:pic>
        <p:nvPicPr>
          <p:cNvPr id="7" name="Picture 6" descr="logreg_gradient_de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 и парадокс идеального разделения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параметр `C` — </a:t>
            </a:r>
            <a:r>
              <a:rPr lang="ru-RU" dirty="0" sz="2000" b="1">
                <a:solidFill>
                  <a:srgbClr val="000000"/>
                </a:solidFill>
              </a:rPr>
              <a:t>обратная сила регуляризации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C=1/α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): большое C → слабая регуляризация, малое C → сильная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данные </a:t>
            </a:r>
            <a:r>
              <a:rPr lang="ru-RU" dirty="0" sz="2000" b="1">
                <a:solidFill>
                  <a:srgbClr val="000000"/>
                </a:solidFill>
              </a:rPr>
              <a:t>линейно разделимы на 100%</a:t>
            </a:r>
            <a:r>
              <a:rPr lang="ru-RU" dirty="0" sz="2000">
                <a:solidFill>
                  <a:srgbClr val="000000"/>
                </a:solidFill>
              </a:rPr>
              <a:t xml:space="preserve">, веса LogLoss без регуляризации уходят в </a:t>
            </a:r>
            <a:r>
              <a:rPr lang="ru-RU" dirty="0" sz="2000" b="1">
                <a:solidFill>
                  <a:srgbClr val="000000"/>
                </a:solidFill>
              </a:rPr>
              <a:t>бесконечность</a:t>
            </a:r>
            <a:r>
              <a:rPr lang="ru-RU" dirty="0" sz="2000">
                <a:solidFill>
                  <a:srgbClr val="000000"/>
                </a:solidFill>
              </a:rPr>
              <a:t xml:space="preserve"> — сигмоида стремится к жёсткой ступеньке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переобучение: модель идеальна на train, но вероятности «экстремальны»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L2-регуляризация (`penalty='l2'`) </a:t>
            </a:r>
            <a:r>
              <a:rPr lang="ru-RU" dirty="0" sz="2000" b="1">
                <a:solidFill>
                  <a:srgbClr val="000000"/>
                </a:solidFill>
              </a:rPr>
              <a:t>включена по умолчанию</a:t>
            </a:r>
            <a:r>
              <a:rPr lang="ru-RU" dirty="0" sz="2000">
                <a:solidFill>
                  <a:srgbClr val="000000"/>
                </a:solidFill>
              </a:rPr>
              <a:t xml:space="preserve"> — не даёт весам улететь</a:t>
            </a:r>
          </a:p>
        </p:txBody>
      </p:sp>
      <p:pic>
        <p:nvPicPr>
          <p:cNvPr id="4" name="Picture 3" descr="regularization_C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Accuracy и проблема дисбаланса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Accuracy: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TP+TN</m:t>
                    </m:r>
                  </m:num>
                  <m:den>
                    <m:r>
                      <m:t>N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доля правильных ответов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при сбалансированных классах (~50/50)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99% легальных транзакций модель «всегда легально» имеет </a:t>
            </a:r>
            <a:r>
              <a:rPr lang="ru-RU" dirty="0" sz="2000" b="1">
                <a:solidFill>
                  <a:srgbClr val="000000"/>
                </a:solidFill>
              </a:rPr>
              <a:t>accuracy 99%</a:t>
            </a:r>
            <a:r>
              <a:rPr lang="ru-RU" dirty="0" sz="2000">
                <a:solidFill>
                  <a:srgbClr val="000000"/>
                </a:solidFill>
              </a:rPr>
              <a:t>, но бесполезна для поиска мошенничества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несбалансированных данных нужны </a:t>
            </a:r>
            <a:r>
              <a:rPr lang="ru-RU" dirty="0" sz="2000" b="1">
                <a:solidFill>
                  <a:srgbClr val="000000"/>
                </a:solidFill>
              </a:rPr>
              <a:t>Precision, Recall и F1</a:t>
            </a:r>
          </a:p>
        </p:txBody>
      </p:sp>
      <p:pic>
        <p:nvPicPr>
          <p:cNvPr id="4" name="Picture 3" descr="accuracy_imbalanc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1539"/>
            <a:ext cx="4343400" cy="16492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ROC, AUC-ROC и PR-кривая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ROC-кривая:</a:t>
            </a:r>
            <a:r>
              <a:rPr lang="ru-RU" dirty="0" sz="2000">
                <a:solidFill>
                  <a:srgbClr val="000000"/>
                </a:solidFill>
              </a:rPr>
              <a:t xml:space="preserve"> TPR (Recall) vs FPR при всех порогах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AUC-ROC</a:t>
            </a:r>
            <a:r>
              <a:rPr lang="ru-RU" dirty="0" sz="2000">
                <a:solidFill>
                  <a:srgbClr val="000000"/>
                </a:solidFill>
              </a:rPr>
              <a:t xml:space="preserve"> — площадь под кривой: вероятность, что случайный положительный получит более высокую оценку, чем случайный отрицательный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экстремальном дисбалансе ROC-AUC </a:t>
            </a:r>
            <a:r>
              <a:rPr lang="ru-RU" dirty="0" sz="2000" b="1">
                <a:solidFill>
                  <a:srgbClr val="000000"/>
                </a:solidFill>
              </a:rPr>
              <a:t>обманчив</a:t>
            </a:r>
            <a:r>
              <a:rPr lang="ru-RU" dirty="0" sz="2000">
                <a:solidFill>
                  <a:srgbClr val="000000"/>
                </a:solidFill>
              </a:rPr>
              <a:t xml:space="preserve"> — огромное число TN занижает FPR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редких событий смотрите </a:t>
            </a:r>
            <a:r>
              <a:rPr lang="ru-RU" dirty="0" sz="2000" b="1">
                <a:solidFill>
                  <a:srgbClr val="000000"/>
                </a:solidFill>
              </a:rPr>
              <a:t>PR-кривую (Precision-Recall)</a:t>
            </a:r>
            <a:r>
              <a:rPr lang="ru-RU" dirty="0" sz="2000">
                <a:solidFill>
                  <a:srgbClr val="000000"/>
                </a:solidFill>
              </a:rPr>
              <a:t xml:space="preserve"> и PR-AUC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roc_curve, auc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fpr, tpr, _ = roc_curve(y_test, y_score)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roc_auc = auc(fpr, tpr)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print(f'AUC-ROC = {roc_auc:.3f}')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ROC-кривая</a:t>
            </a:r>
          </a:p>
        </p:txBody>
      </p:sp>
      <p:pic>
        <p:nvPicPr>
          <p:cNvPr id="7" name="Picture 6" descr="roc_and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Мультикласс: Softmax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K классов: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=</m:t>
                </m:r>
                <m:f>
                  <m:fPr>
                    <m:type m:val="bar"/>
                  </m:fPr>
                  <m:num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z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sup>
                    </m:sSup>
                  </m:num>
                  <m:den>
                    <m:nary>
                      <m:naryPr>
                        <m:chr m:val="∑"/>
                        <m:limLoc m:val="subSup"/>
                        <m:grow m:val="1"/>
                        <m:subHide m:val="off"/>
                        <m:supHide m:val="off"/>
                      </m:naryPr>
                      <m:sub>
                        <m:r>
                          <m:t>j=1</m:t>
                        </m:r>
                      </m:sub>
                      <m:sup>
                        <m:r>
                          <m:t>K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sSub>
                              <m:e>
                                <m:r>
                                  <m:t>z</m:t>
                                </m:r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sup>
                        </m:sSup>
                      </m:e>
                    </m:nary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сумма вероятностей равна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Softmax — обобщение сигмоиды на многомерный случай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Потери: </a:t>
            </a:r>
            <a:r>
              <a:rPr lang="ru-RU" dirty="0" sz="2000" b="1">
                <a:solidFill>
                  <a:srgbClr val="000000"/>
                </a:solidFill>
              </a:rPr>
              <a:t>Categorical Cross-Entropy</a:t>
            </a:r>
            <a:r>
              <a:rPr lang="ru-RU" dirty="0" sz="2000">
                <a:solidFill>
                  <a:srgbClr val="000000"/>
                </a:solidFill>
              </a:rPr>
              <a:t xml:space="preserve"> — многоклассовый аналог LogLoss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sklearn: `multi_class='multinomial'`; альтернатива — One-vs-Rest (K независимых бинарных классификаторов)</a:t>
            </a:r>
          </a:p>
        </p:txBody>
      </p:sp>
      <p:pic>
        <p:nvPicPr>
          <p:cNvPr id="4" name="Picture 3" descr="softmax_three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весов: Odds и log-odds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это </a:t>
            </a:r>
            <a:r>
              <a:rPr lang="ru-RU" dirty="0" sz="2000" b="1">
                <a:solidFill>
                  <a:srgbClr val="000000"/>
                </a:solidFill>
              </a:rPr>
              <a:t>log-odds</a:t>
            </a:r>
            <a:r>
              <a:rPr lang="ru-RU" dirty="0" sz="2000">
                <a:solidFill>
                  <a:srgbClr val="000000"/>
                </a:solidFill>
              </a:rPr>
              <a:t>, не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Odds (шансы):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Odds=</m:t>
                </m:r>
                <m:f>
                  <m:fPr>
                    <m:type m:val="bar"/>
                  </m:fPr>
                  <m:num>
                    <m:r>
                      <m:t>P</m:t>
                    </m:r>
                  </m:num>
                  <m:den>
                    <m:r>
                      <m:t>1−P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отношение «за» к «против»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odds </a:t>
            </a:r>
            <a:r>
              <a:rPr lang="ru-RU" dirty="0" sz="2000" b="1">
                <a:solidFill>
                  <a:srgbClr val="000000"/>
                </a:solidFill>
              </a:rPr>
              <a:t>умножаются на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e</m:t>
                    </m:r>
                  </m:e>
                  <m:sup>
                    <m:r>
                      <m:t>1</m:t>
                    </m:r>
                  </m:sup>
                </m:sSup>
                <m:r>
                  <m:t>≈2.72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(при прочих равных)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Интерпретация </a:t>
            </a:r>
            <a:r>
              <a:rPr lang="ru-RU" dirty="0" sz="2000" b="1">
                <a:solidFill>
                  <a:srgbClr val="000000"/>
                </a:solidFill>
              </a:rPr>
              <a:t>ceteris paribus</a:t>
            </a:r>
            <a:r>
              <a:rPr lang="ru-RU" dirty="0" sz="2000">
                <a:solidFill>
                  <a:srgbClr val="000000"/>
                </a:solidFill>
              </a:rPr>
              <a:t xml:space="preserve"> — остальные признаки фиксированы; естественна в медицине и экономике</a:t>
            </a:r>
          </a:p>
        </p:txBody>
      </p:sp>
      <p:pic>
        <p:nvPicPr>
          <p:cNvPr id="4" name="Picture 3" descr="odds_logodd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Логистическая регрессия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`make_pipeline(StandardScaler(), LogisticRegression(...))` —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>: регуляризация чувствительна к масштабу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`LogisticRegression(C=1.0, max_iter=1000)` — L-BFGS; `max_iter` часто увеличивают (по умолчанию 100)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`predict_proba` — вероятности класса 1; `predict` — бинарное решение по порогу 0.5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Главная ценность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вероятности</a:t>
            </a:r>
            <a:r>
              <a:rPr lang="ru-RU" dirty="0" sz="2000">
                <a:solidFill>
                  <a:srgbClr val="000000"/>
                </a:solidFill>
              </a:rPr>
              <a:t>, не только метки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LogisticRegression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LogisticRegression(C=1.0,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y_pred = 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Базовый классификатор</a:t>
            </a:r>
          </a:p>
        </p:txBody>
      </p:sp>
      <p:pic>
        <p:nvPicPr>
          <p:cNvPr id="7" name="Picture 6" descr="logre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Несбалансированные данные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малой доле минорного класса модель учится предсказывать мажорный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1:</a:t>
            </a:r>
            <a:r>
              <a:rPr lang="ru-RU" dirty="0" sz="2000">
                <a:solidFill>
                  <a:srgbClr val="000000"/>
                </a:solidFill>
              </a:rPr>
              <a:t xml:space="preserve"> `class_weight='balanced'` — больший штраф за ошибки на минорном классе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2:</a:t>
            </a:r>
            <a:r>
              <a:rPr lang="ru-RU" dirty="0" sz="2000">
                <a:solidFill>
                  <a:srgbClr val="000000"/>
                </a:solidFill>
              </a:rPr>
              <a:t xml:space="preserve"> сдвинуть порог (например 0.3), ориентируясь на PR-кривую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3 (вне sklearn):</a:t>
            </a:r>
            <a:r>
              <a:rPr lang="ru-RU" dirty="0" sz="2000">
                <a:solidFill>
                  <a:srgbClr val="000000"/>
                </a:solidFill>
              </a:rPr>
              <a:t xml:space="preserve"> SMOTE или undersampling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LogisticRegression(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class_weight='balanced', random_state=42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веса классов подобраны автоматически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class_weight='balanced'</a:t>
            </a:r>
          </a:p>
        </p:txBody>
      </p:sp>
      <p:pic>
        <p:nvPicPr>
          <p:cNvPr id="7" name="Picture 6" descr="class_weight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Калибровка вероятностей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</a:t>
            </a:r>
            <a:r>
              <a:rPr lang="ru-RU" dirty="0" sz="2000" b="1">
                <a:solidFill>
                  <a:srgbClr val="000000"/>
                </a:solidFill>
              </a:rPr>
              <a:t>хорошо откалибрована</a:t>
            </a:r>
            <a:r>
              <a:rPr lang="ru-RU" dirty="0" sz="2000">
                <a:solidFill>
                  <a:srgbClr val="000000"/>
                </a:solidFill>
              </a:rPr>
              <a:t xml:space="preserve"> — если предсказала 0.7 для 1000 объектов, ~700 действительно класс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 и градиентный бустинг часто переуверены (0.99 при реальных ~0.7)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них — `CalibratedClassifierCV` (Platt scaling, Isotonic regression)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LogReg калибровка </a:t>
            </a:r>
            <a:r>
              <a:rPr lang="ru-RU" dirty="0" sz="2000" b="1">
                <a:solidFill>
                  <a:srgbClr val="000000"/>
                </a:solidFill>
              </a:rPr>
              <a:t>обычно не нужна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sklearn.calibration import CalibratedClassifierCV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cal = CalibratedClassifierCV(clf, cv=3)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cal.fit(X_train,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p_cal = cal.predict_proba(X_test)[:,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Калибровка вероятностей</a:t>
            </a:r>
          </a:p>
        </p:txBody>
      </p:sp>
      <p:pic>
        <p:nvPicPr>
          <p:cNvPr id="7" name="Picture 6" descr="calibration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Ограничения и связь с нейросетями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 работает при </a:t>
            </a:r>
            <a:r>
              <a:rPr lang="ru-RU" dirty="0" sz="2000" b="1">
                <a:solidFill>
                  <a:srgbClr val="000000"/>
                </a:solidFill>
              </a:rPr>
              <a:t>нелинейных границах</a:t>
            </a:r>
            <a:r>
              <a:rPr lang="ru-RU" dirty="0" sz="2000">
                <a:solidFill>
                  <a:srgbClr val="000000"/>
                </a:solidFill>
              </a:rPr>
              <a:t>: XOR, концентрические круги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полиномиальные признаки (</a:t>
            </a:r>
            <ns0:m xmlns:ns0="http://schemas.microsoft.com/office/drawing/2010/main">
              <m:oMath xmlns:m="http://schemas.openxmlformats.org/officeDocument/2006/math">
                <m:sSubSup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  <m:sup>
                    <m:r>
                      <m:t>2</m:t>
                    </m:r>
                  </m:sup>
                </m:sSubSup>
                <m:r>
                  <m:t>,</m:t>
                </m:r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 или нелинейные модели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P=σ(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скалярное произведение + </a:t>
            </a:r>
            <a:r>
              <a:rPr lang="ru-RU" dirty="0" sz="2000" b="1">
                <a:solidFill>
                  <a:srgbClr val="000000"/>
                </a:solidFill>
              </a:rPr>
              <a:t>функция активации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— это </a:t>
            </a:r>
            <a:r>
              <a:rPr lang="ru-RU" dirty="0" sz="2000" b="1">
                <a:solidFill>
                  <a:srgbClr val="000000"/>
                </a:solidFill>
              </a:rPr>
              <a:t>один нейрон</a:t>
            </a:r>
            <a:r>
              <a:rPr lang="ru-RU" dirty="0" sz="2000">
                <a:solidFill>
                  <a:srgbClr val="000000"/>
                </a:solidFill>
              </a:rPr>
              <a:t xml:space="preserve"> (Single-layer Perceptron), базовый блок нейросетей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sklearn.neural_network import MLPClassifier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mlp = MLPClassifier(hidden_layer_sizes=(8,), max_iter=500)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mlp.fit(X_train,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один скрытый слой ≈ нелинейная логистическая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MLP как обобщение</a:t>
            </a:r>
          </a:p>
        </p:txBody>
      </p:sp>
      <p:pic>
        <p:nvPicPr>
          <p:cNvPr id="7" name="Picture 6" descr="nonlinear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Линейная vs 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Задача:</a:t>
            </a:r>
            <a:r>
              <a:rPr lang="ru-RU" dirty="0" sz="2000">
                <a:solidFill>
                  <a:srgbClr val="000000"/>
                </a:solidFill>
              </a:rPr>
              <a:t xml:space="preserve"> регрессия (число) vs классификация (класс)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Выход: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ℝ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вероятность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Активация:</a:t>
            </a:r>
            <a:r>
              <a:rPr lang="ru-RU" dirty="0" sz="2000">
                <a:solidFill>
                  <a:srgbClr val="000000"/>
                </a:solidFill>
              </a:rPr>
              <a:t xml:space="preserve"> тождественная </a:t>
            </a:r>
            <ns0:m xmlns:ns0="http://schemas.microsoft.com/office/drawing/2010/main">
              <m:oMath xmlns:m="http://schemas.openxmlformats.org/officeDocument/2006/math">
                <m:r>
                  <m:t>f(z)=z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сигмоида </a:t>
            </a:r>
            <ns0:m xmlns:ns0="http://schemas.microsoft.com/office/drawing/2010/main">
              <m:oMath xmlns:m="http://schemas.openxmlformats.org/officeDocument/2006/math">
                <m:r>
                  <m:t>σ(z)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Потери:</a:t>
            </a:r>
            <a:r>
              <a:rPr lang="ru-RU" dirty="0" sz="2000">
                <a:solidFill>
                  <a:srgbClr val="000000"/>
                </a:solidFill>
              </a:rPr>
              <a:t xml:space="preserve"> MSE vs LogLoss; </a:t>
            </a:r>
            <a:r>
              <a:rPr lang="ru-RU" dirty="0" sz="2000" b="1">
                <a:solidFill>
                  <a:srgbClr val="000000"/>
                </a:solidFill>
              </a:rPr>
              <a:t>обучение:</a:t>
            </a:r>
            <a:r>
              <a:rPr lang="ru-RU" dirty="0" sz="2000">
                <a:solidFill>
                  <a:srgbClr val="000000"/>
                </a:solidFill>
              </a:rPr>
              <a:t xml:space="preserve"> аналитическое МНК vs итеративное L-BFGS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Нейросети:</a:t>
            </a:r>
            <a:r>
              <a:rPr lang="ru-RU" dirty="0" sz="2000">
                <a:solidFill>
                  <a:srgbClr val="000000"/>
                </a:solidFill>
              </a:rPr>
              <a:t xml:space="preserve"> линейный слой без активации vs один нейрон с </a:t>
            </a:r>
            <ns0:m xmlns:ns0="http://schemas.microsoft.com/office/drawing/2010/main">
              <m:oMath xmlns:m="http://schemas.openxmlformats.org/officeDocument/2006/math">
                <m:r>
                  <m:t>σ</m:t>
                </m:r>
              </m:oMath>
            </ns0:m>
          </a:p>
        </p:txBody>
      </p:sp>
      <p:pic>
        <p:nvPicPr>
          <p:cNvPr id="4" name="Picture 3" descr="linear_vs_logisti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Начинай с логистической регрессии как </a:t>
            </a:r>
            <a:r>
              <a:rPr lang="ru-RU" dirty="0" sz="2000" b="1">
                <a:solidFill>
                  <a:srgbClr val="000000"/>
                </a:solidFill>
              </a:rPr>
              <a:t>baseline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Используй `Pipeline` и `StandardScaler` — чувствительность к масштабу из-за регуляризации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Смотри на `predict_proba` — вероятности важнее бинарных решений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дисбалансе используй PR-кривую, F1-score и `class_weight='balanced'`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мультикласса — `multinomial`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Помни: граница решения линейная; если не хватает — полиномы или деревья/нейросети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Berkson J. (1944). Application of the Logistic Function to Bio-Assay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Cox D.R. (1958). The Regression Analysis of Life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Nelder J.A., Wedderburn R.W. (1972). Generalized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https://colab.research.google.com/github/gurovic/ml-lessons/blob/main/lessons/logisticheskaya_regressiya/code.ipynb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https://colab.research.google.com/github/gurovic/ml-lessons/blob/main/lessons/logisticheskaya_regressiya/project.ipynb</a:t>
            </a:r>
          </a:p>
        </p:txBody>
      </p:sp>
      <p:pic>
        <p:nvPicPr>
          <p:cNvPr id="10" name="Picture 9" descr="_qr_ref_19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9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