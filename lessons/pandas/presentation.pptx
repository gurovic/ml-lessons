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Мотивация: без Pandas сложно работать с реальными наборами.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в ноутбуке создание из dict.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OpenML Titanic как пример в project.ipynb.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Связать describe с EDA перед моделью.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PassengerId как индекс Titanic.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Классическая ловушка — путать loc и iloc.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фильтр выживших женщин 1 класса.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Средний Fare по классу — наглядный пример.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таблица пассажиров + справочник портов.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 в Titanic — классический пример.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Sex → category на Titanic.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 для Embarked кодов.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Survived rate по Pclass и Sex.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Микро-бенчмарк apply vs vectorized — опционально в ноутбуке.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Связь с data leakage из урока линейной регрессии.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SimpleImputer в Pipeline после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Резюме перед project.ipynb.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28.06.2026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Табличные данные в машинном обучении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Большинство задач ML начинается с </a:t>
            </a:r>
            <a:r>
              <a:rPr lang="ru-RU" dirty="0" sz="2000" b="1">
                <a:solidFill>
                  <a:srgbClr val="000000"/>
                </a:solidFill>
              </a:rPr>
              <a:t>таблицы</a:t>
            </a:r>
            <a:r>
              <a:rPr lang="ru-RU" dirty="0" sz="2000">
                <a:solidFill>
                  <a:srgbClr val="000000"/>
                </a:solidFill>
              </a:rPr>
              <a:t>: строки — объекты, столбцы — признаки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Excel/CSV → очистка → анализ → модель: Pandas — стандартный инструмент на этом пути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Альтернатива «голому» NumPy: именованные столбцы, индексы, группировки, join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 sklearn данные часто передают как `X` (массив) и `y` (Series), но EDA делают в Pandas</a:t>
            </a:r>
          </a:p>
        </p:txBody>
      </p:sp>
      <p:pic>
        <p:nvPicPr>
          <p:cNvPr id="4" name="Picture 3" descr="pandas_ml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193104"/>
            <a:ext cx="4343400" cy="27461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Series и DataFrame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Series</a:t>
            </a:r>
            <a:r>
              <a:rPr lang="ru-RU" dirty="0" sz="2000">
                <a:solidFill>
                  <a:srgbClr val="000000"/>
                </a:solidFill>
              </a:rPr>
              <a:t xml:space="preserve"> — одномерный массив с индексом: `s['a']`, `s.iloc[0]`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DataFrame</a:t>
            </a:r>
            <a:r>
              <a:rPr lang="ru-RU" dirty="0" sz="2000">
                <a:solidFill>
                  <a:srgbClr val="000000"/>
                </a:solidFill>
              </a:rPr>
              <a:t xml:space="preserve"> — таблица: столбцы — Series с общим индексом строк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Создание: `pd.DataFrame({'col': [...]})`, из dict/list, из NumPy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`.shape`, `.columns`, `.dtypes` — первые вопросы к любой таблице</a:t>
            </a:r>
          </a:p>
        </p:txBody>
      </p:sp>
      <p:pic>
        <p:nvPicPr>
          <p:cNvPr id="4" name="Picture 3" descr="series_dataframe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42755"/>
            <a:ext cx="4343400" cy="14468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Чтение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`pd.read_csv(path)` — основной формат; параметры `sep`, `encoding`, `parse_dates`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`pd.read_excel` — листы через `sheet_name`; для OpenML — `fetch_openml(..., as_frame=True)`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После чтения: `df.head()`, `df.info()`, `df.describe()` — быстрый осмотр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Сохранение: `df.to_csv(..., index=False)` — индекс в файл обычно не пишем</a:t>
            </a:r>
          </a:p>
        </p:txBody>
      </p:sp>
      <p:pic>
        <p:nvPicPr>
          <p:cNvPr id="4" name="Picture 3" descr="read_csv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6907"/>
            <a:ext cx="4343400" cy="297850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Первичный осмотр таблицы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`head(n)` / `tail(n)` — первые и последние строки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`info()` — типы, пропуски, память; `describe()` — статистики числовых столбцов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`value_counts()` для категорий — баланс классов, частые значения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`.sample(n, random_state=42)` — случайная подвыборка для ручной проверки</a:t>
            </a:r>
          </a:p>
        </p:txBody>
      </p:sp>
      <p:pic>
        <p:nvPicPr>
          <p:cNvPr id="4" name="Picture 3" descr="describe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232712"/>
            <a:ext cx="4343400" cy="26668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Индексы строк и столбцов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Индекс — «метки» строк; по умолчанию 0…n−1, но может быть id, дата, код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`set_index('col')` — сделать столбец индексом; `reset_index()` — вернуть в столбец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`df.loc[label]` — по метке; `df['col']` — столбец (Series)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Дубликаты индекса допустимы, но усложняют выборку — лучше уникальный ключ</a:t>
            </a:r>
          </a:p>
        </p:txBody>
      </p:sp>
      <p:pic>
        <p:nvPicPr>
          <p:cNvPr id="4" name="Picture 3" descr="index_set_re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09599"/>
            <a:ext cx="4343400" cy="131312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loc и iloc: две системы адресации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loc</a:t>
            </a:r>
            <a:r>
              <a:rPr lang="ru-RU" dirty="0" sz="2000">
                <a:solidFill>
                  <a:srgbClr val="000000"/>
                </a:solidFill>
              </a:rPr>
              <a:t xml:space="preserve"> — по меткам (label-based): `df.loc[3, 'Age']`, срезы включают конец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iloc</a:t>
            </a:r>
            <a:r>
              <a:rPr lang="ru-RU" dirty="0" sz="2000">
                <a:solidFill>
                  <a:srgbClr val="000000"/>
                </a:solidFill>
              </a:rPr>
              <a:t xml:space="preserve"> — по позициям (integer): `df.iloc[0:5, 1:3]`, как NumPy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Срезы: `loc['a':'c']` включает 'c'; `iloc[0:3]` — не включает 3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Булевы маски работают с </a:t>
            </a:r>
            <a:r>
              <a:rPr lang="ru-RU" dirty="0" sz="2000" b="1">
                <a:solidFill>
                  <a:srgbClr val="000000"/>
                </a:solidFill>
              </a:rPr>
              <a:t>loc</a:t>
            </a:r>
            <a:r>
              <a:rPr lang="ru-RU" dirty="0" sz="2000">
                <a:solidFill>
                  <a:srgbClr val="000000"/>
                </a:solidFill>
              </a:rPr>
              <a:t>: `df.loc[df['Age'] &gt; 30, ['Name','Age']]`</a:t>
            </a:r>
          </a:p>
        </p:txBody>
      </p:sp>
      <p:pic>
        <p:nvPicPr>
          <p:cNvPr id="4" name="Picture 3" descr="loc_vs_il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Фильтрация и булевы маски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Условие даёт Series bool: `df['Age'] &gt; 18`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Несколько условий: `&amp;` (и), `|` (или); каждое в скобках: `(A) &amp; (B)`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`.isin([...])`, `.between(a, b)`, `.str.contains(...)` для строк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`.query('Age &gt; 18 and Pclass == 1')` — альтернативный синтаксис</a:t>
            </a:r>
          </a:p>
        </p:txBody>
      </p:sp>
      <p:pic>
        <p:nvPicPr>
          <p:cNvPr id="4" name="Picture 3" descr="boolean_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40418"/>
            <a:ext cx="4343400" cy="32514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groupby и агрегации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«Разбить по ключу → применить функцию → собрать» — `df.groupby('Pclass')`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`.agg({'Age':'mean', 'Fare':'sum'})` — разные функции по столбцам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`.mean()`, `.size()`, `.count()` — частые сокращения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Несколько ключей: `groupby(['Pclass','Sex'])` — вложенные группы</a:t>
            </a:r>
          </a:p>
        </p:txBody>
      </p:sp>
      <p:pic>
        <p:nvPicPr>
          <p:cNvPr id="4" name="Picture 3" descr="groupby_fare_p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112450"/>
            <a:ext cx="4343400" cy="290741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merge и join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`pd.merge(left, right, on='key', how='inner|left|right|outer')` — SQL-подобное соединение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how='left' — все строки левой таблицы; пропуски где нет совпадения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`.join()` — по индексу; для merge ключи часто приводят к одному типу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Дубликаты ключей → декартово умножение строк — проверяй `len` до и после</a:t>
            </a:r>
          </a:p>
        </p:txBody>
      </p:sp>
      <p:pic>
        <p:nvPicPr>
          <p:cNvPr id="4" name="Picture 3" descr="merg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42755"/>
            <a:ext cx="4343400" cy="144681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Пропуски: isna, fillna, dropna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`isna()` / `notna()` — маска пропусков; `df.isna().sum()` — счёт по столбцам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`fillna(value)` или `fillna(df['col'].median())` — заполнение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`dropna(subset=['Age'])` — удалить строки с пропуском в Age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Стратегия зависит от задачи: удалить vs impute; для ML — только на </a:t>
            </a:r>
            <a:r>
              <a:rPr lang="ru-RU" dirty="0" sz="2000" b="1">
                <a:solidFill>
                  <a:srgbClr val="000000"/>
                </a:solidFill>
              </a:rPr>
              <a:t>train</a:t>
            </a:r>
          </a:p>
        </p:txBody>
      </p:sp>
      <p:pic>
        <p:nvPicPr>
          <p:cNvPr id="4" name="Picture 3" descr="missing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5955"/>
            <a:ext cx="4343400" cy="298040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Типы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object — строки; int64/float64 — числа; category — экономия памяти для повторов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`astype({'col': 'category'})` — явное приведение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`pd.to_datetime(df['date'])` — даты; `.dt.year`, `.dt.month` — компоненты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Неверный dtype ломает sort и merge — смотри `df.dtypes` после чтения</a:t>
            </a:r>
          </a:p>
        </p:txBody>
      </p:sp>
      <p:pic>
        <p:nvPicPr>
          <p:cNvPr id="4" name="Picture 3" descr="dtype_categ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08590"/>
            <a:ext cx="4343400" cy="15151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apply и 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`.apply(func, axis=0|1)` — функция по столбцу или строке; медленнее векторизации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`.map(dict)` на Series — замена значений по словарю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`.transform('mean')` после groupby — результат той же длины, что и исходник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Предпочитай встроенные методы (`str`, `dt`, NumPy) — apply для сложной логики</a:t>
            </a:r>
          </a:p>
        </p:txBody>
      </p:sp>
      <p:pic>
        <p:nvPicPr>
          <p:cNvPr id="4" name="Picture 3" descr="apply_map_trans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09599"/>
            <a:ext cx="4343400" cy="131312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pivot и pivot_table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`pivot_table(values, index, columns, aggfunc='mean')` — сводная таблица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Аналог Excel Pivot: строки × столбцы × агрегат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`.pivot()` — без агрегации, требует уникальных пар index×columns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Удобно для отчётов и быстрой проверки гипотез (выживаемость по классу и полу)</a:t>
            </a:r>
          </a:p>
        </p:txBody>
      </p:sp>
      <p:pic>
        <p:nvPicPr>
          <p:cNvPr id="4" name="Picture 3" descr="pivot_survi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307648"/>
            <a:ext cx="4343400" cy="251702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Базовая производительность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Векторизация NumPy/Pandas </a:t>
            </a:r>
            <a:r>
              <a:rPr lang="ru-RU" dirty="0" sz="2000" b="1">
                <a:solidFill>
                  <a:srgbClr val="000000"/>
                </a:solidFill>
              </a:rPr>
              <a:t>быстрее</a:t>
            </a:r>
            <a:r>
              <a:rPr lang="ru-RU" dirty="0" sz="2000">
                <a:solidFill>
                  <a:srgbClr val="000000"/>
                </a:solidFill>
              </a:rPr>
              <a:t xml:space="preserve"> цикла Python и построчного apply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`.values` / `.to_numpy()` — массив для sklearn без копий где возможно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category и правильные dtypes уменьшают память на больших таблицах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Чтение: `usecols`, `dtype`, `chunksize` — для файлов на миллионы строк</a:t>
            </a:r>
          </a:p>
        </p:txBody>
      </p:sp>
      <p:pic>
        <p:nvPicPr>
          <p:cNvPr id="4" name="Picture 3" descr="perf_vector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Типичные ошибки в 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SettingWithCopyWarning</a:t>
            </a:r>
            <a:r>
              <a:rPr lang="ru-RU" dirty="0" sz="2000">
                <a:solidFill>
                  <a:srgbClr val="000000"/>
                </a:solidFill>
              </a:rPr>
              <a:t xml:space="preserve"> — цепочка срезов; используй `.loc` или `.copy()`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Изменение среза не меняет исходник — нужен явный assign или loc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merge без проверки дубликатов ключей → раздувание строк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fillna/dropna </a:t>
            </a:r>
            <a:r>
              <a:rPr lang="ru-RU" dirty="0" sz="2000" b="1">
                <a:solidFill>
                  <a:srgbClr val="000000"/>
                </a:solidFill>
              </a:rPr>
              <a:t>до</a:t>
            </a:r>
            <a:r>
              <a:rPr lang="ru-RU" dirty="0" sz="2000">
                <a:solidFill>
                  <a:srgbClr val="000000"/>
                </a:solidFill>
              </a:rPr>
              <a:t xml:space="preserve"> train_test_split — утечка информации из test</a:t>
            </a:r>
          </a:p>
        </p:txBody>
      </p:sp>
      <p:pic>
        <p:nvPicPr>
          <p:cNvPr id="4" name="Picture 3" descr="pandas_lea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210364"/>
            <a:ext cx="4343400" cy="271159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Pandas и sklearn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Pandas — EDA и подготовка; sklearn — `fit`/`predict` на NumPy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`ColumnTransformer` + `Pipeline`: imputer/scaler/encoder внутри пайплайна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`df[feature_cols].to_numpy()` или `Pipeline` с `FunctionTransformer`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Сохраняй согласованность имён столбцов между train и test</a:t>
            </a:r>
          </a:p>
        </p:txBody>
      </p:sp>
      <p:pic>
        <p:nvPicPr>
          <p:cNvPr id="4" name="Picture 3" descr="pandas_sklearn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297301"/>
            <a:ext cx="4343400" cy="253771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Итоги и чек-лист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1. `read_*` → `head/info/describe` перед любыми выводами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2. Выборка: </a:t>
            </a:r>
            <a:r>
              <a:rPr lang="ru-RU" dirty="0" sz="2000" b="1">
                <a:solidFill>
                  <a:srgbClr val="000000"/>
                </a:solidFill>
              </a:rPr>
              <a:t>loc</a:t>
            </a:r>
            <a:r>
              <a:rPr lang="ru-RU" dirty="0" sz="2000">
                <a:solidFill>
                  <a:srgbClr val="000000"/>
                </a:solidFill>
              </a:rPr>
              <a:t xml:space="preserve"> по меткам, </a:t>
            </a:r>
            <a:r>
              <a:rPr lang="ru-RU" dirty="0" sz="2000" b="1">
                <a:solidFill>
                  <a:srgbClr val="000000"/>
                </a:solidFill>
              </a:rPr>
              <a:t>iloc</a:t>
            </a:r>
            <a:r>
              <a:rPr lang="ru-RU" dirty="0" sz="2000">
                <a:solidFill>
                  <a:srgbClr val="000000"/>
                </a:solidFill>
              </a:rPr>
              <a:t xml:space="preserve"> по позициям; маски через loc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3. groupby/merge/pivot — три кита аналитики таблиц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4. Пропуски и dtypes — до модели; трансформации — в Pipeline после split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5. Векторизация вместо apply в горячих местах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