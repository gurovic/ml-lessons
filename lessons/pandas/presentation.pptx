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dtypes и .values/.to_numpy() на примере.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filter → ragged index → reset_index.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mask.sum() и ошибку без скобок.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пункты вслух на реальном датасете.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docs.profiling.ydata.ai/" TargetMode="External"/><Relationship Id="rId4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ference.scipy.org/proceedings/scipy2010/mckinney.html" TargetMode="External"/><Relationship Id="rId3" Type="http://schemas.openxmlformats.org/officeDocument/2006/relationships/hyperlink" Target="http://vita.had.co.nz/papers/tidy-data.pdf" TargetMode="External"/><Relationship Id="rId4" Type="http://schemas.openxmlformats.org/officeDocument/2006/relationships/hyperlink" Target="https://zenodo.org/records/3509134" TargetMode="External"/><Relationship Id="rId5" Type="http://schemas.openxmlformats.org/officeDocument/2006/relationships/hyperlink" Target="https://colab.research.google.com/github/gurovic/ml-lessons/blob/main/lessons/pandas/code.ipynb" TargetMode="External"/><Relationship Id="rId6" Type="http://schemas.openxmlformats.org/officeDocument/2006/relationships/hyperlink" Target="https://colab.research.google.com/github/gurovic/ml-lessons/blob/main/lessons/pandas/project.ipynb" TargetMode="External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pandas: это не Excel, а numpy с индексами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pandas — </a:t>
            </a:r>
            <a:r>
              <a:rPr lang="ru-RU" dirty="0" sz="2000" b="1">
                <a:solidFill>
                  <a:srgbClr val="000000"/>
                </a:solidFill>
              </a:rPr>
              <a:t>удобная надстройка над numpy</a:t>
            </a:r>
            <a:r>
              <a:rPr lang="ru-RU" dirty="0" sz="2000">
                <a:solidFill>
                  <a:srgbClr val="000000"/>
                </a:solidFill>
              </a:rPr>
              <a:t>, а не самостоятельная сущность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Числовой столбец внутри — непрерывный numpy-массив (быстро и эффективно)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Столбец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object</a:t>
            </a:r>
            <a:r>
              <a:rPr lang="ru-RU" dirty="0" sz="2000">
                <a:solidFill>
                  <a:srgbClr val="000000"/>
                </a:solidFill>
              </a:rPr>
              <a:t xml:space="preserve"> — указатели на Python-объекты (медленно); современный стандарт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string[pyarrow]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Главное отличие от numpy — </a:t>
            </a:r>
            <a:r>
              <a:rPr lang="ru-RU" dirty="0" sz="2000" b="1">
                <a:solidFill>
                  <a:srgbClr val="000000"/>
                </a:solidFill>
              </a:rPr>
              <a:t>индексы (метки строк)</a:t>
            </a:r>
            <a:r>
              <a:rPr lang="ru-RU" dirty="0" sz="2000">
                <a:solidFill>
                  <a:srgbClr val="000000"/>
                </a:solidFill>
              </a:rPr>
              <a:t>: словарь, а не матрица</a:t>
            </a:r>
          </a:p>
        </p:txBody>
      </p:sp>
      <p:pic>
        <p:nvPicPr>
          <p:cNvPr id="4" name="Picture 3" descr="pandas_numpy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0362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Индекс — это не «номер строки», а ключ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Позиция (</a:t>
            </a:r>
            <ns0:m xmlns:ns0="http://schemas.microsoft.com/office/drawing/2010/main">
              <m:oMath xmlns:m="http://schemas.openxmlformats.org/officeDocument/2006/math">
                <m:r>
                  <m:t>0,1,2…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 и </a:t>
            </a:r>
            <a:r>
              <a:rPr lang="ru-RU" dirty="0" sz="2000" b="1">
                <a:solidFill>
                  <a:srgbClr val="000000"/>
                </a:solidFill>
              </a:rPr>
              <a:t>метка индекса</a:t>
            </a:r>
            <a:r>
              <a:rPr lang="ru-RU" dirty="0" sz="2000">
                <a:solidFill>
                  <a:srgbClr val="000000"/>
                </a:solidFill>
              </a:rPr>
              <a:t xml:space="preserve"> — разные вещи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После фильтрации, merge или сортировки индексы становятся «рваными»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reset_index(drop=True)</a:t>
            </a:r>
            <a:r>
              <a:rPr lang="ru-RU" dirty="0" sz="2000">
                <a:solidFill>
                  <a:srgbClr val="000000"/>
                </a:solidFill>
              </a:rPr>
              <a:t xml:space="preserve"> — базовая операция после 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 игнорирует индексы, но при склейке в pandas несовпадение даст неожиданные NaN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pandas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as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pd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DataFrame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{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}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index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по метке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iloc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по позиции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Метка vs позиция</a:t>
            </a:r>
          </a:p>
        </p:txBody>
      </p:sp>
      <p:pic>
        <p:nvPicPr>
          <p:cNvPr id="10" name="Picture 9" descr="index_ragged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Булева индексация — магия numpy внутри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df[df['age'] &gt; 30]</a:t>
            </a:r>
            <a:r>
              <a:rPr lang="ru-RU" dirty="0" sz="2000">
                <a:solidFill>
                  <a:srgbClr val="000000"/>
                </a:solidFill>
              </a:rPr>
              <a:t xml:space="preserve"> — маска numpy внутри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Шаг 1: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df['age'] &gt; 30</a:t>
            </a:r>
            <a:r>
              <a:rPr lang="ru-RU" dirty="0" sz="2000">
                <a:solidFill>
                  <a:srgbClr val="000000"/>
                </a:solidFill>
              </a:rPr>
              <a:t xml:space="preserve"> → булев массив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[True, False, True, \ldots]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Шаг 2: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df[mask]</a:t>
            </a:r>
            <a:r>
              <a:rPr lang="ru-RU" dirty="0" sz="2000">
                <a:solidFill>
                  <a:srgbClr val="000000"/>
                </a:solidFill>
              </a:rPr>
              <a:t xml:space="preserve"> возвращает строки, где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True</a:t>
            </a:r>
            <a:r>
              <a:rPr lang="ru-RU" dirty="0" sz="2000">
                <a:solidFill>
                  <a:srgbClr val="000000"/>
                </a:solidFill>
              </a:rPr>
              <a:t xml:space="preserve"> — прямое наследие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Составные условия: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&amp;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|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~</a:t>
            </a:r>
            <a:r>
              <a:rPr lang="ru-RU" dirty="0" sz="2000">
                <a:solidFill>
                  <a:srgbClr val="000000"/>
                </a:solidFill>
              </a:rPr>
              <a:t xml:space="preserve"> (не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and</a:t>
            </a:r>
            <a:r>
              <a:rPr lang="ru-RU" dirty="0" sz="2000">
                <a:solidFill>
                  <a:srgbClr val="000000"/>
                </a:solidFill>
              </a:rPr>
              <a:t>/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or</a:t>
            </a:r>
            <a:r>
              <a:rPr lang="ru-RU" dirty="0" sz="2000">
                <a:solidFill>
                  <a:srgbClr val="000000"/>
                </a:solidFill>
              </a:rPr>
              <a:t xml:space="preserve">); </a:t>
            </a:r>
            <a:r>
              <a:rPr lang="ru-RU" dirty="0" sz="2000" b="1">
                <a:solidFill>
                  <a:srgbClr val="000000"/>
                </a:solidFill>
              </a:rPr>
              <a:t>каждое условие в скобках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mask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age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&gt;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18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adults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mask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фильтр булевой маской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city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MSK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то же через loc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Фильтрация строк</a:t>
            </a:r>
          </a:p>
        </p:txBody>
      </p:sp>
      <p:pic>
        <p:nvPicPr>
          <p:cNvPr id="9" name="Picture 8" descr="boolean_mas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 xml:space="preserve">Три способа обратиться к данным: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[]</a:t>
            </a:r>
            <a:r>
              <a:rPr lang="ru-RU" dirty="0" sz="3200" b="1">
                <a:solidFill>
                  <a:srgbClr val="1A1A2E"/>
                </a:solidFill>
              </a:rPr>
              <a:t xml:space="preserve">,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.loc</a:t>
            </a:r>
            <a:r>
              <a:rPr lang="ru-RU" dirty="0" sz="3200" b="1">
                <a:solidFill>
                  <a:srgbClr val="1A1A2E"/>
                </a:solidFill>
              </a:rPr>
              <a:t xml:space="preserve">,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.iloc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df['col']</a:t>
            </a:r>
            <a:r>
              <a:rPr lang="ru-RU" dirty="0" sz="2000">
                <a:solidFill>
                  <a:srgbClr val="000000"/>
                </a:solidFill>
              </a:rPr>
              <a:t xml:space="preserve"> — столбец по имени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.iloc[i, j]</a:t>
            </a:r>
            <a:r>
              <a:rPr lang="ru-RU" dirty="0" sz="2000">
                <a:solidFill>
                  <a:srgbClr val="000000"/>
                </a:solidFill>
              </a:rPr>
              <a:t xml:space="preserve"> — доступ </a:t>
            </a:r>
            <a:r>
              <a:rPr lang="ru-RU" dirty="0" sz="2000" b="1">
                <a:solidFill>
                  <a:srgbClr val="000000"/>
                </a:solidFill>
              </a:rPr>
              <a:t>по позиции</a:t>
            </a:r>
            <a:r>
              <a:rPr lang="ru-RU" dirty="0" sz="2000">
                <a:solidFill>
                  <a:srgbClr val="000000"/>
                </a:solidFill>
              </a:rPr>
              <a:t xml:space="preserve"> (как numpy); индексы игнорируются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.loc[label, col]</a:t>
            </a:r>
            <a:r>
              <a:rPr lang="ru-RU" dirty="0" sz="2000">
                <a:solidFill>
                  <a:srgbClr val="000000"/>
                </a:solidFill>
              </a:rPr>
              <a:t xml:space="preserve"> — доступ </a:t>
            </a:r>
            <a:r>
              <a:rPr lang="ru-RU" dirty="0" sz="2000" b="1">
                <a:solidFill>
                  <a:srgbClr val="000000"/>
                </a:solidFill>
              </a:rPr>
              <a:t>по метке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Присваивание — через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.loc</a:t>
            </a:r>
            <a:r>
              <a:rPr lang="ru-RU" dirty="0" sz="2000">
                <a:solidFill>
                  <a:srgbClr val="000000"/>
                </a:solidFill>
              </a:rPr>
              <a:t xml:space="preserve">; перед sklearn удобнее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.iloc</a:t>
            </a:r>
            <a:r>
              <a:rPr lang="ru-RU" dirty="0" sz="2000">
                <a:solidFill>
                  <a:srgbClr val="000000"/>
                </a:solidFill>
              </a:rPr>
              <a:t xml:space="preserve"> (позиционная индексация)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col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price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столбец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cell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10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price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по метке индекса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cell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iloc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по позиции (0, 2)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[] / loc / iloc</a:t>
            </a:r>
          </a:p>
        </p:txBody>
      </p:sp>
      <p:pic>
        <p:nvPicPr>
          <p:cNvPr id="9" name="Picture 8" descr="loc_vs_i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07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Самая большая боль: SettingWithCopyWarning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pandas не всегда понимает: вы меняете оригинал или копию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subset = df[df['age'] &gt; 30]; subset['new_col'] = 1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Warning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Изменения могут не попасть 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</a:t>
            </a:r>
            <a:r>
              <a:rPr lang="ru-RU" dirty="0" sz="2000">
                <a:solidFill>
                  <a:srgbClr val="000000"/>
                </a:solidFill>
              </a:rPr>
              <a:t xml:space="preserve"> или перезаписать данные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Решение: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.copy()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df.loc[mask, 'col'] =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active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copy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явная копия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score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без предупреждения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без .copy() — риск записи во view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copy() перед присваиванием</a:t>
            </a:r>
          </a:p>
        </p:txBody>
      </p:sp>
      <p:pic>
        <p:nvPicPr>
          <p:cNvPr id="9" name="Picture 8" descr="setting_with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1211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View vs Copy: архитектурная проблема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View</a:t>
            </a:r>
            <a:r>
              <a:rPr lang="ru-RU" dirty="0" sz="2000">
                <a:solidFill>
                  <a:srgbClr val="000000"/>
                </a:solidFill>
              </a:rPr>
              <a:t xml:space="preserve"> — разделяет память с оригиналом; </a:t>
            </a:r>
            <a:r>
              <a:rPr lang="ru-RU" dirty="0" sz="2000" b="1">
                <a:solidFill>
                  <a:srgbClr val="000000"/>
                </a:solidFill>
              </a:rPr>
              <a:t>Copy</a:t>
            </a:r>
            <a:r>
              <a:rPr lang="ru-RU" dirty="0" sz="2000">
                <a:solidFill>
                  <a:srgbClr val="000000"/>
                </a:solidFill>
              </a:rPr>
              <a:t xml:space="preserve"> — независимые данные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Исторически pandas решает «по ситуации» → неопределённость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Copy-on-Write</a:t>
            </a:r>
            <a:r>
              <a:rPr lang="ru-RU" dirty="0" sz="2000">
                <a:solidFill>
                  <a:srgbClr val="000000"/>
                </a:solidFill>
              </a:rPr>
              <a:t xml:space="preserve"> (pandas 2.0+):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pd.options.mode.copy_on_write = True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ML: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.copy()</a:t>
            </a:r>
            <a:r>
              <a:rPr lang="ru-RU" dirty="0" sz="2000">
                <a:solidFill>
                  <a:srgbClr val="000000"/>
                </a:solidFill>
              </a:rPr>
              <a:t xml:space="preserve"> при создании новых признаков, если не уверены</a:t>
            </a:r>
          </a:p>
        </p:txBody>
      </p:sp>
      <p:pic>
        <p:nvPicPr>
          <p:cNvPr id="4" name="Picture 3" descr="view_vs_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Пропуски: NaN, None, NaT и эволюция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Разные «пустые»: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np.nan</a:t>
            </a:r>
            <a:r>
              <a:rPr lang="ru-RU" dirty="0" sz="2000">
                <a:solidFill>
                  <a:srgbClr val="000000"/>
                </a:solidFill>
              </a:rPr>
              <a:t xml:space="preserve"> (числа),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None</a:t>
            </a:r>
            <a:r>
              <a:rPr lang="ru-RU" dirty="0" sz="2000">
                <a:solidFill>
                  <a:srgbClr val="000000"/>
                </a:solidFill>
              </a:rPr>
              <a:t xml:space="preserve"> (object),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pd.NaT</a:t>
            </a:r>
            <a:r>
              <a:rPr lang="ru-RU" dirty="0" sz="2000">
                <a:solidFill>
                  <a:srgbClr val="000000"/>
                </a:solidFill>
              </a:rPr>
              <a:t xml:space="preserve"> (время)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df.isnull().sum()</a:t>
            </a:r>
            <a:r>
              <a:rPr lang="ru-RU" dirty="0" sz="2000">
                <a:solidFill>
                  <a:srgbClr val="000000"/>
                </a:solidFill>
              </a:rPr>
              <a:t xml:space="preserve"> — первый шаг диагностики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Раньше пропуск 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int64</a:t>
            </a:r>
            <a:r>
              <a:rPr lang="ru-RU" dirty="0" sz="2000">
                <a:solidFill>
                  <a:srgbClr val="000000"/>
                </a:solidFill>
              </a:rPr>
              <a:t xml:space="preserve"> → весь столбец во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float64</a:t>
            </a:r>
            <a:r>
              <a:rPr lang="ru-RU" dirty="0" sz="2000">
                <a:solidFill>
                  <a:srgbClr val="000000"/>
                </a:solidFill>
              </a:rPr>
              <a:t xml:space="preserve">; сейчас </a:t>
            </a:r>
            <a:r>
              <a:rPr lang="ru-RU" dirty="0" sz="2000" b="1">
                <a:solidFill>
                  <a:srgbClr val="000000"/>
                </a:solidFill>
              </a:rPr>
              <a:t>Nullable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Int64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boolean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pd.NA</a:t>
            </a:r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 ML: импутация только по </a:t>
            </a:r>
            <a:r>
              <a:rPr lang="ru-RU" dirty="0" sz="2000" b="1">
                <a:solidFill>
                  <a:srgbClr val="000000"/>
                </a:solidFill>
              </a:rPr>
              <a:t>Train</a:t>
            </a:r>
            <a:r>
              <a:rPr lang="ru-RU" dirty="0" sz="2000">
                <a:solidFill>
                  <a:srgbClr val="000000"/>
                </a:solidFill>
              </a:rPr>
              <a:t>, иначе утечка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isna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sum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число пропусков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fillna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median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dropna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subset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target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isna / fillna / dropna</a:t>
            </a:r>
          </a:p>
        </p:txBody>
      </p:sp>
      <p:pic>
        <p:nvPicPr>
          <p:cNvPr id="9" name="Picture 8" descr="missing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372" y="1371600"/>
            <a:ext cx="2859230" cy="1992883"/>
          </a:xfrm>
          <a:prstGeom prst="rect">
            <a:avLst/>
          </a:prstGeom>
        </p:spPr>
      </p:pic>
      <p:pic>
        <p:nvPicPr>
          <p:cNvPr id="10" name="Picture 9" descr="nullable_int_typ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901" y="3675380"/>
            <a:ext cx="2192172" cy="19928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 xml:space="preserve">Базовая аналитика: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value_counts()</a:t>
            </a:r>
            <a:r>
              <a:rPr lang="ru-RU" dirty="0" sz="3200" b="1">
                <a:solidFill>
                  <a:srgbClr val="1A1A2E"/>
                </a:solidFill>
              </a:rPr>
              <a:t xml:space="preserve">,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nunique()</a:t>
            </a:r>
            <a:r>
              <a:rPr lang="ru-RU" dirty="0" sz="3200" b="1">
                <a:solidFill>
                  <a:srgbClr val="1A1A2E"/>
                </a:solidFill>
              </a:rPr>
              <a:t xml:space="preserve">,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corr()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value_counts()</a:t>
            </a:r>
            <a:r>
              <a:rPr lang="ru-RU" dirty="0" sz="2000">
                <a:solidFill>
                  <a:srgbClr val="000000"/>
                </a:solidFill>
              </a:rPr>
              <a:t xml:space="preserve"> — частоты категорий, дисбаланс классов, мусорные категории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nunique()</a:t>
            </a:r>
            <a:r>
              <a:rPr lang="ru-RU" dirty="0" sz="2000">
                <a:solidFill>
                  <a:srgbClr val="000000"/>
                </a:solidFill>
              </a:rPr>
              <a:t xml:space="preserve"> — кардинальность: 100k уникальных из 100k строк → признак-ID, удалить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corr()</a:t>
            </a:r>
            <a:r>
              <a:rPr lang="ru-RU" dirty="0" sz="2000">
                <a:solidFill>
                  <a:srgbClr val="000000"/>
                </a:solidFill>
              </a:rPr>
              <a:t xml:space="preserve"> — мультиколлинеарность (корреляция </a:t>
            </a:r>
            <ns0:m xmlns:ns0="http://schemas.microsoft.com/office/drawing/2010/main">
              <m:oMath xmlns:m="http://schemas.openxmlformats.org/officeDocument/2006/math">
                <m:r>
                  <m:t>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перед линейными моделями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describe(include='all')</a:t>
            </a:r>
            <a:r>
              <a:rPr lang="ru-RU" dirty="0" sz="2000">
                <a:solidFill>
                  <a:srgbClr val="000000"/>
                </a:solidFill>
              </a:rPr>
              <a:t xml:space="preserve"> — числа и категории в одном отчёте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value_counts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user_id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nunique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numeric_cols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corr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target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sort_values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Частоты и корреляции</a:t>
            </a:r>
          </a:p>
        </p:txBody>
      </p:sp>
      <p:pic>
        <p:nvPicPr>
          <p:cNvPr id="9" name="Picture 8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9570" y="1371600"/>
            <a:ext cx="2284835" cy="1992884"/>
          </a:xfrm>
          <a:prstGeom prst="rect">
            <a:avLst/>
          </a:prstGeom>
        </p:spPr>
      </p:pic>
      <p:pic>
        <p:nvPicPr>
          <p:cNvPr id="10" name="Picture 9" descr="value_counts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462" y="3675380"/>
            <a:ext cx="2851050" cy="19928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GroupBy: две операции, которые должен знать ML-инженер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agg()</a:t>
            </a:r>
            <a:r>
              <a:rPr lang="ru-RU" dirty="0" sz="2000">
                <a:solidFill>
                  <a:srgbClr val="000000"/>
                </a:solidFill>
              </a:rPr>
              <a:t xml:space="preserve"> — схлопывает группы в одну строку (среднее по группе)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transform()</a:t>
            </a:r>
            <a:r>
              <a:rPr lang="ru-RU" dirty="0" sz="2000">
                <a:solidFill>
                  <a:srgbClr val="000000"/>
                </a:solidFill>
              </a:rPr>
              <a:t xml:space="preserve"> — результат </a:t>
            </a:r>
            <a:r>
              <a:rPr lang="ru-RU" dirty="0" sz="2000" b="1">
                <a:solidFill>
                  <a:srgbClr val="000000"/>
                </a:solidFill>
              </a:rPr>
              <a:t>того же размера</a:t>
            </a:r>
            <a:r>
              <a:rPr lang="ru-RU" dirty="0" sz="2000">
                <a:solidFill>
                  <a:srgbClr val="000000"/>
                </a:solidFill>
              </a:rPr>
              <a:t>, что вход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df['dev'] = df['income'] - df.groupby('city')['income'].transform('mean')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Без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transform</a:t>
            </a:r>
            <a:r>
              <a:rPr lang="ru-RU" dirty="0" sz="2000">
                <a:solidFill>
                  <a:srgbClr val="000000"/>
                </a:solidFill>
              </a:rPr>
              <a:t xml:space="preserve"> нельзя создать контекстный признак без потери гранулярности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groupby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city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sales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agg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mean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count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groupby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date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amount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sum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reset_index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groupby + agg</a:t>
            </a:r>
          </a:p>
        </p:txBody>
      </p:sp>
      <p:pic>
        <p:nvPicPr>
          <p:cNvPr id="8" name="Picture 7" descr="agg_vs_trans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MultiIndex: иерархические индексы после groupby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groupby(['city','cat']).agg(['mean','std'])</a:t>
            </a:r>
            <a:r>
              <a:rPr lang="ru-RU" dirty="0" sz="2000">
                <a:solidFill>
                  <a:srgbClr val="000000"/>
                </a:solidFill>
              </a:rPr>
              <a:t xml:space="preserve"> → </a:t>
            </a:r>
            <a:r>
              <a:rPr lang="ru-RU" dirty="0" sz="2000" b="1">
                <a:solidFill>
                  <a:srgbClr val="000000"/>
                </a:solidFill>
              </a:rPr>
              <a:t>двухуровневый</a:t>
            </a:r>
            <a:r>
              <a:rPr lang="ru-RU" dirty="0" sz="2000">
                <a:solidFill>
                  <a:srgbClr val="000000"/>
                </a:solidFill>
              </a:rPr>
              <a:t xml:space="preserve"> индекс строк и столбцов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Частая боль: как обратиться к ячейке, как склеить с исходной таблицей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reset_index()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as_index=False</a:t>
            </a:r>
            <a:r>
              <a:rPr lang="ru-RU" dirty="0" sz="2000">
                <a:solidFill>
                  <a:srgbClr val="000000"/>
                </a:solidFill>
              </a:rPr>
              <a:t xml:space="preserve"> 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groupby()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Перед моделью или merge — </a:t>
            </a:r>
            <a:r>
              <a:rPr lang="ru-RU" dirty="0" sz="2000" b="1">
                <a:solidFill>
                  <a:srgbClr val="000000"/>
                </a:solidFill>
              </a:rPr>
              <a:t>сбросить MultiIndex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groupby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city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year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sales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mean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loc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MSK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 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срез по первому уровню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g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reset_index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обратно в таблицу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MultiIndex после groupby</a:t>
            </a:r>
          </a:p>
        </p:txBody>
      </p:sp>
      <p:pic>
        <p:nvPicPr>
          <p:cNvPr id="9" name="Picture 8" descr="multiindex_re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82919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Категории: типы кодирования и когда что применять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Ordinal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упорядоченные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category</a:t>
            </a:r>
            <a:r>
              <a:rPr lang="ru-RU" dirty="0" sz="2000">
                <a:solidFill>
                  <a:srgbClr val="000000"/>
                </a:solidFill>
              </a:rPr>
              <a:t xml:space="preserve"> +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.cat.codes</a:t>
            </a:r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One-Hot</a:t>
            </a:r>
            <a:r>
              <a:rPr lang="ru-RU" dirty="0" sz="2000">
                <a:solidFill>
                  <a:srgbClr val="000000"/>
                </a:solidFill>
              </a:rPr>
              <a:t xml:space="preserve"> — неупорядоченные: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pd.get_dummies(..., drop_first=True)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Target Encoding</a:t>
            </a:r>
            <a:r>
              <a:rPr lang="ru-RU" dirty="0" sz="2000">
                <a:solidFill>
                  <a:srgbClr val="000000"/>
                </a:solidFill>
              </a:rPr>
              <a:t xml:space="preserve"> — среднее таргета; только внутри sklearn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Числа 0,1,2 для деревьев ок, для линейных моделей — ломает геометрию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color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color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astype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color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cat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codes</a:t>
            </a:r>
            <a:r>
              <a:rPr sz="1100">
                <a:solidFill>
                  <a:srgbClr val="000000"/>
                </a:solidFill>
                <a:latin typeface="Consolas"/>
              </a:rPr>
              <a:t>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целые коды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get_dummies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columns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color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category и get_dummies</a:t>
            </a:r>
          </a:p>
        </p:txBody>
      </p:sp>
      <p:pic>
        <p:nvPicPr>
          <p:cNvPr id="9" name="Picture 8" descr="encod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Feature Engineering: условия, биннинг и отсечение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np.where</a:t>
            </a:r>
            <a:r>
              <a:rPr lang="ru-RU" dirty="0" sz="2000">
                <a:solidFill>
                  <a:srgbClr val="000000"/>
                </a:solidFill>
              </a:rPr>
              <a:t xml:space="preserve"> — векторизованные условия, в сотни раз быстрее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apply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pd.cut</a:t>
            </a:r>
            <a:r>
              <a:rPr lang="ru-RU" dirty="0" sz="2000">
                <a:solidFill>
                  <a:srgbClr val="000000"/>
                </a:solidFill>
              </a:rPr>
              <a:t xml:space="preserve"> — равные интервалы;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pd.qcut</a:t>
            </a:r>
            <a:r>
              <a:rPr lang="ru-RU" dirty="0" sz="2000">
                <a:solidFill>
                  <a:srgbClr val="000000"/>
                </a:solidFill>
              </a:rPr>
              <a:t xml:space="preserve"> — равное число объектов в корзинах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clip</a:t>
            </a:r>
            <a:r>
              <a:rPr lang="ru-RU" dirty="0" sz="2000">
                <a:solidFill>
                  <a:srgbClr val="000000"/>
                </a:solidFill>
              </a:rPr>
              <a:t xml:space="preserve"> / Winsorization: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df['x'].clip(upper=quantile(0.99))</a:t>
            </a:r>
            <a:r>
              <a:rPr lang="ru-RU" dirty="0" sz="2000">
                <a:solidFill>
                  <a:srgbClr val="000000"/>
                </a:solidFill>
              </a:rPr>
              <a:t xml:space="preserve"> — спасает от выбросов без удаления строк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Линейным моделям помогает биннинг; деревьям — проще разбиения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bucket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cut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age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bins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18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65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100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flag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score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&gt;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0.5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astype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7020"/>
                </a:solidFill>
                <a:latin typeface="Consolas"/>
              </a:rPr>
              <a:t>int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amount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&gt;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0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cut и условия</a:t>
            </a:r>
          </a:p>
        </p:txBody>
      </p:sp>
      <p:pic>
        <p:nvPicPr>
          <p:cNvPr id="9" name="Picture 8" descr="clip_outl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5901" y="1371600"/>
            <a:ext cx="2192172" cy="1992884"/>
          </a:xfrm>
          <a:prstGeom prst="rect">
            <a:avLst/>
          </a:prstGeom>
        </p:spPr>
      </p:pic>
      <p:pic>
        <p:nvPicPr>
          <p:cNvPr id="10" name="Picture 9" descr="cut_b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2372" y="3675380"/>
            <a:ext cx="2859230" cy="199288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 xml:space="preserve">Работа с текстом: стринговый аксессор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.str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</a:t>
            </a:r>
            <a:r>
              <a:rPr lang="ru-RU" dirty="0" sz="2000">
                <a:solidFill>
                  <a:srgbClr val="000000"/>
                </a:solidFill>
              </a:rPr>
              <a:t xml:space="preserve"> — векторизованные операции над строками (база NLP-препроцессинга)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.str.len()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.str.lower()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.str.contains()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.str.replace()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.str.extract(regex)</a:t>
            </a:r>
            <a:r>
              <a:rPr lang="ru-RU" dirty="0" sz="2000">
                <a:solidFill>
                  <a:srgbClr val="000000"/>
                </a:solidFill>
              </a:rPr>
              <a:t xml:space="preserve"> — извлечение в DataFrame;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.str.split().str[0]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Работает с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object</a:t>
            </a:r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string[pyarrow]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email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str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lower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name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str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contains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ivan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case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phone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str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replace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-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regex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.str</a:t>
            </a:r>
          </a:p>
        </p:txBody>
      </p:sp>
      <p:pic>
        <p:nvPicPr>
          <p:cNvPr id="9" name="Picture 8" descr="str_ex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121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 xml:space="preserve">Время как признак: аксессор </a:t>
            </a:r>
            <a:r>
              <a:rPr lang="ru-RU" dirty="0" sz="3200" b="1">
                <a:latin typeface="Consolas"/>
                <a:cs typeface="Consolas"/>
                <a:ea typeface="Consolas"/>
                <a:solidFill>
                  <a:srgbClr val="1A1A2E"/>
                </a:solidFill>
              </a:rPr>
              <a:t>.dt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Модель не понимает timestamp — нужны </a:t>
            </a:r>
            <a:r>
              <a:rPr lang="ru-RU" dirty="0" sz="2000" b="1">
                <a:solidFill>
                  <a:srgbClr val="000000"/>
                </a:solidFill>
              </a:rPr>
              <a:t>смысловые</a:t>
            </a:r>
            <a:r>
              <a:rPr lang="ru-RU" dirty="0" sz="2000">
                <a:solidFill>
                  <a:srgbClr val="000000"/>
                </a:solidFill>
              </a:rPr>
              <a:t xml:space="preserve"> признаки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.dt.dayofweek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.dt.hour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.dt.is_month_end</a:t>
            </a:r>
            <a:r>
              <a:rPr lang="ru-RU" dirty="0" sz="2000">
                <a:solidFill>
                  <a:srgbClr val="000000"/>
                </a:solidFill>
              </a:rPr>
              <a:t xml:space="preserve"> — события и циклы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Час и месяц кодируют через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sin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ns0:m xmlns:ns0="http://schemas.microsoft.com/office/drawing/2010/main">
              <m:oMath xmlns:m="http://schemas.openxmlformats.org/officeDocument/2006/math">
                <m:r>
                  <m:rPr>
                    <m:sty m:val="p"/>
                  </m:rPr>
                  <m:t>cos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цикличности (23:00 близко к 00:00)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Всегда приводите к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datetime64</a:t>
            </a:r>
            <a:r>
              <a:rPr lang="ru-RU" dirty="0" sz="2000">
                <a:solidFill>
                  <a:srgbClr val="000000"/>
                </a:solidFill>
              </a:rPr>
              <a:t xml:space="preserve"> перед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.dt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to_datetime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hour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hour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weekday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dt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dayofweek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Аксессор .dt</a:t>
            </a:r>
          </a:p>
        </p:txBody>
      </p:sp>
      <p:pic>
        <p:nvPicPr>
          <p:cNvPr id="9" name="Picture 8" descr="dt_cyclic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79509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numpy: мост между экосистемами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df.to_numpy()</a:t>
            </a:r>
            <a:r>
              <a:rPr lang="ru-RU" dirty="0" sz="2000">
                <a:solidFill>
                  <a:srgbClr val="000000"/>
                </a:solidFill>
              </a:rPr>
              <a:t xml:space="preserve"> — современный способ в numpy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df.select_dtypes(include=np.number).to_numpy()</a:t>
            </a:r>
            <a:r>
              <a:rPr lang="ru-RU" dirty="0" sz="2000">
                <a:solidFill>
                  <a:srgbClr val="000000"/>
                </a:solidFill>
              </a:rPr>
              <a:t xml:space="preserve"> — только числа для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pd.DataFrame(arr, columns=[...])</a:t>
            </a:r>
            <a:r>
              <a:rPr lang="ru-RU" dirty="0" sz="2000">
                <a:solidFill>
                  <a:srgbClr val="000000"/>
                </a:solidFill>
              </a:rPr>
              <a:t xml:space="preserve"> — из numpy в pandas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Строки в DataFrame →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.to_numpy()</a:t>
            </a:r>
            <a:r>
              <a:rPr lang="ru-RU" dirty="0" sz="2000">
                <a:solidFill>
                  <a:srgbClr val="000000"/>
                </a:solidFill>
              </a:rPr>
              <a:t xml:space="preserve"> даст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object</a:t>
            </a:r>
            <a:r>
              <a:rPr lang="ru-RU" dirty="0" sz="2000">
                <a:solidFill>
                  <a:srgbClr val="000000"/>
                </a:solidFill>
              </a:rPr>
              <a:t>, модель сломается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arr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to_numpy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DataFrame → ndarray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df2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DataFrame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arr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columns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values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устаревший alias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to_numpy()</a:t>
            </a:r>
          </a:p>
        </p:txBody>
      </p:sp>
      <p:pic>
        <p:nvPicPr>
          <p:cNvPr id="9" name="Picture 8" descr="to_numpy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Опасности склейки таблиц: merge и concat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Cartesian product</a:t>
            </a:r>
            <a:r>
              <a:rPr lang="ru-RU" dirty="0" sz="2000">
                <a:solidFill>
                  <a:srgbClr val="000000"/>
                </a:solidFill>
              </a:rPr>
              <a:t xml:space="preserve"> в merge: неуникальный ключ в B размножает строки A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Всегда проверяйте уникальность ключей перед join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pd.concat([df1, df2], axis=1)</a:t>
            </a:r>
            <a:r>
              <a:rPr lang="ru-RU" dirty="0" sz="2000">
                <a:solidFill>
                  <a:srgbClr val="000000"/>
                </a:solidFill>
              </a:rPr>
              <a:t xml:space="preserve"> склеивает </a:t>
            </a:r>
            <a:r>
              <a:rPr lang="ru-RU" dirty="0" sz="2000" b="1">
                <a:solidFill>
                  <a:srgbClr val="000000"/>
                </a:solidFill>
              </a:rPr>
              <a:t>по индексу</a:t>
            </a:r>
            <a:r>
              <a:rPr lang="ru-RU" dirty="0" sz="2000">
                <a:solidFill>
                  <a:srgbClr val="000000"/>
                </a:solidFill>
              </a:rPr>
              <a:t>, не по порядку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После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train_test_split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reset_index(drop=True)</a:t>
            </a:r>
            <a:r>
              <a:rPr lang="ru-RU" dirty="0" sz="2000">
                <a:solidFill>
                  <a:srgbClr val="000000"/>
                </a:solidFill>
              </a:rPr>
              <a:t xml:space="preserve"> перед concat по столбцам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out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merge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users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orders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user_id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how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left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wide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concat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df_a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df_b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axis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merge и concat</a:t>
            </a:r>
          </a:p>
        </p:txBody>
      </p:sp>
      <p:pic>
        <p:nvPicPr>
          <p:cNvPr id="8" name="Picture 7" descr="merge_carte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9049" y="1371600"/>
            <a:ext cx="2905876" cy="2025396"/>
          </a:xfrm>
          <a:prstGeom prst="rect">
            <a:avLst/>
          </a:prstGeom>
        </p:spPr>
      </p:pic>
      <p:pic>
        <p:nvPicPr>
          <p:cNvPr id="9" name="Picture 8" descr="concat_index_tr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8019" y="3707891"/>
            <a:ext cx="2227935" cy="20253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merge_asof: асинхронный join для временных рядов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Классический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merge</a:t>
            </a:r>
            <a:r>
              <a:rPr lang="ru-RU" dirty="0" sz="2000">
                <a:solidFill>
                  <a:srgbClr val="000000"/>
                </a:solidFill>
              </a:rPr>
              <a:t xml:space="preserve"> требует точного совпадения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pd.merge_asof()</a:t>
            </a:r>
            <a:r>
              <a:rPr lang="ru-RU" dirty="0" sz="2000">
                <a:solidFill>
                  <a:srgbClr val="000000"/>
                </a:solidFill>
              </a:rPr>
              <a:t xml:space="preserve"> — join по </a:t>
            </a:r>
            <a:r>
              <a:rPr lang="ru-RU" dirty="0" sz="2000" b="1">
                <a:solidFill>
                  <a:srgbClr val="000000"/>
                </a:solidFill>
              </a:rPr>
              <a:t>ближайшему</a:t>
            </a:r>
            <a:r>
              <a:rPr lang="ru-RU" dirty="0" sz="2000">
                <a:solidFill>
                  <a:srgbClr val="000000"/>
                </a:solidFill>
              </a:rPr>
              <a:t xml:space="preserve"> времени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транзакции + курс валют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direction='backward'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Нужен для признаков «курс/погода на момент события»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553456"/>
            <a:ext cx="6172200" cy="8839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5991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merge_asof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quotes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sort_values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time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trades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sort_values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time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time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direction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backward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Ближайшее прошлое событие</a:t>
            </a:r>
          </a:p>
        </p:txBody>
      </p:sp>
      <p:pic>
        <p:nvPicPr>
          <p:cNvPr id="11" name="Picture 10" descr="merge_asof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54505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sklearn: где возникают проблемы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sklearn игнорирует имена столбцов и индексы — только позиции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Разные категории Train/Test → разное число OHE-столбцов →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handle_unknown='ignore'</a:t>
            </a:r>
            <a:r>
              <a:rPr lang="ru-RU" dirty="0" sz="2000">
                <a:solidFill>
                  <a:srgbClr val="000000"/>
                </a:solidFill>
              </a:rPr>
              <a:t xml:space="preserve"> в Pipeline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Старые индексы после split → NaN при склейке →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reset_index(drop=True)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Все fit-зависимые шаги — внутри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drop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columns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target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target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select_dtypes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number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Только числовые столбцы</a:t>
            </a:r>
          </a:p>
        </p:txBody>
      </p:sp>
      <p:pic>
        <p:nvPicPr>
          <p:cNvPr id="9" name="Picture 8" descr="pandas_sklearn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59782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&lt;-&gt; PyTorch: создание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Путь: pandas → numpy →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torch.from_numpy()</a:t>
            </a:r>
            <a:r>
              <a:rPr lang="ru-RU" dirty="0" sz="2000">
                <a:solidFill>
                  <a:srgbClr val="000000"/>
                </a:solidFill>
              </a:rPr>
              <a:t xml:space="preserve"> →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TensorDataset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torch.from_numpy(X)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a:r>
              <a:rPr lang="ru-RU" dirty="0" sz="2000" b="1">
                <a:solidFill>
                  <a:srgbClr val="000000"/>
                </a:solidFill>
              </a:rPr>
              <a:t>разделяет память</a:t>
            </a:r>
            <a:r>
              <a:rPr lang="ru-RU" dirty="0" sz="2000">
                <a:solidFill>
                  <a:srgbClr val="000000"/>
                </a:solidFill>
              </a:rPr>
              <a:t xml:space="preserve"> с numpy — изменение X меняет тензор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Независимость: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torch.tensor(X)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.copy()</a:t>
            </a:r>
            <a:r>
              <a:rPr lang="ru-RU" dirty="0" sz="2000">
                <a:solidFill>
                  <a:srgbClr val="000000"/>
                </a:solidFill>
              </a:rPr>
              <a:t xml:space="preserve"> перед конвертацией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Явно задавайте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dtype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object</a:t>
            </a:r>
            <a:r>
              <a:rPr lang="ru-RU" dirty="0" sz="2000">
                <a:solidFill>
                  <a:srgbClr val="000000"/>
                </a:solidFill>
              </a:rPr>
              <a:t>/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int64</a:t>
            </a:r>
            <a:r>
              <a:rPr lang="ru-RU" dirty="0" sz="2000">
                <a:solidFill>
                  <a:srgbClr val="000000"/>
                </a:solidFill>
              </a:rPr>
              <a:t xml:space="preserve"> для float-тензоров не подходят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torch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tensor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cols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to_numpy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dtype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torch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float32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torch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tensor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to_numpy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DataFrame → tensor</a:t>
            </a:r>
          </a:p>
        </p:txBody>
      </p:sp>
      <p:pic>
        <p:nvPicPr>
          <p:cNvPr id="8" name="Picture 7" descr="pandas_pytorch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Data Leakage: где прячется в pandas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Импутация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fillna(mean())</a:t>
            </a:r>
            <a:r>
              <a:rPr lang="ru-RU" dirty="0" sz="2000">
                <a:solidFill>
                  <a:srgbClr val="000000"/>
                </a:solidFill>
              </a:rPr>
              <a:t xml:space="preserve">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классическая утечка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Target Encoding вне Pipeline — утечка таргета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Индекс как сигнал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timestamp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user_id</a:t>
            </a:r>
            <a:r>
              <a:rPr lang="ru-RU" dirty="0" sz="2000">
                <a:solidFill>
                  <a:srgbClr val="000000"/>
                </a:solidFill>
              </a:rPr>
              <a:t xml:space="preserve">) если забыли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Случайный join по старым индексам после split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Решение: fit-зависимые шаги 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sklearn.Pipeline</a:t>
            </a:r>
            <a:r>
              <a:rPr lang="ru-RU" dirty="0" sz="2000">
                <a:solidFill>
                  <a:srgbClr val="000000"/>
                </a:solidFill>
              </a:rPr>
              <a:t>; pandas — загрузка и EDA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test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train_test_split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mu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train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mean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статистика только с train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test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test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fillna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mu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Impute после split</a:t>
            </a:r>
          </a:p>
        </p:txBody>
      </p:sp>
      <p:pic>
        <p:nvPicPr>
          <p:cNvPr id="9" name="Picture 8" descr="pandas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Итеративная обработка: когда файл не влезает в 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50 ГБ CSV при 16 ГБ RAM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read_csv()</a:t>
            </a:r>
            <a:r>
              <a:rPr lang="ru-RU" dirty="0" sz="2000">
                <a:solidFill>
                  <a:srgbClr val="000000"/>
                </a:solidFill>
              </a:rPr>
              <a:t xml:space="preserve"> упадёт с OOM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chunksize</a:t>
            </a:r>
            <a:r>
              <a:rPr lang="ru-RU" dirty="0" sz="2000">
                <a:solidFill>
                  <a:srgbClr val="000000"/>
                </a:solidFill>
              </a:rPr>
              <a:t xml:space="preserve"> 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read_csv()</a:t>
            </a:r>
            <a:r>
              <a:rPr lang="ru-RU" dirty="0" sz="2000">
                <a:solidFill>
                  <a:srgbClr val="000000"/>
                </a:solidFill>
              </a:rPr>
              <a:t xml:space="preserve"> — итератор порций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Обрабатывайте chunk, накапливайте статистики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Альтернатива: Parquet + фильтрация через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pyarrow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chunks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read_csv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big.csv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chunksize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100_000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for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chunk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in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chunks</a:t>
            </a:r>
            <a:r>
              <a:rPr sz="1100">
                <a:solidFill>
                  <a:srgbClr val="000000"/>
                </a:solidFill>
                <a:latin typeface="Consolas"/>
              </a:rPr>
              <a:t>: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process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chunk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обработка по частям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read_csv(chunksize=...)</a:t>
            </a:r>
          </a:p>
        </p:txBody>
      </p:sp>
      <p:pic>
        <p:nvPicPr>
          <p:cNvPr id="9" name="Picture 8" descr="read_csv_chu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59782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Профилирование данных: автоматический EDA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Ручной EDA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info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describe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value_counts</a:t>
            </a:r>
            <a:r>
              <a:rPr lang="ru-RU" dirty="0" sz="2000">
                <a:solidFill>
                  <a:srgbClr val="000000"/>
                </a:solidFill>
              </a:rPr>
              <a:t>) — часы на новом датасете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ydata-profiling</a:t>
            </a:r>
            <a:r>
              <a:rPr lang="ru-RU" dirty="0" sz="2000">
                <a:solidFill>
                  <a:srgbClr val="000000"/>
                </a:solidFill>
              </a:rPr>
              <a:t xml:space="preserve"> (бывш.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pandas-profiling</a:t>
            </a:r>
            <a:r>
              <a:rPr lang="ru-RU" dirty="0" sz="2000">
                <a:solidFill>
                  <a:srgbClr val="000000"/>
                </a:solidFill>
              </a:rPr>
              <a:t>) — HTML-отчёт одной командой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Отчёт: распределения, корреляции, пропуски, дубликаты, предупреждения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Стандарт индустрии для быстрого знакомства с данными</a:t>
            </a:r>
          </a:p>
        </p:txBody>
      </p:sp>
      <p:pic>
        <p:nvPicPr>
          <p:cNvPr id="4" name="Picture 3" descr="profiling_report_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69177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43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400">
                <a:solidFill>
                  <a:srgbClr val="3366CC"/>
                </a:solidFill>
              </a:rPr>
              <a:t xml:space="preserve">Документация ydata-profiling: </a:t>
            </a:r>
            <a:r>
              <a:rPr sz="1400">
                <a:solidFill>
                  <a:srgbClr val="3366CC"/>
                </a:solidFill>
                <a:hlinkClick r:id="rId3"/>
              </a:rPr>
              <a:t>https://docs.profiling.ydata.ai/</a:t>
            </a:r>
          </a:p>
        </p:txBody>
      </p:sp>
      <p:pic>
        <p:nvPicPr>
          <p:cNvPr id="6" name="Picture 5" descr="_qr_te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0" y="411480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Производительность: когда pandas «не тянет»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pandas однопоточный — не для огромных данных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iterrows</a:t>
            </a:r>
            <a:r>
              <a:rPr lang="ru-RU" dirty="0" sz="2000">
                <a:solidFill>
                  <a:srgbClr val="000000"/>
                </a:solidFill>
              </a:rPr>
              <a:t xml:space="preserve"> /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itertuples</a:t>
            </a:r>
            <a:r>
              <a:rPr lang="ru-RU" dirty="0" sz="2000">
                <a:solidFill>
                  <a:srgbClr val="000000"/>
                </a:solidFill>
              </a:rPr>
              <a:t xml:space="preserve"> — заменять векторизацией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apply</a:t>
            </a:r>
            <a:r>
              <a:rPr lang="ru-RU" dirty="0" sz="2000">
                <a:solidFill>
                  <a:srgbClr val="000000"/>
                </a:solidFill>
              </a:rPr>
              <a:t xml:space="preserve"> с Python-функцией — ~100× медленнее векторизации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Первая линия: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.str</a:t>
            </a:r>
            <a:r>
              <a:rPr lang="ru-RU" dirty="0" sz="2000">
                <a:solidFill>
                  <a:srgbClr val="000000"/>
                </a:solidFill>
              </a:rPr>
              <a:t xml:space="preserve">, numpy,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np.where</a:t>
            </a:r>
            <a:r>
              <a:rPr lang="ru-RU" dirty="0" sz="2000">
                <a:solidFill>
                  <a:srgbClr val="000000"/>
                </a:solidFill>
              </a:rPr>
              <a:t xml:space="preserve"> вместо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apply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x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*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A070"/>
                </a:solidFill>
                <a:latin typeface="Consolas"/>
              </a:rPr>
              <a:t>2</a:t>
            </a:r>
            <a:r>
              <a:rPr sz="1100">
                <a:solidFill>
                  <a:srgbClr val="000000"/>
                </a:solidFill>
                <a:latin typeface="Consolas"/>
              </a:rPr>
              <a:t>            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векторизация — быстро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for i in range(len(df)): ...  # цикл — медленно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Векторизация vs цикл</a:t>
            </a:r>
          </a:p>
        </p:txBody>
      </p:sp>
      <p:pic>
        <p:nvPicPr>
          <p:cNvPr id="8" name="Picture 7" descr="perf_vector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1211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Оптимизация памяти: downcasting типов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По умолчанию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float64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int64</a:t>
            </a:r>
            <a:r>
              <a:rPr lang="ru-RU" dirty="0" sz="2000">
                <a:solidFill>
                  <a:srgbClr val="000000"/>
                </a:solidFill>
              </a:rPr>
              <a:t xml:space="preserve"> — расточительно для ML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astype('category')</a:t>
            </a:r>
            <a:r>
              <a:rPr lang="ru-RU" dirty="0" sz="2000">
                <a:solidFill>
                  <a:srgbClr val="000000"/>
                </a:solidFill>
              </a:rPr>
              <a:t xml:space="preserve"> для строк — экономия в 10–100×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float32</a:t>
            </a:r>
            <a:r>
              <a:rPr lang="ru-RU" dirty="0" sz="2000">
                <a:solidFill>
                  <a:srgbClr val="000000"/>
                </a:solidFill>
              </a:rPr>
              <a:t xml:space="preserve"> вместо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float64</a:t>
            </a:r>
            <a:r>
              <a:rPr lang="ru-RU" dirty="0" sz="2000">
                <a:solidFill>
                  <a:srgbClr val="000000"/>
                </a:solidFill>
              </a:rPr>
              <a:t xml:space="preserve"> — обычно достаточно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pd.to_numeric(..., downcast='integer')</a:t>
            </a:r>
            <a:r>
              <a:rPr lang="ru-RU" dirty="0" sz="2000">
                <a:solidFill>
                  <a:srgbClr val="000000"/>
                </a:solidFill>
              </a:rPr>
              <a:t xml:space="preserve"> — автоматический downcast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693156"/>
            <a:ext cx="6172200" cy="7442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small_int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to_numeric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small_int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downcast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integer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astype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category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Меньше байт на ячейку</a:t>
            </a:r>
          </a:p>
        </p:txBody>
      </p:sp>
      <p:pic>
        <p:nvPicPr>
          <p:cNvPr id="10" name="Picture 9" descr="dtype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2104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Форматы хранения: Смерть CSV и восстание Parquet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CSV не сохраняет типы: ID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007</a:t>
            </a:r>
            <a:r>
              <a:rPr lang="ru-RU" dirty="0" sz="2000">
                <a:solidFill>
                  <a:srgbClr val="000000"/>
                </a:solidFill>
              </a:rPr>
              <a:t>→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7</a:t>
            </a:r>
            <a:r>
              <a:rPr lang="ru-RU" dirty="0" sz="2000">
                <a:solidFill>
                  <a:srgbClr val="000000"/>
                </a:solidFill>
              </a:rPr>
              <a:t>, даты→строки, категории→object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CSV медленен на больших датасетах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Parquet</a:t>
            </a:r>
            <a:r>
              <a:rPr lang="ru-RU" dirty="0" sz="2000">
                <a:solidFill>
                  <a:srgbClr val="000000"/>
                </a:solidFill>
              </a:rPr>
              <a:t xml:space="preserve"> — колоночный формат, типы pandas, сжатие 5–10×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CSV — отчёт бизнесу; внутри ML-пайплайна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.to_parquet()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to_parquet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data.parquet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index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pd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read_parquet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data.parquet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solidFill>
                  <a:srgbClr val="60A0B0"/>
                </a:solidFill>
                <a:latin typeface="Consolas"/>
              </a:rPr>
              <a:t># типы и сжатие сохраняются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Parquet вместо CSV</a:t>
            </a:r>
          </a:p>
        </p:txBody>
      </p:sp>
      <p:pic>
        <p:nvPicPr>
          <p:cNvPr id="9" name="Picture 8" descr="csv_vs_parqu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Экспорт в продакшен: SQL и другие форматы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to_sql(..., index=False)</a:t>
            </a:r>
            <a:r>
              <a:rPr lang="ru-RU" dirty="0" sz="2000">
                <a:solidFill>
                  <a:srgbClr val="000000"/>
                </a:solidFill>
              </a:rPr>
              <a:t xml:space="preserve"> — интеграция с БД через SQLAlchemy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to_json()</a:t>
            </a:r>
            <a:r>
              <a:rPr lang="ru-RU" dirty="0" sz="2000">
                <a:solidFill>
                  <a:srgbClr val="000000"/>
                </a:solidFill>
              </a:rPr>
              <a:t xml:space="preserve"> — REST API и веб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to_feather()</a:t>
            </a:r>
            <a:r>
              <a:rPr lang="ru-RU" dirty="0" sz="2000">
                <a:solidFill>
                  <a:srgbClr val="000000"/>
                </a:solidFill>
              </a:rPr>
              <a:t xml:space="preserve"> — быстрый бинарный промежуточный формат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Всегда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index=False</a:t>
            </a:r>
            <a:r>
              <a:rPr lang="ru-RU" dirty="0" sz="2000">
                <a:solidFill>
                  <a:srgbClr val="000000"/>
                </a:solidFill>
              </a:rPr>
              <a:t xml:space="preserve"> при экспорте — иначе лишний столбец</a:t>
            </a:r>
          </a:p>
        </p:txBody>
      </p:sp>
      <p:pic>
        <p:nvPicPr>
          <p:cNvPr id="4" name="Picture 3" descr="export_forma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1211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Альтернативы: что использовать, когда pandas не справляется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Polars</a:t>
            </a:r>
            <a:r>
              <a:rPr lang="ru-RU" dirty="0" sz="2000">
                <a:solidFill>
                  <a:srgbClr val="000000"/>
                </a:solidFill>
              </a:rPr>
              <a:t xml:space="preserve"> (Rust) — ленивые вычисления, 10–100× быстрее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Dask</a:t>
            </a:r>
            <a:r>
              <a:rPr lang="ru-RU" dirty="0" sz="2000">
                <a:solidFill>
                  <a:srgbClr val="000000"/>
                </a:solidFill>
              </a:rPr>
              <a:t xml:space="preserve"> — распределённый pandas, данные &gt; RAM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DuckDB</a:t>
            </a:r>
            <a:r>
              <a:rPr lang="ru-RU" dirty="0" sz="2000">
                <a:solidFill>
                  <a:srgbClr val="000000"/>
                </a:solidFill>
              </a:rPr>
              <a:t xml:space="preserve"> — SQL-аналитика поверх файлов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pandas — EDA и &lt; 1–2 ГБ; продакшен чаще Polars/DuckDB</a:t>
            </a:r>
          </a:p>
        </p:txBody>
      </p:sp>
      <p:pic>
        <p:nvPicPr>
          <p:cNvPr id="4" name="Picture 3" descr="alternative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11211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Pandas и GPU: разрушение мифов и экосистема RAPIDS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Миф: «pandas на GPU из коробки» — </a:t>
            </a:r>
            <a:r>
              <a:rPr lang="ru-RU" dirty="0" sz="2000" b="1">
                <a:solidFill>
                  <a:srgbClr val="000000"/>
                </a:solidFill>
              </a:rPr>
              <a:t>нативный pandas только CPU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cuDF</a:t>
            </a:r>
            <a:r>
              <a:rPr lang="ru-RU" dirty="0" sz="2000">
                <a:solidFill>
                  <a:srgbClr val="000000"/>
                </a:solidFill>
              </a:rPr>
              <a:t xml:space="preserve"> (NVIDIA RAPIDS) — API как pandas, вычисления на GPU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cudf.pandas</a:t>
            </a:r>
            <a:r>
              <a:rPr lang="ru-RU" dirty="0" sz="2000">
                <a:solidFill>
                  <a:srgbClr val="000000"/>
                </a:solidFill>
              </a:rPr>
              <a:t xml:space="preserve"> — перехват вызовов GPU/CPU автоматически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 VRAM данные передаёт PyTorch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tensor.to('cuda')</a:t>
            </a:r>
            <a:r>
              <a:rPr lang="ru-RU" dirty="0" sz="2000">
                <a:solidFill>
                  <a:srgbClr val="000000"/>
                </a:solidFill>
              </a:rPr>
              <a:t>), не pandas</a:t>
            </a:r>
          </a:p>
        </p:txBody>
      </p:sp>
      <p:pic>
        <p:nvPicPr>
          <p:cNvPr id="4" name="Picture 3" descr="rapids_gpu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829196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Гигиена памяти в Jupyter: борьба с 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Jupyter хранит ссылки на старые датафреймы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_</a:t>
            </a:r>
            <a:r>
              <a:rPr lang="ru-RU" dirty="0" sz="2000">
                <a:solidFill>
                  <a:srgbClr val="000000"/>
                </a:solidFill>
              </a:rPr>
              <a:t>, история выводов)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Переопределение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df1</a:t>
            </a:r>
            <a:r>
              <a:rPr lang="ru-RU" dirty="0" sz="2000">
                <a:solidFill>
                  <a:srgbClr val="000000"/>
                </a:solidFill>
              </a:rPr>
              <a:t xml:space="preserve"> не освобождает память сразу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del df_old</a:t>
            </a:r>
            <a:r>
              <a:rPr lang="ru-RU" dirty="0" sz="2000">
                <a:solidFill>
                  <a:srgbClr val="000000"/>
                </a:solidFill>
              </a:rPr>
              <a:t xml:space="preserve"> +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gc.collect()</a:t>
            </a:r>
            <a:r>
              <a:rPr lang="ru-RU" dirty="0" sz="2000">
                <a:solidFill>
                  <a:srgbClr val="000000"/>
                </a:solidFill>
              </a:rPr>
              <a:t xml:space="preserve"> перед тяжёлой моделью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Явное управление памятью — навык для больших ноутбуков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972556"/>
            <a:ext cx="6172200" cy="4648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del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big_df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df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need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only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cols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copy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del + gc.collect()</a:t>
            </a:r>
          </a:p>
        </p:txBody>
      </p:sp>
      <p:pic>
        <p:nvPicPr>
          <p:cNvPr id="8" name="Picture 7" descr="jupyter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Итоговая ментальная модель pandas для ML-инженера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pandas = EDA и первичная очистка, не тяжёлые продакшен-трансформации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Индекс — ключ; помните при join/merge/concat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.copy()</a:t>
            </a:r>
            <a:r>
              <a:rPr lang="ru-RU" dirty="0" sz="2000">
                <a:solidFill>
                  <a:srgbClr val="000000"/>
                </a:solidFill>
              </a:rPr>
              <a:t xml:space="preserve"> /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.loc</a:t>
            </a:r>
            <a:r>
              <a:rPr lang="ru-RU" dirty="0" sz="2000">
                <a:solidFill>
                  <a:srgbClr val="000000"/>
                </a:solidFill>
              </a:rPr>
              <a:t>; векторизация &gt; apply &gt; iterrows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Fit-зависимое — в Pipeline; перед моделью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.to_numpy()</a:t>
            </a:r>
            <a:r>
              <a:rPr lang="ru-RU" dirty="0" sz="2000">
                <a:solidFill>
                  <a:srgbClr val="000000"/>
                </a:solidFill>
              </a:rPr>
              <a:t xml:space="preserve"> +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reset_index()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Промежуточные данные — Parquet; GPU — cuDF/PyTorch, не pandas</a:t>
            </a:r>
          </a:p>
        </p:txBody>
      </p:sp>
      <p:pic>
        <p:nvPicPr>
          <p:cNvPr id="4" name="Picture 3" descr="pandas_m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259782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Чек-лист перед обучением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df.info()</a:t>
            </a:r>
            <a:r>
              <a:rPr lang="ru-RU" dirty="0" sz="2000">
                <a:solidFill>
                  <a:srgbClr val="000000"/>
                </a:solidFill>
              </a:rPr>
              <a:t xml:space="preserve"> — типы и пропуски;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describe()</a:t>
            </a:r>
            <a:r>
              <a:rPr lang="ru-RU" dirty="0" sz="2000">
                <a:solidFill>
                  <a:srgbClr val="000000"/>
                </a:solidFill>
              </a:rPr>
              <a:t xml:space="preserve"> — аномалии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value_counts()</a:t>
            </a:r>
            <a:r>
              <a:rPr lang="ru-RU" dirty="0" sz="2000">
                <a:solidFill>
                  <a:srgbClr val="000000"/>
                </a:solidFill>
              </a:rPr>
              <a:t xml:space="preserve"> /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corr()</a:t>
            </a:r>
            <a:r>
              <a:rPr lang="ru-RU" dirty="0" sz="2000">
                <a:solidFill>
                  <a:srgbClr val="000000"/>
                </a:solidFill>
              </a:rPr>
              <a:t xml:space="preserve"> — кардинальность и мультиколлинеарность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drop_duplicates</a:t>
            </a:r>
            <a:r>
              <a:rPr lang="ru-RU" dirty="0" sz="2000">
                <a:solidFill>
                  <a:srgbClr val="000000"/>
                </a:solidFill>
              </a:rPr>
              <a:t xml:space="preserve">; кодирование категорий; импутация </a:t>
            </a:r>
            <a:r>
              <a:rPr lang="ru-RU" dirty="0" sz="2000" b="1">
                <a:solidFill>
                  <a:srgbClr val="000000"/>
                </a:solidFill>
              </a:rPr>
              <a:t>не по всему датасету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train_test_split</a:t>
            </a:r>
            <a:r>
              <a:rPr lang="ru-RU" dirty="0" sz="2000">
                <a:solidFill>
                  <a:srgbClr val="000000"/>
                </a:solidFill>
              </a:rPr>
              <a:t xml:space="preserve"> до глобальных трансформаций; X,y → numpy с правильным dtype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Проверка NaN/inf; Pipeline;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del</a:t>
            </a:r>
            <a:r>
              <a:rPr lang="ru-RU" dirty="0" sz="2000">
                <a:solidFill>
                  <a:srgbClr val="000000"/>
                </a:solidFill>
              </a:rPr>
              <a:t xml:space="preserve"> +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gc.collect()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McKinney W. (2010). Data Structures for Statistical Computing in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Wickham H. (2014). Tidy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Reback J., McKinney W., et al. (2020). pandas: powerful Python data analysis toolkit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https://colab.research.google.com/github/gurovic/ml-lessons/blob/main/lessons/pandas/code.ipynb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https://colab.research.google.com/github/gurovic/ml-lessons/blob/main/lessons/pandas/project.ipynb</a:t>
            </a:r>
          </a:p>
        </p:txBody>
      </p:sp>
      <p:pic>
        <p:nvPicPr>
          <p:cNvPr id="10" name="Picture 9" descr="_qr_ref_32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32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