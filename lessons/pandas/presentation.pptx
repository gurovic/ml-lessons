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dtypes и .values/.to_numpy() на примере.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filter → ragged index → reset_index.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mask.sum() и ошибку без скобок.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пункты вслух на реальном датасете.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docs.profiling.ydata.ai/" TargetMode="External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ference.scipy.org/proceedings/scipy2010/mckinney.html" TargetMode="External"/><Relationship Id="rId3" Type="http://schemas.openxmlformats.org/officeDocument/2006/relationships/hyperlink" Target="https://doi.org/10.18637/jss.v059.i10" TargetMode="External"/><Relationship Id="rId4" Type="http://schemas.openxmlformats.org/officeDocument/2006/relationships/hyperlink" Target="https://doi.org/10.21105/joss.03396" TargetMode="External"/><Relationship Id="rId5" Type="http://schemas.openxmlformats.org/officeDocument/2006/relationships/hyperlink" Target="https://colab.research.google.com/github/gurovic/ml-lessons/blob/feature/references-and-slide-code/lessons/pandas/code.ipynb" TargetMode="External"/><Relationship Id="rId6" Type="http://schemas.openxmlformats.org/officeDocument/2006/relationships/hyperlink" Target="https://colab.research.google.com/github/gurovic/ml-lessons/blob/feature/references-and-slide-code/lessons/pandas/project.ipynb" TargetMode="External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Философия pandas: это не Excel, а numpy с индексами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pandas — </a:t>
            </a:r>
            <a:r>
              <a:rPr lang="ru-RU" dirty="0" sz="2000" b="1">
                <a:solidFill>
                  <a:srgbClr val="000000"/>
                </a:solidFill>
              </a:rPr>
              <a:t>удобная надстройка над numpy</a:t>
            </a:r>
            <a:r>
              <a:rPr lang="ru-RU" dirty="0" sz="2000">
                <a:solidFill>
                  <a:srgbClr val="000000"/>
                </a:solidFill>
              </a:rPr>
              <a:t>, а не самостоятельная сущность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Числовой столбец внутри — непрерывный numpy-массив (быстро и эффективно)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Столбец `object` — указатели на Python-объекты (медленно); современный стандарт — `string[pyarrow]`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Главное отличие от numpy — </a:t>
            </a:r>
            <a:r>
              <a:rPr lang="ru-RU" dirty="0" sz="2000" b="1">
                <a:solidFill>
                  <a:srgbClr val="000000"/>
                </a:solidFill>
              </a:rPr>
              <a:t>индексы (метки строк)</a:t>
            </a:r>
            <a:r>
              <a:rPr lang="ru-RU" dirty="0" sz="2000">
                <a:solidFill>
                  <a:srgbClr val="000000"/>
                </a:solidFill>
              </a:rPr>
              <a:t>: словарь, а не матрица</a:t>
            </a:r>
          </a:p>
        </p:txBody>
      </p:sp>
      <p:pic>
        <p:nvPicPr>
          <p:cNvPr id="4" name="Picture 3" descr="pandas_numpy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03809"/>
            <a:ext cx="4343400" cy="29247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Индекс — это не «номер строки», а ключ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Позиция (</a:t>
            </a:r>
            <ns0:m xmlns:ns0="http://schemas.microsoft.com/office/drawing/2010/main">
              <m:oMath xmlns:m="http://schemas.openxmlformats.org/officeDocument/2006/math">
                <m:r>
                  <m:t>0,1,2…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и </a:t>
            </a:r>
            <a:r>
              <a:rPr lang="ru-RU" dirty="0" sz="2000" b="1">
                <a:solidFill>
                  <a:srgbClr val="000000"/>
                </a:solidFill>
              </a:rPr>
              <a:t>метка индекса</a:t>
            </a:r>
            <a:r>
              <a:rPr lang="ru-RU" dirty="0" sz="2000">
                <a:solidFill>
                  <a:srgbClr val="000000"/>
                </a:solidFill>
              </a:rPr>
              <a:t xml:space="preserve"> — разные вещи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фильтрации, merge или сортировки индексы становятся «рваными»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`reset_index(drop=True)` — базовая операция после 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индексы, но при склейке в pandas несовпадение даст неожиданные NaN</a:t>
            </a:r>
          </a:p>
        </p:txBody>
      </p:sp>
      <p:pic>
        <p:nvPicPr>
          <p:cNvPr id="4" name="Picture 3" descr="index_ragged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Булева индексация — магия numpy внутри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`df[df['age'] &gt; 30]` — маска numpy внутри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1: `df['age'] &gt; 30` → булев массив `[True, False, True, \ldots]`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Шаг 2: `df[mask]` возвращает строки, где `True` — прямое наследие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Составные условия: `&amp;`, `|`, `~` (не `and`/`or`); </a:t>
            </a:r>
            <a:r>
              <a:rPr lang="ru-RU" dirty="0" sz="2000" b="1">
                <a:solidFill>
                  <a:srgbClr val="000000"/>
                </a:solidFill>
              </a:rPr>
              <a:t>каждое условие в скобках</a:t>
            </a:r>
          </a:p>
        </p:txBody>
      </p:sp>
      <p:pic>
        <p:nvPicPr>
          <p:cNvPr id="4" name="Picture 3" descr="boolean_mas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17026"/>
            <a:ext cx="4343400" cy="12982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Три способа обратиться к данным: `[]`, `.loc`, `.iloc`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`df['col']` — столбец по имени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`.iloc[i, j]` — доступ </a:t>
            </a:r>
            <a:r>
              <a:rPr lang="ru-RU" dirty="0" sz="2000" b="1">
                <a:solidFill>
                  <a:srgbClr val="000000"/>
                </a:solidFill>
              </a:rPr>
              <a:t>по позиции</a:t>
            </a:r>
            <a:r>
              <a:rPr lang="ru-RU" dirty="0" sz="2000">
                <a:solidFill>
                  <a:srgbClr val="000000"/>
                </a:solidFill>
              </a:rPr>
              <a:t xml:space="preserve"> (как numpy); индексы игнорируются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`.loc[label, col]` — доступ </a:t>
            </a:r>
            <a:r>
              <a:rPr lang="ru-RU" dirty="0" sz="2000" b="1">
                <a:solidFill>
                  <a:srgbClr val="000000"/>
                </a:solidFill>
              </a:rPr>
              <a:t>по метке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Присваивание — через `.loc`; перед sklearn удобнее `.iloc` (позиционная индексация)</a:t>
            </a:r>
          </a:p>
        </p:txBody>
      </p:sp>
      <p:pic>
        <p:nvPicPr>
          <p:cNvPr id="4" name="Picture 3" descr="loc_vs_i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55813"/>
            <a:ext cx="4343400" cy="30206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Самая большая боль: SettingWithCopyWarning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не всегда понимает: вы меняете оригинал или копию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`subset = df[df['age'] &gt; 30]; subset['new_col'] = 1` — </a:t>
            </a:r>
            <a:r>
              <a:rPr lang="ru-RU" dirty="0" sz="2000" b="1">
                <a:solidFill>
                  <a:srgbClr val="000000"/>
                </a:solidFill>
              </a:rPr>
              <a:t>Warning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Изменения могут не попасть в `df` или перезаписать данные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`.copy()` или `df.loc[mask, 'col'] = value`</a:t>
            </a:r>
          </a:p>
        </p:txBody>
      </p:sp>
      <p:pic>
        <p:nvPicPr>
          <p:cNvPr id="4" name="Picture 3" descr="setting_with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View vs Copy: архитектурная проблема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View</a:t>
            </a:r>
            <a:r>
              <a:rPr lang="ru-RU" dirty="0" sz="2000">
                <a:solidFill>
                  <a:srgbClr val="000000"/>
                </a:solidFill>
              </a:rPr>
              <a:t xml:space="preserve"> — разделяет память с оригиналом; </a:t>
            </a:r>
            <a:r>
              <a:rPr lang="ru-RU" dirty="0" sz="2000" b="1">
                <a:solidFill>
                  <a:srgbClr val="000000"/>
                </a:solidFill>
              </a:rPr>
              <a:t>Copy</a:t>
            </a:r>
            <a:r>
              <a:rPr lang="ru-RU" dirty="0" sz="2000">
                <a:solidFill>
                  <a:srgbClr val="000000"/>
                </a:solidFill>
              </a:rPr>
              <a:t xml:space="preserve"> — независимые данные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Исторически pandas решает «по ситуации» → неопределённость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Copy-on-Write</a:t>
            </a:r>
            <a:r>
              <a:rPr lang="ru-RU" dirty="0" sz="2000">
                <a:solidFill>
                  <a:srgbClr val="000000"/>
                </a:solidFill>
              </a:rPr>
              <a:t xml:space="preserve"> (pandas 2.0+): `pd.options.mode.copy_on_write = True`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ML: `.copy()` при создании новых признаков, если не уверены</a:t>
            </a:r>
          </a:p>
        </p:txBody>
      </p:sp>
      <p:pic>
        <p:nvPicPr>
          <p:cNvPr id="4" name="Picture 3" descr="view_vs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73949"/>
            <a:ext cx="4343400" cy="13844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Пропуски: NaN, None, NaT и эволюция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«пустые»: `np.nan` (числа), `None` (object), `pd.NaT` (время)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`df.isnull().sum()` — первый шаг диагностики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Раньше пропуск в `int64` → весь столбец во `float64`; сейчас </a:t>
            </a:r>
            <a:r>
              <a:rPr lang="ru-RU" dirty="0" sz="2000" b="1">
                <a:solidFill>
                  <a:srgbClr val="000000"/>
                </a:solidFill>
              </a:rPr>
              <a:t>Nullable</a:t>
            </a:r>
            <a:r>
              <a:rPr lang="ru-RU" dirty="0" sz="2000">
                <a:solidFill>
                  <a:srgbClr val="000000"/>
                </a:solidFill>
              </a:rPr>
              <a:t xml:space="preserve"> (`Int64`, `boolean`, `pd.NA`)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 ML: импутация только по </a:t>
            </a:r>
            <a:r>
              <a:rPr lang="ru-RU" dirty="0" sz="2000" b="1">
                <a:solidFill>
                  <a:srgbClr val="000000"/>
                </a:solidFill>
              </a:rPr>
              <a:t>Train</a:t>
            </a:r>
            <a:r>
              <a:rPr lang="ru-RU" dirty="0" sz="2000">
                <a:solidFill>
                  <a:srgbClr val="000000"/>
                </a:solidFill>
              </a:rPr>
              <a:t>, иначе утечка</a:t>
            </a:r>
          </a:p>
        </p:txBody>
      </p:sp>
      <p:pic>
        <p:nvPicPr>
          <p:cNvPr id="4" name="Picture 3" descr="missin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3431" y="1325880"/>
            <a:ext cx="3207016" cy="2203704"/>
          </a:xfrm>
          <a:prstGeom prst="rect">
            <a:avLst/>
          </a:prstGeom>
        </p:spPr>
      </p:pic>
      <p:pic>
        <p:nvPicPr>
          <p:cNvPr id="5" name="Picture 4" descr="nullable_int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95127"/>
            <a:ext cx="4343400" cy="181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Базовая аналитика: `value_counts()`, `nunique()`, `corr()`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— частоты категорий, дисбаланс классов, мусорные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`nunique()` — кардинальность: 100k уникальных из 100k строк → признак-ID, удалить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`corr()` — мультиколлинеарность (корреляция </a:t>
            </a:r>
            <ns0:m xmlns:ns0="http://schemas.microsoft.com/office/drawing/2010/main">
              <m:oMath xmlns:m="http://schemas.openxmlformats.org/officeDocument/2006/math">
                <m:r>
                  <m:t>&gt;0.9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перед линейными моделями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`describe(include='all')` — числа и категории в одном отчёте</a:t>
            </a:r>
          </a:p>
        </p:txBody>
      </p:sp>
      <p:pic>
        <p:nvPicPr>
          <p:cNvPr id="4" name="Picture 3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247" y="1325880"/>
            <a:ext cx="2557384" cy="2203703"/>
          </a:xfrm>
          <a:prstGeom prst="rect">
            <a:avLst/>
          </a:prstGeom>
        </p:spPr>
      </p:pic>
      <p:pic>
        <p:nvPicPr>
          <p:cNvPr id="5" name="Picture 4" descr="value_count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GroupBy: две операции, которые должен знать ML-инженер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`agg()` — схлопывает группы в одну строку (среднее по группе)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`transform()` — результат </a:t>
            </a:r>
            <a:r>
              <a:rPr lang="ru-RU" dirty="0" sz="2000" b="1">
                <a:solidFill>
                  <a:srgbClr val="000000"/>
                </a:solidFill>
              </a:rPr>
              <a:t>того же размера</a:t>
            </a:r>
            <a:r>
              <a:rPr lang="ru-RU" dirty="0" sz="2000">
                <a:solidFill>
                  <a:srgbClr val="000000"/>
                </a:solidFill>
              </a:rPr>
              <a:t>, что вход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`df['dev'] = df['income'] - df.groupby('city')['income'].transform('mean')`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Без `transform` нельзя создать контекстный признак без потери гранулярности</a:t>
            </a:r>
          </a:p>
        </p:txBody>
      </p:sp>
      <p:pic>
        <p:nvPicPr>
          <p:cNvPr id="4" name="Picture 3" descr="agg_vs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MultiIndex: иерархические индексы после groupby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`groupby(['city','cat']).agg(['mean','std'])` → </a:t>
            </a:r>
            <a:r>
              <a:rPr lang="ru-RU" dirty="0" sz="2000" b="1">
                <a:solidFill>
                  <a:srgbClr val="000000"/>
                </a:solidFill>
              </a:rPr>
              <a:t>двухуровневый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 строк и столбцов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Частая боль: как обратиться к ячейке, как склеить с исходной таблицей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`reset_index()` или `as_index=False` в `groupby()`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Перед моделью или merge — </a:t>
            </a:r>
            <a:r>
              <a:rPr lang="ru-RU" dirty="0" sz="2000" b="1">
                <a:solidFill>
                  <a:srgbClr val="000000"/>
                </a:solidFill>
              </a:rPr>
              <a:t>сбросить MultiIndex</a:t>
            </a:r>
          </a:p>
        </p:txBody>
      </p:sp>
      <p:pic>
        <p:nvPicPr>
          <p:cNvPr id="4" name="Picture 3" descr="multiindex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1473"/>
            <a:ext cx="4343400" cy="12493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Категории: типы кодирования и когда что применять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Ordinal</a:t>
            </a:r>
            <a:r>
              <a:rPr lang="ru-RU" dirty="0" sz="2000">
                <a:solidFill>
                  <a:srgbClr val="000000"/>
                </a:solidFill>
              </a:rPr>
              <a:t xml:space="preserve"> — только упорядоченные (`category` + `.cat.codes`)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One-Hot</a:t>
            </a:r>
            <a:r>
              <a:rPr lang="ru-RU" dirty="0" sz="2000">
                <a:solidFill>
                  <a:srgbClr val="000000"/>
                </a:solidFill>
              </a:rPr>
              <a:t xml:space="preserve"> — неупорядоченные: `pd.get_dummies(..., drop_first=True)`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Target Encoding</a:t>
            </a:r>
            <a:r>
              <a:rPr lang="ru-RU" dirty="0" sz="2000">
                <a:solidFill>
                  <a:srgbClr val="000000"/>
                </a:solidFill>
              </a:rPr>
              <a:t xml:space="preserve"> — среднее таргета; только внутри sklearn `Pipeline`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Числа 0,1,2 для деревьев ок, для линейных моделей — ломает геометрию</a:t>
            </a:r>
          </a:p>
        </p:txBody>
      </p:sp>
      <p:pic>
        <p:nvPicPr>
          <p:cNvPr id="4" name="Picture 3" descr="encod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Feature Engineering: условия, биннинг и отсечение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`np.where` — векторизованные условия, в сотни раз быстрее `apply`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`pd.cut` — равные интервалы; `pd.qcut` — равное число объектов в корзинах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`clip` / Winsorization: `df['x'].clip(upper=quantile(0.99))` — спасает от выбросов без удаления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Линейным моделям помогает биннинг; деревьям — проще разбиения</a:t>
            </a:r>
          </a:p>
        </p:txBody>
      </p:sp>
      <p:pic>
        <p:nvPicPr>
          <p:cNvPr id="4" name="Picture 3" descr="clip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70162"/>
            <a:ext cx="4343400" cy="1515140"/>
          </a:xfrm>
          <a:prstGeom prst="rect">
            <a:avLst/>
          </a:prstGeom>
        </p:spPr>
      </p:pic>
      <p:pic>
        <p:nvPicPr>
          <p:cNvPr id="5" name="Picture 4" descr="cut_b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31" y="3602735"/>
            <a:ext cx="3207016" cy="22037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Работа с текстом: стринговый аксессор `.str`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`.str` — векторизованные операции над строками (база NLP-препроцессинга)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`.str.len()`, `.str.lower()`, `.str.contains()`, `.str.replace()`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`.str.extract(regex)` — извлечение в DataFrame; `.str.split().str[0]`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Работает с `object` и `string[pyarrow]`</a:t>
            </a:r>
          </a:p>
        </p:txBody>
      </p:sp>
      <p:pic>
        <p:nvPicPr>
          <p:cNvPr id="4" name="Picture 3" descr="str_ex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Время как признак: аксессор `.dt`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Модель не понимает timestamp — нужны </a:t>
            </a:r>
            <a:r>
              <a:rPr lang="ru-RU" dirty="0" sz="2000" b="1">
                <a:solidFill>
                  <a:srgbClr val="000000"/>
                </a:solidFill>
              </a:rPr>
              <a:t>смысловые</a:t>
            </a:r>
            <a:r>
              <a:rPr lang="ru-RU" dirty="0" sz="2000">
                <a:solidFill>
                  <a:srgbClr val="000000"/>
                </a:solidFill>
              </a:rPr>
              <a:t xml:space="preserve"> признаки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`.dt.dayofweek`, `.dt.hour`, `.dt.is_month_end` — события и циклы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Час и месяц кодируют через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sin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cos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цикличности (23:00 близко к 00:00)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приводите к `datetime64` перед `.dt`</a:t>
            </a:r>
          </a:p>
        </p:txBody>
      </p:sp>
      <p:pic>
        <p:nvPicPr>
          <p:cNvPr id="4" name="Picture 3" descr="dt_cyclic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numpy: мост между экосистемами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`df.to_numpy()` — современный способ в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`df.select_dtypes(include=np.number).to_numpy()` — только числа для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`pd.DataFrame(arr, columns=[...])` — из numpy в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Строки в DataFrame → `.to_numpy()` даст `object`, модель сломается</a:t>
            </a:r>
          </a:p>
        </p:txBody>
      </p:sp>
      <p:pic>
        <p:nvPicPr>
          <p:cNvPr id="4" name="Picture 3" descr="to_numpy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45922"/>
            <a:ext cx="4343400" cy="12404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Опасности склейки таблиц: merge и concat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Cartesian product</a:t>
            </a:r>
            <a:r>
              <a:rPr lang="ru-RU" dirty="0" sz="2000">
                <a:solidFill>
                  <a:srgbClr val="000000"/>
                </a:solidFill>
              </a:rPr>
              <a:t xml:space="preserve"> в merge: неуникальный ключ в B размножает строки A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проверяйте уникальность ключей перед join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`pd.concat([df1, df2], axis=1)` склеивает </a:t>
            </a:r>
            <a:r>
              <a:rPr lang="ru-RU" dirty="0" sz="2000" b="1">
                <a:solidFill>
                  <a:srgbClr val="000000"/>
                </a:solidFill>
              </a:rPr>
              <a:t>по индексу</a:t>
            </a:r>
            <a:r>
              <a:rPr lang="ru-RU" dirty="0" sz="2000">
                <a:solidFill>
                  <a:srgbClr val="000000"/>
                </a:solidFill>
              </a:rPr>
              <a:t>, не по порядку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`train_test_split` — `reset_index(drop=True)` перед concat по столбцам</a:t>
            </a:r>
          </a:p>
        </p:txBody>
      </p:sp>
      <p:pic>
        <p:nvPicPr>
          <p:cNvPr id="4" name="Picture 3" descr="merge_carte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166" y="1325880"/>
            <a:ext cx="3213547" cy="2203703"/>
          </a:xfrm>
          <a:prstGeom prst="rect">
            <a:avLst/>
          </a:prstGeom>
        </p:spPr>
      </p:pic>
      <p:pic>
        <p:nvPicPr>
          <p:cNvPr id="5" name="Picture 4" descr="concat_index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772654"/>
            <a:ext cx="4343400" cy="18638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merge_asof: асинхронный join для временных рядов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Классический `merge` требует точного совпадения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`pd.merge_asof()` — join по </a:t>
            </a:r>
            <a:r>
              <a:rPr lang="ru-RU" dirty="0" sz="2000" b="1">
                <a:solidFill>
                  <a:srgbClr val="000000"/>
                </a:solidFill>
              </a:rPr>
              <a:t>ближайшему</a:t>
            </a:r>
            <a:r>
              <a:rPr lang="ru-RU" dirty="0" sz="2000">
                <a:solidFill>
                  <a:srgbClr val="000000"/>
                </a:solidFill>
              </a:rPr>
              <a:t xml:space="preserve">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Пример: транзакции + курс валют `direction='backward'`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Нужен для признаков «курс/погода на момент события»</a:t>
            </a:r>
          </a:p>
        </p:txBody>
      </p:sp>
      <p:pic>
        <p:nvPicPr>
          <p:cNvPr id="4" name="Picture 3" descr="merge_asof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185699"/>
            <a:ext cx="4343400" cy="276092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sklearn: где возникают проблемы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игнорирует имена столбцов и индексы — только позиции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Разные категории Train/Test → разное число OHE-столбцов → `handle_unknown='ignore'` в Pipeline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Старые индексы после split → NaN при склейке → `reset_index(drop=True)`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 fit-зависимые шаги — внутри Pipeline</a:t>
            </a:r>
          </a:p>
        </p:txBody>
      </p:sp>
      <p:pic>
        <p:nvPicPr>
          <p:cNvPr id="4" name="Picture 3" descr="pandas_sklear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PyTorch: создание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Путь: pandas → numpy → `torch.from_numpy()` → `TensorDataset`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`torch.from_numpy(X)` </a:t>
            </a:r>
            <a:r>
              <a:rPr lang="ru-RU" dirty="0" sz="2000" b="1">
                <a:solidFill>
                  <a:srgbClr val="000000"/>
                </a:solidFill>
              </a:rPr>
              <a:t>разделяет память</a:t>
            </a:r>
            <a:r>
              <a:rPr lang="ru-RU" dirty="0" sz="2000">
                <a:solidFill>
                  <a:srgbClr val="000000"/>
                </a:solidFill>
              </a:rPr>
              <a:t xml:space="preserve"> с numpy — изменение X меняет тензор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Независимость: `torch.tensor(X)` или `.copy()` перед конвертацией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 задавайте `dtype` — `object`/`int64` для float-тензоров не подходят</a:t>
            </a:r>
          </a:p>
        </p:txBody>
      </p:sp>
      <p:pic>
        <p:nvPicPr>
          <p:cNvPr id="4" name="Picture 3" descr="pandas_pytorch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93637"/>
            <a:ext cx="4343400" cy="134504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Data Leakage: где прячется в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Импутация `fillna(mean())`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классическая утечка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Target Encoding вне Pipeline — утечка таргета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как сигнал (`timestamp`, `user_id`) если забыли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Случайный join по старым индексам после split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fit-зависимые шаги в `sklearn.Pipeline`; pandas — загрузка и EDA</a:t>
            </a:r>
          </a:p>
        </p:txBody>
      </p:sp>
      <p:pic>
        <p:nvPicPr>
          <p:cNvPr id="4" name="Picture 3" descr="pandas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9599"/>
            <a:ext cx="4343400" cy="13131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Итеративная обработка: когда файл не влезает в 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50 ГБ CSV при 16 ГБ RAM — `read_csv()` упадёт с OOM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`chunksize` в `read_csv()` — итератор порций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Обрабатывайте chunk, накапливайте статистики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Альтернатива: Parquet + фильтрация через `pyarrow`</a:t>
            </a:r>
          </a:p>
        </p:txBody>
      </p:sp>
      <p:pic>
        <p:nvPicPr>
          <p:cNvPr id="4" name="Picture 3" descr="read_csv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38916"/>
            <a:ext cx="4343400" cy="24544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Профилирование данных: автоматический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Ручной EDA (`info`, `describe`, `value_counts`) — часы на новом датасете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`ydata-profiling` (бывш. `pandas-profiling`) — HTML-отчёт одной командой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Отчёт: распределения, корреляции, пропуски, дубликаты, предупреждения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Стандарт индустрии для быстрого знакомства с данными</a:t>
            </a:r>
          </a:p>
        </p:txBody>
      </p:sp>
      <p:pic>
        <p:nvPicPr>
          <p:cNvPr id="4" name="Picture 3" descr="profiling_report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774507"/>
            <a:ext cx="4343400" cy="3583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Документация ydata-profiling: </a:t>
            </a:r>
            <a:r>
              <a:rPr sz="1400">
                <a:solidFill>
                  <a:srgbClr val="3366CC"/>
                </a:solidFill>
                <a:hlinkClick r:id="rId3"/>
              </a:rPr>
              <a:t>https://docs.profiling.ydata.ai/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Производительность: когда pandas «не тянет»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однопоточный — не для огромных данных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`iterrows` / `itertuples` — заменять векторизацией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`apply` с Python-функцией — ~100× медленнее векторизации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Первая линия: `.str`, numpy, `np.where` вместо `apply`</a:t>
            </a:r>
          </a:p>
        </p:txBody>
      </p:sp>
      <p:pic>
        <p:nvPicPr>
          <p:cNvPr id="4" name="Picture 3" descr="perf_vecto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Оптимизация памяти: downcasting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 умолчанию `float64`, `int64` — расточительно для ML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`astype('category')` для строк — экономия в 10–100×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`float32` вместо `float64` — обычно достаточно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`pd.to_numeric(..., downcast='integer')` — автоматический downcast</a:t>
            </a:r>
          </a:p>
        </p:txBody>
      </p:sp>
      <p:pic>
        <p:nvPicPr>
          <p:cNvPr id="4" name="Picture 3" descr="dtype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Форматы хранения: Смерть CSV и восстание Parquet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не сохраняет типы: ID `007`→`7`, даты→строки, категории→object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медленен на больших датасетах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Parquet</a:t>
            </a:r>
            <a:r>
              <a:rPr lang="ru-RU" dirty="0" sz="2000">
                <a:solidFill>
                  <a:srgbClr val="000000"/>
                </a:solidFill>
              </a:rPr>
              <a:t xml:space="preserve"> — колоночный формат, типы pandas, сжатие 5–10×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CSV — отчёт бизнесу; внутри ML-пайплайна — `.to_parquet()`</a:t>
            </a:r>
          </a:p>
        </p:txBody>
      </p:sp>
      <p:pic>
        <p:nvPicPr>
          <p:cNvPr id="4" name="Picture 3" descr="csv_vs_parqu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808590"/>
            <a:ext cx="4343400" cy="15151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Экспорт в продакшен: SQL и другие форматы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`to_sql(..., index=False)` — интеграция с БД через SQLAlchemy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`to_json()` — REST API и веб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`to_feather()` — быстрый бинарный промежуточный формат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Всегда `index=False` при экспорте — иначе лишний столбец</a:t>
            </a:r>
          </a:p>
        </p:txBody>
      </p:sp>
      <p:pic>
        <p:nvPicPr>
          <p:cNvPr id="4" name="Picture 3" descr="expo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6907"/>
            <a:ext cx="4343400" cy="29785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Альтернативы: что использовать, когда pandas не справляется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Polars</a:t>
            </a:r>
            <a:r>
              <a:rPr lang="ru-RU" dirty="0" sz="2000">
                <a:solidFill>
                  <a:srgbClr val="000000"/>
                </a:solidFill>
              </a:rPr>
              <a:t xml:space="preserve"> (Rust) — ленивые вычисления, 10–100× быстрее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Dask</a:t>
            </a:r>
            <a:r>
              <a:rPr lang="ru-RU" dirty="0" sz="2000">
                <a:solidFill>
                  <a:srgbClr val="000000"/>
                </a:solidFill>
              </a:rPr>
              <a:t xml:space="preserve"> — распределённый pandas, данные &gt; RAM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DuckDB</a:t>
            </a:r>
            <a:r>
              <a:rPr lang="ru-RU" dirty="0" sz="2000">
                <a:solidFill>
                  <a:srgbClr val="000000"/>
                </a:solidFill>
              </a:rPr>
              <a:t xml:space="preserve"> — SQL-аналитика поверх файлов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— EDA и &lt; 1–2 ГБ; продакшен чаще Polars/DuckDB</a:t>
            </a:r>
          </a:p>
        </p:txBody>
      </p:sp>
      <p:pic>
        <p:nvPicPr>
          <p:cNvPr id="4" name="Picture 3" descr="alternative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69694"/>
            <a:ext cx="4343400" cy="299293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и GPU: разрушение мифов и экосистема RAPIDS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Миф: «pandas на GPU из коробки» — </a:t>
            </a:r>
            <a:r>
              <a:rPr lang="ru-RU" dirty="0" sz="2000" b="1">
                <a:solidFill>
                  <a:srgbClr val="000000"/>
                </a:solidFill>
              </a:rPr>
              <a:t>нативный pandas только CPU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cuDF</a:t>
            </a:r>
            <a:r>
              <a:rPr lang="ru-RU" dirty="0" sz="2000">
                <a:solidFill>
                  <a:srgbClr val="000000"/>
                </a:solidFill>
              </a:rPr>
              <a:t xml:space="preserve"> (NVIDIA RAPIDS) — API как pandas, вычисления на GPU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`cudf.pandas` — перехват вызовов GPU/CPU автоматически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VRAM данные передаёт PyTorch (`tensor.to('cuda')`), не pandas</a:t>
            </a:r>
          </a:p>
        </p:txBody>
      </p:sp>
      <p:pic>
        <p:nvPicPr>
          <p:cNvPr id="4" name="Picture 3" descr="rapids_gpu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18113"/>
            <a:ext cx="4343400" cy="26960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Гигиена памяти в Jupyter: борьба с 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Jupyter хранит ссылки на старые датафреймы (`_`, история выводов)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Переопределение `df1` не освобождает память сразу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`del df_old` + `gc.collect()` перед тяжёлой моделью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Явное управление памятью — навык для больших ноутбуков</a:t>
            </a:r>
          </a:p>
        </p:txBody>
      </p:sp>
      <p:pic>
        <p:nvPicPr>
          <p:cNvPr id="4" name="Picture 3" descr="jupyter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904435"/>
            <a:ext cx="4343400" cy="132344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Итоговая ментальная модель pandas для ML-инженера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pandas = EDA и первичная очистка, не тяжёлые продакшен-трансформации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Индекс — ключ; помните при join/merge/concat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`.copy()` / `.loc`; векторизация &gt; apply &gt; iterrows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Fit-зависимое — в Pipeline; перед моделью — `.to_numpy()` + `reset_index()`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Промежуточные данные — Parquet; GPU — cuDF/PyTorch, не pandas</a:t>
            </a:r>
          </a:p>
        </p:txBody>
      </p:sp>
      <p:pic>
        <p:nvPicPr>
          <p:cNvPr id="4" name="Picture 3" descr="pandas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29535"/>
            <a:ext cx="4343400" cy="247324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перед обучением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`df.info()` — типы и пропуски; `describe()` — аномалии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`value_counts()` / `corr()` — кардинальность и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`drop_duplicates`; кодирование категорий; импутация </a:t>
            </a:r>
            <a:r>
              <a:rPr lang="ru-RU" dirty="0" sz="2000" b="1">
                <a:solidFill>
                  <a:srgbClr val="000000"/>
                </a:solidFill>
              </a:rPr>
              <a:t>не по всему датасету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 до глобальных трансформаций; X,y → numpy с правильным dtype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Проверка NaN/inf; Pipeline; `del` + `gc.collect()`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McKinney W. (2010). Data Structures for Statistical Computing in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(2014). Tidy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Reback J., McKinney W., et al. (2020). pandas: powerful Python data analysis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https://colab.research.google.com/github/gurovic/ml-lessons/blob/feature/references-and-slide-code/lessons/pandas/code.ipynb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https://colab.research.google.com/github/gurovic/ml-lessons/blob/feature/references-and-slide-code/lessons/pandas/project.ipynb</a:t>
            </a:r>
          </a:p>
        </p:txBody>
      </p:sp>
      <p:pic>
        <p:nvPicPr>
          <p:cNvPr id="10" name="Picture 9" descr="_qr_ref_32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32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