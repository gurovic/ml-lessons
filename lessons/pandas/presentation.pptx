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dtypes и .values/.to_numpy() на примере.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Демо: filter → ragged index → reset_index.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Показать mask.sum() и ошибку без скобок.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Пройти пункты вслух на реальном датасете.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Colab-ссылки обновляются агентом при --apply.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hyperlink" Target="https://docs.profiling.ydata.ai/" TargetMode="External"/><Relationship Id="rId4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conference.scipy.org/proceedings/scipy2010/mckinney.html" TargetMode="External"/><Relationship Id="rId3" Type="http://schemas.openxmlformats.org/officeDocument/2006/relationships/hyperlink" Target="http://vita.had.co.nz/papers/tidy-data.pdf" TargetMode="External"/><Relationship Id="rId4" Type="http://schemas.openxmlformats.org/officeDocument/2006/relationships/hyperlink" Target="https://zenodo.org/records/3509134" TargetMode="External"/><Relationship Id="rId5" Type="http://schemas.openxmlformats.org/officeDocument/2006/relationships/hyperlink" Target="https://colab.research.google.com/github/gurovic/ml-lessons/blob/main/lessons/pandas/code.ipynb" TargetMode="External"/><Relationship Id="rId6" Type="http://schemas.openxmlformats.org/officeDocument/2006/relationships/hyperlink" Target="https://colab.research.google.com/github/gurovic/ml-lessons/blob/main/lessons/pandas/project.ipynb" TargetMode="External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1A1A2E"/>
                </a:solidFill>
              </a:defRPr>
            </a:pPr>
            <a:r>
              <a:t>Pandas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55555"/>
                </a:solidFill>
              </a:defRPr>
            </a:pPr>
            <a:r>
              <a:t>Автор: Гуровиц Владимир Михайлович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9768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777777"/>
                </a:solidFill>
              </a:defRPr>
            </a:pPr>
            <a:r>
              <a:t>Email: vladimir.gurovic@letovo.ru, gurovic@gmail.com | Telegram: @gurovic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99999"/>
                </a:solidFill>
              </a:defRPr>
            </a:pPr>
            <a:r>
              <a:t>29.06.2026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Философия pandas: это не Excel, а numpy с индексами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pandas — </a:t>
            </a:r>
            <a:r>
              <a:rPr lang="ru-RU" dirty="0" sz="2000" b="1">
                <a:solidFill>
                  <a:srgbClr val="000000"/>
                </a:solidFill>
              </a:rPr>
              <a:t>удобная надстройка над numpy</a:t>
            </a:r>
            <a:r>
              <a:rPr lang="ru-RU" dirty="0" sz="2000">
                <a:solidFill>
                  <a:srgbClr val="000000"/>
                </a:solidFill>
              </a:rPr>
              <a:t>, а не самостоятельная сущность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Числовой столбец внутри — непрерывный numpy-массив (быстро и эффективно)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Столбец `object` — указатели на Python-объекты (медленно); современный стандарт — `string[pyarrow]`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Главное отличие от numpy — </a:t>
            </a:r>
            <a:r>
              <a:rPr lang="ru-RU" dirty="0" sz="2000" b="1">
                <a:solidFill>
                  <a:srgbClr val="000000"/>
                </a:solidFill>
              </a:rPr>
              <a:t>индексы (метки строк)</a:t>
            </a:r>
            <a:r>
              <a:rPr lang="ru-RU" dirty="0" sz="2000">
                <a:solidFill>
                  <a:srgbClr val="000000"/>
                </a:solidFill>
              </a:rPr>
              <a:t>: словарь, а не матрица</a:t>
            </a:r>
          </a:p>
        </p:txBody>
      </p:sp>
      <p:pic>
        <p:nvPicPr>
          <p:cNvPr id="4" name="Picture 3" descr="pandas_numpy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19754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Индекс — это не «номер строки», а ключ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Позиция (</a:t>
            </a:r>
            <ns0:m xmlns:ns0="http://schemas.microsoft.com/office/drawing/2010/main">
              <m:oMath xmlns:m="http://schemas.openxmlformats.org/officeDocument/2006/math">
                <m:r>
                  <m:t>0,1,2…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) и </a:t>
            </a:r>
            <a:r>
              <a:rPr lang="ru-RU" dirty="0" sz="2000" b="1">
                <a:solidFill>
                  <a:srgbClr val="000000"/>
                </a:solidFill>
              </a:rPr>
              <a:t>метка индекса</a:t>
            </a:r>
            <a:r>
              <a:rPr lang="ru-RU" dirty="0" sz="2000">
                <a:solidFill>
                  <a:srgbClr val="000000"/>
                </a:solidFill>
              </a:rPr>
              <a:t xml:space="preserve"> — разные вещи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После фильтрации, merge или сортировки индексы становятся «рваными»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`reset_index(drop=True)` — базовая операция после трансформации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sklearn игнорирует индексы, но при склейке в pandas несовпадение даст неожиданные NaN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489703"/>
            <a:ext cx="6172200" cy="804672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526279"/>
            <a:ext cx="6025896" cy="731520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import pandas as pd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 = pd.DataFrame({'a': [1, 2]}, index=['x', 'y'])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df.loc['x']      # по метке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df.iloc[0]       # по позиции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49240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Метка vs позиция</a:t>
            </a:r>
          </a:p>
        </p:txBody>
      </p:sp>
      <p:pic>
        <p:nvPicPr>
          <p:cNvPr id="7" name="Picture 6" descr="index_ragged_re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745" y="1325880"/>
            <a:ext cx="3548483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Булева индексация — магия numpy внутри pandas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`df[df['age'] &gt; 30]` — маска numpy внутри pandas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Шаг 1: `df['age'] &gt; 30` → булев массив `[True, False, True, \ldots]`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Шаг 2: `df[mask]` возвращает строки, где `True` — прямое наследие numpy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Составные условия: `&amp;`, `|`, `~` (не `and`/`or`); </a:t>
            </a:r>
            <a:r>
              <a:rPr lang="ru-RU" dirty="0" sz="2000" b="1">
                <a:solidFill>
                  <a:srgbClr val="000000"/>
                </a:solidFill>
              </a:rPr>
              <a:t>каждое условие в скобках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mask = df['age'] &gt; 18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adults = df[mask]           # фильтр булевой маской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df.loc[df['city'] == 'MSK'] # то же через loc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Фильтрация строк</a:t>
            </a:r>
          </a:p>
        </p:txBody>
      </p:sp>
      <p:pic>
        <p:nvPicPr>
          <p:cNvPr id="7" name="Picture 6" descr="boolean_mask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481" y="1325880"/>
            <a:ext cx="4205011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Три способа обратиться к данным: `[]`, `.loc`, `.iloc`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`df['col']` — столбец по имени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`.iloc[i, j]` — доступ </a:t>
            </a:r>
            <a:r>
              <a:rPr lang="ru-RU" dirty="0" sz="2000" b="1">
                <a:solidFill>
                  <a:srgbClr val="000000"/>
                </a:solidFill>
              </a:rPr>
              <a:t>по позиции</a:t>
            </a:r>
            <a:r>
              <a:rPr lang="ru-RU" dirty="0" sz="2000">
                <a:solidFill>
                  <a:srgbClr val="000000"/>
                </a:solidFill>
              </a:rPr>
              <a:t xml:space="preserve"> (как numpy); индексы игнорируются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`.loc[label, col]` — доступ </a:t>
            </a:r>
            <a:r>
              <a:rPr lang="ru-RU" dirty="0" sz="2000" b="1">
                <a:solidFill>
                  <a:srgbClr val="000000"/>
                </a:solidFill>
              </a:rPr>
              <a:t>по метке</a:t>
            </a:r>
            <a:r>
              <a:rPr lang="ru-RU" dirty="0" sz="2000">
                <a:solidFill>
                  <a:srgbClr val="000000"/>
                </a:solidFill>
              </a:rPr>
              <a:t xml:space="preserve"> индекса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Присваивание — через `.loc`; перед sklearn удобнее `.iloc` (позиционная индексация)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col = df['price']          # столбец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cell = df.loc[10, 'price'] # по метке индекса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cell = df.iloc[0, 2]       # по позиции (0, 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[] / loc / iloc</a:t>
            </a:r>
          </a:p>
        </p:txBody>
      </p:sp>
      <p:pic>
        <p:nvPicPr>
          <p:cNvPr id="7" name="Picture 6" descr="loc_vs_i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30117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Самая большая боль: SettingWithCopyWarning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pandas не всегда понимает: вы меняете оригинал или копию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`subset = df[df['age'] &gt; 30]; subset['new_col'] = 1` — </a:t>
            </a:r>
            <a:r>
              <a:rPr lang="ru-RU" dirty="0" sz="2000" b="1">
                <a:solidFill>
                  <a:srgbClr val="000000"/>
                </a:solidFill>
              </a:rPr>
              <a:t>Warning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Изменения могут не попасть в `df` или перезаписать данные случайно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Решение: `.copy()` или `df.loc[mask, 'col'] = value`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df2 = df[df['active']].copy()  # явная копия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df2.loc[:, 'score'] = 0        # без предупреждения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# без .copy() — риск записи во 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copy() перед присваиванием</a:t>
            </a:r>
          </a:p>
        </p:txBody>
      </p:sp>
      <p:pic>
        <p:nvPicPr>
          <p:cNvPr id="7" name="Picture 6" descr="setting_with_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30123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View vs Copy: архитектурная проблема pandas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View</a:t>
            </a:r>
            <a:r>
              <a:rPr lang="ru-RU" dirty="0" sz="2000">
                <a:solidFill>
                  <a:srgbClr val="000000"/>
                </a:solidFill>
              </a:rPr>
              <a:t xml:space="preserve"> — разделяет память с оригиналом; </a:t>
            </a:r>
            <a:r>
              <a:rPr lang="ru-RU" dirty="0" sz="2000" b="1">
                <a:solidFill>
                  <a:srgbClr val="000000"/>
                </a:solidFill>
              </a:rPr>
              <a:t>Copy</a:t>
            </a:r>
            <a:r>
              <a:rPr lang="ru-RU" dirty="0" sz="2000">
                <a:solidFill>
                  <a:srgbClr val="000000"/>
                </a:solidFill>
              </a:rPr>
              <a:t xml:space="preserve"> — независимые данные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Исторически pandas решает «по ситуации» → неопределённость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Copy-on-Write</a:t>
            </a:r>
            <a:r>
              <a:rPr lang="ru-RU" dirty="0" sz="2000">
                <a:solidFill>
                  <a:srgbClr val="000000"/>
                </a:solidFill>
              </a:rPr>
              <a:t xml:space="preserve"> (pandas 2.0+): `pd.options.mode.copy_on_write = True`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Для ML: `.copy()` при создании новых признаков, если не уверены</a:t>
            </a:r>
          </a:p>
        </p:txBody>
      </p:sp>
      <p:pic>
        <p:nvPicPr>
          <p:cNvPr id="4" name="Picture 3" descr="view_vs_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361125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Пропуски: NaN, None, NaT и эволюция типов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Разные «пустые»: `np.nan` (числа), `None` (object), `pd.NaT` (время)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`df.isnull().sum()` — первый шаг диагностики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Раньше пропуск в `int64` → весь столбец во `float64`; сейчас </a:t>
            </a:r>
            <a:r>
              <a:rPr lang="ru-RU" dirty="0" sz="2000" b="1">
                <a:solidFill>
                  <a:srgbClr val="000000"/>
                </a:solidFill>
              </a:rPr>
              <a:t>Nullable</a:t>
            </a:r>
            <a:r>
              <a:rPr lang="ru-RU" dirty="0" sz="2000">
                <a:solidFill>
                  <a:srgbClr val="000000"/>
                </a:solidFill>
              </a:rPr>
              <a:t xml:space="preserve"> (`Int64`, `boolean`, `pd.NA`)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В ML: импутация только по </a:t>
            </a:r>
            <a:r>
              <a:rPr lang="ru-RU" dirty="0" sz="2000" b="1">
                <a:solidFill>
                  <a:srgbClr val="000000"/>
                </a:solidFill>
              </a:rPr>
              <a:t>Train</a:t>
            </a:r>
            <a:r>
              <a:rPr lang="ru-RU" dirty="0" sz="2000">
                <a:solidFill>
                  <a:srgbClr val="000000"/>
                </a:solidFill>
              </a:rPr>
              <a:t>, иначе утечка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df['col'].isna().sum()          # число пропусков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df['col'].fillna(df['col'].median())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 = df.dropna(subset=['target'])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isna / fillna / dropna</a:t>
            </a:r>
          </a:p>
        </p:txBody>
      </p:sp>
      <p:pic>
        <p:nvPicPr>
          <p:cNvPr id="7" name="Picture 6" descr="missing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1626" y="1325880"/>
            <a:ext cx="3720723" cy="2176272"/>
          </a:xfrm>
          <a:prstGeom prst="rect">
            <a:avLst/>
          </a:prstGeom>
        </p:spPr>
      </p:pic>
      <p:pic>
        <p:nvPicPr>
          <p:cNvPr id="8" name="Picture 7" descr="nullable_int_typ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3557016"/>
            <a:ext cx="4465015" cy="194153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Базовая аналитика: `value_counts()`, `nunique()`, `corr()`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`value_counts()` — частоты категорий, дисбаланс классов, мусорные категории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`nunique()` — кардинальность: 100k уникальных из 100k строк → признак-ID, удалить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`corr()` — мультиколлинеарность (корреляция </a:t>
            </a:r>
            <ns0:m xmlns:ns0="http://schemas.microsoft.com/office/drawing/2010/main">
              <m:oMath xmlns:m="http://schemas.openxmlformats.org/officeDocument/2006/math">
                <m:r>
                  <m:t>&gt;0.9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>) перед линейными моделями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`describe(include='all')` — числа и категории в одном отчёте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df['category'].value_counts()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df['user_id'].nunique()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df[numeric_cols].corr()['target'].sort_values()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Частоты и корреляции</a:t>
            </a:r>
          </a:p>
        </p:txBody>
      </p:sp>
      <p:pic>
        <p:nvPicPr>
          <p:cNvPr id="7" name="Picture 6" descr="cor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170" y="1325880"/>
            <a:ext cx="3829634" cy="2176272"/>
          </a:xfrm>
          <a:prstGeom prst="rect">
            <a:avLst/>
          </a:prstGeom>
        </p:spPr>
      </p:pic>
      <p:pic>
        <p:nvPicPr>
          <p:cNvPr id="8" name="Picture 7" descr="value_counts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547" y="3557016"/>
            <a:ext cx="3948880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GroupBy: две операции, которые должен знать ML-инженер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`agg()` — схлопывает группы в одну строку (среднее по группе)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`transform()` — результат </a:t>
            </a:r>
            <a:r>
              <a:rPr lang="ru-RU" dirty="0" sz="2000" b="1">
                <a:solidFill>
                  <a:srgbClr val="000000"/>
                </a:solidFill>
              </a:rPr>
              <a:t>того же размера</a:t>
            </a:r>
            <a:r>
              <a:rPr lang="ru-RU" dirty="0" sz="2000">
                <a:solidFill>
                  <a:srgbClr val="000000"/>
                </a:solidFill>
              </a:rPr>
              <a:t>, что вход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Пример: `df['dev'] = df['income'] - df.groupby('city')['income'].transform('mean')`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Без `transform` нельзя создать контекстный признак без потери гранулярности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892040"/>
            <a:ext cx="6172200" cy="4572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928616"/>
            <a:ext cx="6025896" cy="38404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df.groupby('city')['sales'].agg(['mean', 'count'])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df.groupby('date')['amount'].sum().reset_index()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04104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groupby + agg</a:t>
            </a:r>
          </a:p>
        </p:txBody>
      </p:sp>
      <p:pic>
        <p:nvPicPr>
          <p:cNvPr id="7" name="Picture 6" descr="agg_vs_transfor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500" y="1325880"/>
            <a:ext cx="4294974" cy="440740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MultiIndex: иерархические индексы после groupby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`groupby(['city','cat']).agg(['mean','std'])` → </a:t>
            </a:r>
            <a:r>
              <a:rPr lang="ru-RU" dirty="0" sz="2000" b="1">
                <a:solidFill>
                  <a:srgbClr val="000000"/>
                </a:solidFill>
              </a:rPr>
              <a:t>двухуровневый</a:t>
            </a:r>
            <a:r>
              <a:rPr lang="ru-RU" dirty="0" sz="2000">
                <a:solidFill>
                  <a:srgbClr val="000000"/>
                </a:solidFill>
              </a:rPr>
              <a:t xml:space="preserve"> индекс строк и столбцов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Частая боль: как обратиться к ячейке, как склеить с исходной таблицей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`reset_index()` или `as_index=False` в `groupby()`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Перед моделью или merge — </a:t>
            </a:r>
            <a:r>
              <a:rPr lang="ru-RU" dirty="0" sz="2000" b="1">
                <a:solidFill>
                  <a:srgbClr val="000000"/>
                </a:solidFill>
              </a:rPr>
              <a:t>сбросить MultiIndex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g = df.groupby(['city', 'year'])['sales'].mean()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g.loc['MSK']          # срез по первому уровню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g.reset_index()       # обратно в таблицу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MultiIndex после groupby</a:t>
            </a:r>
          </a:p>
        </p:txBody>
      </p:sp>
      <p:pic>
        <p:nvPicPr>
          <p:cNvPr id="7" name="Picture 6" descr="multiindex_res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128667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Категории: типы кодирования и когда что применять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Ordinal</a:t>
            </a:r>
            <a:r>
              <a:rPr lang="ru-RU" dirty="0" sz="2000">
                <a:solidFill>
                  <a:srgbClr val="000000"/>
                </a:solidFill>
              </a:rPr>
              <a:t xml:space="preserve"> — только упорядоченные (`category` + `.cat.codes`)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One-Hot</a:t>
            </a:r>
            <a:r>
              <a:rPr lang="ru-RU" dirty="0" sz="2000">
                <a:solidFill>
                  <a:srgbClr val="000000"/>
                </a:solidFill>
              </a:rPr>
              <a:t xml:space="preserve"> — неупорядоченные: `pd.get_dummies(..., drop_first=True)`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Target Encoding</a:t>
            </a:r>
            <a:r>
              <a:rPr lang="ru-RU" dirty="0" sz="2000">
                <a:solidFill>
                  <a:srgbClr val="000000"/>
                </a:solidFill>
              </a:rPr>
              <a:t xml:space="preserve"> — среднее таргета; только внутри sklearn `Pipeline`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Числа 0,1,2 для деревьев ок, для линейных моделей — ломает геометрию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df['color'] = df['color'].astype('category')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df['color'].cat.codes   # целые коды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pd.get_dummies(df, columns=['color'])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category и get_dummies</a:t>
            </a:r>
          </a:p>
        </p:txBody>
      </p:sp>
      <p:pic>
        <p:nvPicPr>
          <p:cNvPr id="7" name="Picture 6" descr="encoding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772" y="1325880"/>
            <a:ext cx="3168429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Быстрый Feature Engineering: условия, биннинг и отсечение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`np.where` — векторизованные условия, в сотни раз быстрее `apply`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`pd.cut` — равные интервалы; `pd.qcut` — равное число объектов в корзинах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`clip` / Winsorization: `df['x'].clip(upper=quantile(0.99))` — спасает от выбросов без удаления строк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Линейным моделям помогает биннинг; деревьям — проще разбиения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df['bucket'] = pd.cut(df['age'], bins=[0, 18, 65, 100])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df['flag'] = (df['score'] &gt; 0.5).astype(int)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 = df[df['amount'] &gt; 0]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cut и условия</a:t>
            </a:r>
          </a:p>
        </p:txBody>
      </p:sp>
      <p:pic>
        <p:nvPicPr>
          <p:cNvPr id="7" name="Picture 6" descr="clip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6311" y="1325880"/>
            <a:ext cx="1791353" cy="2176272"/>
          </a:xfrm>
          <a:prstGeom prst="rect">
            <a:avLst/>
          </a:prstGeom>
        </p:spPr>
      </p:pic>
      <p:pic>
        <p:nvPicPr>
          <p:cNvPr id="8" name="Picture 7" descr="cut_bi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6765" y="3557016"/>
            <a:ext cx="3450444" cy="217627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Работа с текстом: стринговый аксессор `.str`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`.str` — векторизованные операции над строками (база NLP-препроцессинга)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`.str.len()`, `.str.lower()`, `.str.contains()`, `.str.replace()`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`.str.extract(regex)` — извлечение в DataFrame; `.str.split().str[0]`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Работает с `object` и `string[pyarrow]`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df['email'].str.lower()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df['name'].str.contains('ivan', case=False)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df['phone'].str.replace('-', '', regex=False)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Аксессор .str</a:t>
            </a:r>
          </a:p>
        </p:txBody>
      </p:sp>
      <p:pic>
        <p:nvPicPr>
          <p:cNvPr id="7" name="Picture 6" descr="str_extr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30123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Время как признак: аксессор `.dt`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Модель не понимает timestamp — нужны </a:t>
            </a:r>
            <a:r>
              <a:rPr lang="ru-RU" dirty="0" sz="2000" b="1">
                <a:solidFill>
                  <a:srgbClr val="000000"/>
                </a:solidFill>
              </a:rPr>
              <a:t>смысловые</a:t>
            </a:r>
            <a:r>
              <a:rPr lang="ru-RU" dirty="0" sz="2000">
                <a:solidFill>
                  <a:srgbClr val="000000"/>
                </a:solidFill>
              </a:rPr>
              <a:t xml:space="preserve"> признаки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`.dt.dayofweek`, `.dt.hour`, `.dt.is_month_end` — события и циклы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Час и месяц кодируют через </a:t>
            </a:r>
            <ns0:m xmlns:ns0="http://schemas.microsoft.com/office/drawing/2010/main">
              <m:oMath xmlns:m="http://schemas.openxmlformats.org/officeDocument/2006/math">
                <m:r>
                  <m:rPr>
                    <m:sty m:val="p"/>
                  </m:rPr>
                  <m:t>sin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, </a:t>
            </a:r>
            <ns0:m xmlns:ns0="http://schemas.microsoft.com/office/drawing/2010/main">
              <m:oMath xmlns:m="http://schemas.openxmlformats.org/officeDocument/2006/math">
                <m:r>
                  <m:rPr>
                    <m:sty m:val="p"/>
                  </m:rPr>
                  <m:t>cos</m:t>
                </m:r>
              </m:oMath>
            </ns0:m>
            <a:r>
              <a:rPr lang="ru-RU" dirty="0" sz="2000">
                <a:solidFill>
                  <a:srgbClr val="000000"/>
                </a:solidFill>
              </a:rPr>
              <a:t xml:space="preserve"> для цикличности (23:00 близко к 00:00)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Всегда приводите к `datetime64` перед `.dt`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df['ts'] = pd.to_datetime(df['ts'])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df['hour'] = df['ts'].dt.hour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df['weekday'] = df['ts'].dt.dayofweek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Аксессор .dt</a:t>
            </a:r>
          </a:p>
        </p:txBody>
      </p:sp>
      <p:pic>
        <p:nvPicPr>
          <p:cNvPr id="7" name="Picture 6" descr="dt_cyclic_hou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59447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pandas &lt;-&gt; numpy: мост между экосистемами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`df.to_numpy()` — современный способ в numpy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`df.select_dtypes(include=np.number).to_numpy()` — только числа для модели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`pd.DataFrame(arr, columns=[...])` — из numpy в pandas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Строки в DataFrame → `.to_numpy()` даст `object`, модель сломается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arr = df[['x', 'y']].to_numpy()   # DataFrame → ndarray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df2 = pd.DataFrame(arr, columns=['x', 'y'])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df.values  # устаревший alias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to_numpy()</a:t>
            </a:r>
          </a:p>
        </p:txBody>
      </p:sp>
      <p:pic>
        <p:nvPicPr>
          <p:cNvPr id="7" name="Picture 6" descr="to_numpy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141149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Опасности склейки таблиц: merge и concat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Cartesian product</a:t>
            </a:r>
            <a:r>
              <a:rPr lang="ru-RU" dirty="0" sz="2000">
                <a:solidFill>
                  <a:srgbClr val="000000"/>
                </a:solidFill>
              </a:rPr>
              <a:t xml:space="preserve"> в merge: неуникальный ключ в B размножает строки A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Всегда проверяйте уникальность ключей перед join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`pd.concat([df1, df2], axis=1)` склеивает </a:t>
            </a:r>
            <a:r>
              <a:rPr lang="ru-RU" dirty="0" sz="2000" b="1">
                <a:solidFill>
                  <a:srgbClr val="000000"/>
                </a:solidFill>
              </a:rPr>
              <a:t>по индексу</a:t>
            </a:r>
            <a:r>
              <a:rPr lang="ru-RU" dirty="0" sz="2000">
                <a:solidFill>
                  <a:srgbClr val="000000"/>
                </a:solidFill>
              </a:rPr>
              <a:t>, не по порядку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После `train_test_split` — `reset_index(drop=True)` перед concat по столбцам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892040"/>
            <a:ext cx="6172200" cy="4572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928616"/>
            <a:ext cx="6025896" cy="38404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out = pd.merge(users, orders, on='user_id', how='left')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wide = pd.concat([df_a, df_b], axis=1)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04104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merge и concat</a:t>
            </a:r>
          </a:p>
        </p:txBody>
      </p:sp>
      <p:pic>
        <p:nvPicPr>
          <p:cNvPr id="7" name="Picture 6" descr="merge_cartes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9783" y="1325880"/>
            <a:ext cx="3264408" cy="2176272"/>
          </a:xfrm>
          <a:prstGeom prst="rect">
            <a:avLst/>
          </a:prstGeom>
        </p:spPr>
      </p:pic>
      <p:pic>
        <p:nvPicPr>
          <p:cNvPr id="8" name="Picture 7" descr="concat_index_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659" y="3557016"/>
            <a:ext cx="1684656" cy="217627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merge_asof: асинхронный join для временных рядов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569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Классический `merge` требует точного совпадения времени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`pd.merge_asof()` — join по </a:t>
            </a:r>
            <a:r>
              <a:rPr lang="ru-RU" dirty="0" sz="2000" b="1">
                <a:solidFill>
                  <a:srgbClr val="000000"/>
                </a:solidFill>
              </a:rPr>
              <a:t>ближайшему</a:t>
            </a:r>
            <a:r>
              <a:rPr lang="ru-RU" dirty="0" sz="2000">
                <a:solidFill>
                  <a:srgbClr val="000000"/>
                </a:solidFill>
              </a:rPr>
              <a:t xml:space="preserve"> времени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Пример: транзакции + курс валют `direction='backward'`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Нужен для признаков «курс/погода на момент события»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288536"/>
            <a:ext cx="6172200" cy="978407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325112"/>
            <a:ext cx="6025896" cy="905255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pd.merge_asof(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    quotes.sort_values('time'),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    trades.sort_values('time'),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    on='time', direction='backward',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21807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Ближайшее прошлое событие</a:t>
            </a:r>
          </a:p>
        </p:txBody>
      </p:sp>
      <p:pic>
        <p:nvPicPr>
          <p:cNvPr id="7" name="Picture 6" descr="merge_asof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7166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pandas &lt;-&gt; sklearn: где возникают проблемы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sklearn игнорирует имена столбцов и индексы — только позиции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Разные категории Train/Test → разное число OHE-столбцов → `handle_unknown='ignore'` в Pipeline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Старые индексы после split → NaN при склейке → `reset_index(drop=True)`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Все fit-зависимые шаги — внутри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X = df.drop(columns=['target'])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y = df['target']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model.fit(X.select_dtypes('number'), 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Только числовые столбцы</a:t>
            </a:r>
          </a:p>
        </p:txBody>
      </p:sp>
      <p:pic>
        <p:nvPicPr>
          <p:cNvPr id="7" name="Picture 6" descr="pandas_sklearn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4736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pandas &lt;-&gt; PyTorch: создание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Путь: pandas → numpy → `torch.from_numpy()` → `TensorDataset`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`torch.from_numpy(X)` </a:t>
            </a:r>
            <a:r>
              <a:rPr lang="ru-RU" dirty="0" sz="2000" b="1">
                <a:solidFill>
                  <a:srgbClr val="000000"/>
                </a:solidFill>
              </a:rPr>
              <a:t>разделяет память</a:t>
            </a:r>
            <a:r>
              <a:rPr lang="ru-RU" dirty="0" sz="2000">
                <a:solidFill>
                  <a:srgbClr val="000000"/>
                </a:solidFill>
              </a:rPr>
              <a:t xml:space="preserve"> с numpy — изменение X меняет тензор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Независимость: `torch.tensor(X)` или `.copy()` перед конвертацией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Явно задавайте `dtype` — `object`/`int64` для float-тензоров не подходят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892040"/>
            <a:ext cx="6172200" cy="4572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928616"/>
            <a:ext cx="6025896" cy="38404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X_t = torch.tensor(df[cols].to_numpy(), dtype=torch.float32)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y_t = torch.tensor(df['y'].to_numpy())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04104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DataFrame → tensor</a:t>
            </a:r>
          </a:p>
        </p:txBody>
      </p:sp>
      <p:pic>
        <p:nvPicPr>
          <p:cNvPr id="7" name="Picture 6" descr="pandas_pytorch_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1013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Data Leakage: где прячется в pandas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Импутация `fillna(mean())` </a:t>
            </a:r>
            <a:r>
              <a:rPr lang="ru-RU" dirty="0" sz="2000" b="1">
                <a:solidFill>
                  <a:srgbClr val="000000"/>
                </a:solidFill>
              </a:rPr>
              <a:t>до</a:t>
            </a:r>
            <a:r>
              <a:rPr lang="ru-RU" dirty="0" sz="2000">
                <a:solidFill>
                  <a:srgbClr val="000000"/>
                </a:solidFill>
              </a:rPr>
              <a:t xml:space="preserve"> split — классическая утечка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Target Encoding вне Pipeline — утечка таргета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Индекс как сигнал (`timestamp`, `user_id`) если забыли `reset_index()`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Случайный join по старым индексам после split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Решение: fit-зависимые шаги в `sklearn.Pipeline`; pandas — загрузка и EDA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train, test = train_test_split(df, random_state=42)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mu = train['x'].mean()  # статистика только с train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test['x'] = test['x'].fillna(mu)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Impute после split</a:t>
            </a:r>
          </a:p>
        </p:txBody>
      </p:sp>
      <p:pic>
        <p:nvPicPr>
          <p:cNvPr id="7" name="Picture 6" descr="pandas_leak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405" y="1325880"/>
            <a:ext cx="3951163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Итеративная обработка: когда файл не влезает в 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50 ГБ CSV при 16 ГБ RAM — `read_csv()` упадёт с OOM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`chunksize` в `read_csv()` — итератор порций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Обрабатывайте chunk, накапливайте статистики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Альтернатива: Parquet + фильтрация через `pyarrow`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chunks = pd.read_csv('big.csv', chunksize=100_000)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for chunk in chunks: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    process(chunk)  # обработка по частям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read_csv(chunksize=...)</a:t>
            </a:r>
          </a:p>
        </p:txBody>
      </p:sp>
      <p:pic>
        <p:nvPicPr>
          <p:cNvPr id="7" name="Picture 6" descr="read_csv_chun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4494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Профилирование данных: автоматический EDA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Ручной EDA (`info`, `describe`, `value_counts`) — часы на новом датасете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`ydata-profiling` (бывш. `pandas-profiling`) — HTML-отчёт одной командой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Отчёт: распределения, корреляции, пропуски, дубликаты, предупреждения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Стандарт индустрии для быстрого знакомства с данными</a:t>
            </a:r>
          </a:p>
        </p:txBody>
      </p:sp>
      <p:pic>
        <p:nvPicPr>
          <p:cNvPr id="4" name="Picture 3" descr="profiling_report_m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35488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943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400">
                <a:solidFill>
                  <a:srgbClr val="3366CC"/>
                </a:solidFill>
              </a:rPr>
              <a:t xml:space="preserve">Документация ydata-profiling: </a:t>
            </a:r>
            <a:r>
              <a:rPr sz="1400">
                <a:solidFill>
                  <a:srgbClr val="3366CC"/>
                </a:solidFill>
                <a:hlinkClick r:id="rId3"/>
              </a:rPr>
              <a:t>https://docs.profiling.ydata.ai/</a:t>
            </a:r>
          </a:p>
        </p:txBody>
      </p:sp>
      <p:pic>
        <p:nvPicPr>
          <p:cNvPr id="6" name="Picture 5" descr="_qr_te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4114800"/>
            <a:ext cx="1371600" cy="13716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Производительность: когда pandas «не тянет»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pandas однопоточный — не для огромных данных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`iterrows` / `itertuples` — заменять векторизацией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`apply` с Python-функцией — ~100× медленнее векторизации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Первая линия: `.str`, numpy, `np.where` вместо `apply`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892040"/>
            <a:ext cx="6172200" cy="4572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928616"/>
            <a:ext cx="6025896" cy="38404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df['x'] * 2              # векторизация — быстро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# for i in range(len(df)): ...  # цикл — медленно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04104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Векторизация vs цикл</a:t>
            </a:r>
          </a:p>
        </p:txBody>
      </p:sp>
      <p:pic>
        <p:nvPicPr>
          <p:cNvPr id="7" name="Picture 6" descr="perf_vector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95443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Оптимизация памяти: downcasting типов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По умолчанию `float64`, `int64` — расточительно для ML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`astype('category')` для строк — экономия в 10–100×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`float32` вместо `float64` — обычно достаточно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`pd.to_numeric(..., downcast='integer')` — автоматический downcast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892040"/>
            <a:ext cx="6172200" cy="4572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928616"/>
            <a:ext cx="6025896" cy="38404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df['small_int'] = pd.to_numeric(df['small_int'], downcast='integer')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df['category'] = df['category'].astype('category')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04104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Меньше байт на ячейку</a:t>
            </a:r>
          </a:p>
        </p:txBody>
      </p:sp>
      <p:pic>
        <p:nvPicPr>
          <p:cNvPr id="7" name="Picture 6" descr="dtype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70342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Форматы хранения: Смерть CSV и восстание Parquet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CSV не сохраняет типы: ID `007`→`7`, даты→строки, категории→object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CSV медленен на больших датасетах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Parquet</a:t>
            </a:r>
            <a:r>
              <a:rPr lang="ru-RU" dirty="0" sz="2000">
                <a:solidFill>
                  <a:srgbClr val="000000"/>
                </a:solidFill>
              </a:rPr>
              <a:t xml:space="preserve"> — колоночный формат, типы pandas, сжатие 5–10×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CSV — отчёт бизнесу; внутри ML-пайплайна — `.to_parquet()`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690872"/>
            <a:ext cx="6172200" cy="630936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727448"/>
            <a:ext cx="6025896" cy="557784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df.to_parquet('data.parquet', index=False)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 = pd.read_parquet('data.parquet')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# типы и сжатие сохраняются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376672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Parquet вместо CSV</a:t>
            </a:r>
          </a:p>
        </p:txBody>
      </p:sp>
      <p:pic>
        <p:nvPicPr>
          <p:cNvPr id="7" name="Picture 6" descr="csv_vs_parqu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7460" y="1325880"/>
            <a:ext cx="4209054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Экспорт в продакшен: SQL и другие форматы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`to_sql(..., index=False)` — интеграция с БД через SQLAlchemy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`to_json()` — REST API и веб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`to_feather()` — быстрый бинарный промежуточный формат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Всегда `index=False` при экспорте — иначе лишний столбец</a:t>
            </a:r>
          </a:p>
        </p:txBody>
      </p:sp>
      <p:pic>
        <p:nvPicPr>
          <p:cNvPr id="4" name="Picture 3" descr="export_form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301230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Альтернативы: что использовать, когда pandas не справляется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Polars</a:t>
            </a:r>
            <a:r>
              <a:rPr lang="ru-RU" dirty="0" sz="2000">
                <a:solidFill>
                  <a:srgbClr val="000000"/>
                </a:solidFill>
              </a:rPr>
              <a:t xml:space="preserve"> (Rust) — ленивые вычисления, 10–100× быстрее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Dask</a:t>
            </a:r>
            <a:r>
              <a:rPr lang="ru-RU" dirty="0" sz="2000">
                <a:solidFill>
                  <a:srgbClr val="000000"/>
                </a:solidFill>
              </a:rPr>
              <a:t xml:space="preserve"> — распределённый pandas, данные &gt; RAM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DuckDB</a:t>
            </a:r>
            <a:r>
              <a:rPr lang="ru-RU" dirty="0" sz="2000">
                <a:solidFill>
                  <a:srgbClr val="000000"/>
                </a:solidFill>
              </a:rPr>
              <a:t xml:space="preserve"> — SQL-аналитика поверх файлов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pandas — EDA и &lt; 1–2 ГБ; продакшен чаще Polars/DuckDB</a:t>
            </a:r>
          </a:p>
        </p:txBody>
      </p:sp>
      <p:pic>
        <p:nvPicPr>
          <p:cNvPr id="4" name="Picture 3" descr="alternatives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970289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Pandas и GPU: разрушение мифов и экосистема RAPIDS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Миф: «pandas на GPU из коробки» — </a:t>
            </a:r>
            <a:r>
              <a:rPr lang="ru-RU" dirty="0" sz="2000" b="1">
                <a:solidFill>
                  <a:srgbClr val="000000"/>
                </a:solidFill>
              </a:rPr>
              <a:t>нативный pandas только CPU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</a:t>
            </a:r>
            <a:r>
              <a:rPr lang="ru-RU" dirty="0" sz="2000" b="1">
                <a:solidFill>
                  <a:srgbClr val="000000"/>
                </a:solidFill>
              </a:rPr>
              <a:t>cuDF</a:t>
            </a:r>
            <a:r>
              <a:rPr lang="ru-RU" dirty="0" sz="2000">
                <a:solidFill>
                  <a:srgbClr val="000000"/>
                </a:solidFill>
              </a:rPr>
              <a:t xml:space="preserve"> (NVIDIA RAPIDS) — API как pandas, вычисления на GPU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`cudf.pandas` — перехват вызовов GPU/CPU автоматически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В VRAM данные передаёт PyTorch (`tensor.to('cuda')`), не pandas</a:t>
            </a:r>
          </a:p>
        </p:txBody>
      </p:sp>
      <p:pic>
        <p:nvPicPr>
          <p:cNvPr id="4" name="Picture 3" descr="rapids_gpu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34403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Гигиена памяти в Jupyter: борьба с OOM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42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Jupyter хранит ссылки на старые датафреймы (`_`, история выводов)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Переопределение `df1` не освобождает память сразу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`del df_old` + `gc.collect()` перед тяжёлой моделью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Явное управление памятью — навык для больших ноутбуков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892040"/>
            <a:ext cx="6172200" cy="457200"/>
          </a:xfrm>
          <a:prstGeom prst="rect">
            <a:avLst/>
          </a:prstGeom>
          <a:solidFill>
            <a:srgbClr val="F5F5F5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1" y="4928616"/>
            <a:ext cx="6025896" cy="384048"/>
          </a:xfrm>
          <a:prstGeom prst="rect">
            <a:avLst/>
          </a:prstGeom>
          <a:noFill/>
        </p:spPr>
        <p:txBody>
          <a:bodyPr wrap="none">
            <a:noAutofit/>
          </a:bodyPr>
          <a:lstStyle/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del big_df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000000"/>
                </a:solidFill>
                <a:latin typeface="Consolas"/>
              </a:rPr>
              <a:t>df = df[['need', 'only', 'cols']].copy()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04104"/>
            <a:ext cx="6172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i="1">
                <a:solidFill>
                  <a:srgbClr val="555555"/>
                </a:solidFill>
              </a:defRPr>
            </a:pPr>
            <a:r>
              <a:t>del + gc.collect()</a:t>
            </a:r>
          </a:p>
        </p:txBody>
      </p:sp>
      <p:pic>
        <p:nvPicPr>
          <p:cNvPr id="7" name="Picture 6" descr="jupyter_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6405" y="1325880"/>
            <a:ext cx="3951163" cy="440740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Итоговая ментальная модель pandas для ML-инженера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626364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pandas = EDA и первичная очистка, не тяжёлые продакшен-трансформации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Индекс — ключ; помните при join/merge/concat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`.copy()` / `.loc`; векторизация &gt; apply &gt; iterrows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Fit-зависимое — в Pipeline; перед моделью — `.to_numpy()` + `reset_index()`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Промежуточные данные — Parquet; GPU — cuDF/PyTorch, не pandas</a:t>
            </a:r>
          </a:p>
        </p:txBody>
      </p:sp>
      <p:pic>
        <p:nvPicPr>
          <p:cNvPr id="4" name="Picture 3" descr="pandas_m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1325880"/>
            <a:ext cx="4465015" cy="213876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Чек-лист перед обучением модели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553212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`df.info()` — типы и пропуски; `describe()` — аномалии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`value_counts()` / `corr()` — кардинальность и мультиколлинеарность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 xml:space="preserve">• `drop_duplicates`; кодирование категорий; импутация </a:t>
            </a:r>
            <a:r>
              <a:rPr lang="ru-RU" dirty="0" sz="2000" b="1">
                <a:solidFill>
                  <a:srgbClr val="000000"/>
                </a:solidFill>
              </a:rPr>
              <a:t>не по всему датасету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55080" y="1371600"/>
            <a:ext cx="5532120" cy="2148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`train_test_split` до глобальных трансформаций; X,y → numpy с правильным dtype</a:t>
            </a:r>
          </a:p>
          <a:p>
            <a:pPr>
              <a:spcAft>
                <a:spcPts val="800"/>
              </a:spcAft>
            </a:pPr>
            <a:r>
              <a:rPr lang="ru-RU" dirty="0" sz="2000">
                <a:solidFill>
                  <a:srgbClr val="000000"/>
                </a:solidFill>
              </a:rPr>
              <a:t>• Проверка NaN/inf; Pipeline; `del` + `gc.collect()`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3200" b="1">
                <a:solidFill>
                  <a:srgbClr val="1A1A2E"/>
                </a:solidFill>
              </a:rPr>
              <a:t>Источники и практика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25880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Литература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2"/>
              </a:rPr>
              <a:t>McKinney W. (2010). Data Structures for Statistical Computing in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40280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3"/>
              </a:rPr>
              <a:t>Wickham H. (2014). Tidy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07208"/>
            <a:ext cx="6583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ru-RU" dirty="0" sz="1600">
                <a:solidFill>
                  <a:srgbClr val="000000"/>
                </a:solidFill>
              </a:rPr>
              <a:t xml:space="preserve">• </a:t>
            </a:r>
            <a:r>
              <a:rPr sz="1600">
                <a:solidFill>
                  <a:srgbClr val="3366CC"/>
                </a:solidFill>
                <a:hlinkClick r:id="rId4"/>
              </a:rPr>
              <a:t>Reback J., McKinney W., et al. (2020). pandas: powerful Python data analysis toolkit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74136"/>
            <a:ext cx="6583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Практика в Colab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2160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500">
                <a:solidFill>
                  <a:srgbClr val="000000"/>
                </a:solidFill>
              </a:rPr>
              <a:t xml:space="preserve">• Примеры по слайдам: </a:t>
            </a:r>
            <a:r>
              <a:rPr sz="1400">
                <a:solidFill>
                  <a:srgbClr val="3366CC"/>
                </a:solidFill>
                <a:hlinkClick r:id="rId5"/>
              </a:rPr>
              <a:t>https://colab.research.google.com/github/gurovic/ml-lessons/blob/main/lessons/pandas/code.ipynb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178808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 sz="1500">
                <a:solidFill>
                  <a:srgbClr val="000000"/>
                </a:solidFill>
              </a:rPr>
              <a:t xml:space="preserve">• Мини-проект: </a:t>
            </a:r>
            <a:r>
              <a:rPr sz="1400">
                <a:solidFill>
                  <a:srgbClr val="3366CC"/>
                </a:solidFill>
                <a:hlinkClick r:id="rId6"/>
              </a:rPr>
              <a:t>https://colab.research.google.com/github/gurovic/ml-lessons/blob/main/lessons/pandas/project.ipynb</a:t>
            </a:r>
          </a:p>
        </p:txBody>
      </p:sp>
      <p:pic>
        <p:nvPicPr>
          <p:cNvPr id="10" name="Picture 9" descr="_qr_ref_32_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0" y="1463040"/>
            <a:ext cx="1051560" cy="1051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38160" y="2532888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Примеры по слайдам</a:t>
            </a:r>
          </a:p>
        </p:txBody>
      </p:sp>
      <p:pic>
        <p:nvPicPr>
          <p:cNvPr id="12" name="Picture 11" descr="_qr_ref_32_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3063240"/>
            <a:ext cx="1051560" cy="1051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4133087"/>
            <a:ext cx="141731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555555"/>
                </a:solidFill>
              </a:defRPr>
            </a:pPr>
            <a:r>
              <a:t>Мини-проект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