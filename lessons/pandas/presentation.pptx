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ference.scipy.org/proceedings/scipy2010/mckinney.html" TargetMode="External"/><Relationship Id="rId3" Type="http://schemas.openxmlformats.org/officeDocument/2006/relationships/hyperlink" Target="http://vita.had.co.nz/papers/tidy-data.pdf" TargetMode="External"/><Relationship Id="rId4" Type="http://schemas.openxmlformats.org/officeDocument/2006/relationships/hyperlink" Target="https://doi.org/10.5281/zenodo.3509134" TargetMode="External"/><Relationship Id="rId5" Type="http://schemas.openxmlformats.org/officeDocument/2006/relationships/hyperlink" Target="https://colab.research.google.com/github/gurovic/ml-lessons/blob/main/lessons/pandas/code.ipynb" TargetMode="External"/><Relationship Id="rId6" Type="http://schemas.openxmlformats.org/officeDocument/2006/relationships/hyperlink" Target="https://colab.research.google.com/github/gurovic/ml-lessons/blob/main/lessons/pandas/project.ipynb" TargetMode="External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Столбец `object` — указатели на Python-объекты (медленно); современный стандарт — `string[pyarrow]`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03809"/>
            <a:ext cx="4343400" cy="29247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`reset_index(drop=True)`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индексы, но при склейке в pandas несовпадение даст неожиданные 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pandas as pd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 = pd.DataFrame({'a': [1, 2]}, index=['x', 'y'])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df.loc['x']      # по метке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df.iloc[0]       # по позиции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Метка vs позиция</a:t>
            </a:r>
          </a:p>
        </p:txBody>
      </p:sp>
      <p:pic>
        <p:nvPicPr>
          <p:cNvPr id="7" name="Picture 6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`df[df['age'] &gt; 30]`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1: `df['age'] &gt; 30` → булев массив `[True, False, True, \ldots]`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2: `df[mask]` возвращает строки, где `True`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Составные условия: `&amp;`, `|`, `~` (не `and`/`or`);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mask = df['age'] &gt; 18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adults = df[mask]           # фильтр булевой маской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df.loc[df['city'] == 'MSK'] # то же через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Фильтрация строк</a:t>
            </a:r>
          </a:p>
        </p:txBody>
      </p:sp>
      <p:pic>
        <p:nvPicPr>
          <p:cNvPr id="7" name="Picture 6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17026"/>
            <a:ext cx="4343400" cy="1298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Три способа обратиться к данным: `[]`, `.loc`, `.iloc`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`df['col']`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`.iloc[i, j]`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`.loc[label, col]`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Присваивание — через `.loc`; перед sklearn удобнее `.iloc` (позиционная индексация)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col = df['price']          # столбец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cell = df.loc[10, 'price'] # по метке индекса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cell = df.iloc[0, 2]       # по позиции (0,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[] / loc / iloc</a:t>
            </a:r>
          </a:p>
        </p:txBody>
      </p:sp>
      <p:pic>
        <p:nvPicPr>
          <p:cNvPr id="7" name="Picture 6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55813"/>
            <a:ext cx="4343400" cy="30206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`subset = df[df['age'] &gt; 30]; subset['new_col'] = 1`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Изменения могут не попасть в `df`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`.copy()` или `df.loc[mask, 'col'] = value`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 = df[df['active']].copy()  # явная копия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df2.loc[:, 'score'] = 0        # без предупреждения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без .copy() — риск записи во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copy() перед присваиванием</a:t>
            </a:r>
          </a:p>
        </p:txBody>
      </p:sp>
      <p:pic>
        <p:nvPicPr>
          <p:cNvPr id="7" name="Picture 6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`pd.options.mode.copy_on_write = True`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ML: `.copy()`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«пустые»: `np.nan` (числа), `None` (object), `pd.NaT`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`df.isnull().sum()`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Раньше пропуск в `int64` → весь столбец во `float64`;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(`Int64`, `boolean`, `pd.NA`)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df['col'].isna().sum()          # число пропусков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df['col'].fillna(df['col'].median())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 = df.dropna(subset=['target'])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isna / fillna / dropna</a:t>
            </a:r>
          </a:p>
        </p:txBody>
      </p:sp>
      <p:pic>
        <p:nvPicPr>
          <p:cNvPr id="7" name="Picture 6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431" y="1325880"/>
            <a:ext cx="3207016" cy="2203704"/>
          </a:xfrm>
          <a:prstGeom prst="rect">
            <a:avLst/>
          </a:prstGeom>
        </p:spPr>
      </p:pic>
      <p:pic>
        <p:nvPicPr>
          <p:cNvPr id="8" name="Picture 7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95127"/>
            <a:ext cx="4343400" cy="181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аналитика: `value_counts()`, `nunique()`, `corr()`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`nunique()`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`corr()`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`describe(include='all')` — числа и категории в одном отчёте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df['category'].value_counts()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df['user_id'].nunique()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df[numeric_cols].corr()['target'].sort_values()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Частоты и корреляции</a:t>
            </a:r>
          </a:p>
        </p:txBody>
      </p:sp>
      <p:pic>
        <p:nvPicPr>
          <p:cNvPr id="7" name="Picture 6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247" y="1325880"/>
            <a:ext cx="2557384" cy="2203703"/>
          </a:xfrm>
          <a:prstGeom prst="rect">
            <a:avLst/>
          </a:prstGeom>
        </p:spPr>
      </p:pic>
      <p:pic>
        <p:nvPicPr>
          <p:cNvPr id="8" name="Picture 7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`agg()`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`transform()`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`df['dev'] = df['income'] - df.groupby('city')['income'].transform('mean')`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Без `transform` нельзя создать контекстный признак без потери гранулярности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df.groupby('city')['sales'].agg(['mean', 'count'])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df.groupby('date')['amount'].sum().reset_index()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groupby + agg</a:t>
            </a:r>
          </a:p>
        </p:txBody>
      </p:sp>
      <p:pic>
        <p:nvPicPr>
          <p:cNvPr id="7" name="Picture 6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`groupby(['city','cat']).agg(['mean','std'])`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`reset_index()` или `as_index=False` в `groupby()`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 = df.groupby(['city', 'year'])['sales'].mean()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g.loc['MSK']          # срез по первому уровню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g.reset_index()       # обратно в таблицу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MultiIndex после groupby</a:t>
            </a:r>
          </a:p>
        </p:txBody>
      </p:sp>
      <p:pic>
        <p:nvPicPr>
          <p:cNvPr id="7" name="Picture 6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1473"/>
            <a:ext cx="4343400" cy="1249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(`category` + `.cat.codes`)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`pd.get_dummies(..., drop_first=True)`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`Pipeline`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Числа 0,1,2 для деревьев ок, для линейных моделей — ломает геометрию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df['color'] = df['color'].astype('category')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df['color'].cat.codes   # целые коды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pd.get_dummies(df, columns=['color'])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category и get_dummies</a:t>
            </a:r>
          </a:p>
        </p:txBody>
      </p:sp>
      <p:pic>
        <p:nvPicPr>
          <p:cNvPr id="7" name="Picture 6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`np.where` — векторизованные условия, в сотни раз быстрее `apply`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`pd.cut` — равные интервалы; `pd.qcut`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`clip` / Winsorization: `df['x'].clip(upper=quantile(0.99))`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Линейным моделям помогает биннинг; деревьям — проще разбиения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df['bucket'] = pd.cut(df['age'], bins=[0, 18, 65, 100])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df['flag'] = (df['score'] &gt; 0.5).astype(int)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 = df[df['amount'] &gt; 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cut и условия</a:t>
            </a:r>
          </a:p>
        </p:txBody>
      </p:sp>
      <p:pic>
        <p:nvPicPr>
          <p:cNvPr id="7" name="Picture 6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70162"/>
            <a:ext cx="4343400" cy="1515140"/>
          </a:xfrm>
          <a:prstGeom prst="rect">
            <a:avLst/>
          </a:prstGeom>
        </p:spPr>
      </p:pic>
      <p:pic>
        <p:nvPicPr>
          <p:cNvPr id="8" name="Picture 7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Работа с текстом: стринговый аксессор `.str`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`.str`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`.str.len()`, `.str.lower()`, `.str.contains()`, `.str.replace()`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`.str.extract(regex)` — извлечение в DataFrame; `.str.split().str[0]`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с `object` и `string[pyarrow]`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df['email'].str.lower()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df['name'].str.contains('ivan', case=False)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df['phone'].str.replace('-', '', regex=False)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.str</a:t>
            </a:r>
          </a:p>
        </p:txBody>
      </p:sp>
      <p:pic>
        <p:nvPicPr>
          <p:cNvPr id="7" name="Picture 6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Время как признак: аксессор `.dt`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`.dt.dayofweek`, `.dt.hour`, `.dt.is_month_end`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приводите к `datetime64` перед `.dt`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df['ts'] = pd.to_datetime(df['ts'])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df['hour'] = df['ts'].dt.hour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df['weekday'] = df['ts'].dt.dayofweek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.dt</a:t>
            </a:r>
          </a:p>
        </p:txBody>
      </p:sp>
      <p:pic>
        <p:nvPicPr>
          <p:cNvPr id="7" name="Picture 6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`df.to_numpy()`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`df.select_dtypes(include=np.number).to_numpy()`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`pd.DataFrame(arr, columns=[...])`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Строки в DataFrame → `.to_numpy()` даст `object`, модель сломается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arr = df[['x', 'y']].to_numpy()   # DataFrame → ndarray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 = pd.DataFrame(arr, columns=['x', 'y'])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df.values  # устаревший alias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to_numpy()</a:t>
            </a:r>
          </a:p>
        </p:txBody>
      </p:sp>
      <p:pic>
        <p:nvPicPr>
          <p:cNvPr id="7" name="Picture 6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5922"/>
            <a:ext cx="4343400" cy="1240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`pd.concat([df1, df2], axis=1)`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`train_test_split` — `reset_index(drop=True)` перед concat по столбцам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out = pd.merge(users, orders, on='user_id', how='left')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wide = pd.concat([df_a, df_b], axis=1)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merge и concat</a:t>
            </a:r>
          </a:p>
        </p:txBody>
      </p:sp>
      <p:pic>
        <p:nvPicPr>
          <p:cNvPr id="7" name="Picture 6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166" y="1325880"/>
            <a:ext cx="3213547" cy="2203703"/>
          </a:xfrm>
          <a:prstGeom prst="rect">
            <a:avLst/>
          </a:prstGeom>
        </p:spPr>
      </p:pic>
      <p:pic>
        <p:nvPicPr>
          <p:cNvPr id="8" name="Picture 7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72654"/>
            <a:ext cx="4343400" cy="1863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Классический `merge`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`pd.merge_asof()`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транзакции + курс валют `direction='backward'`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Нужен для признаков «курс/погода на момент события»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76656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62025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pd.merge_asof(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quotes.sort_values('time'),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trades.sort_values('time'),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on='time', direction='backward',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Ближайшее прошлое событие</a:t>
            </a:r>
          </a:p>
        </p:txBody>
      </p:sp>
      <p:pic>
        <p:nvPicPr>
          <p:cNvPr id="7" name="Picture 6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85699"/>
            <a:ext cx="4343400" cy="27609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категории Train/Test → разное число OHE-столбцов → `handle_unknown='ignore'`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Старые индексы после split → NaN при склейке → `reset_index(drop=True)`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 fit-зависимые шаги — внутри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 = df.drop(columns=['target'])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 = df['target']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model.fit(X.select_dtypes('number'), 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Только числовые столбцы</a:t>
            </a:r>
          </a:p>
        </p:txBody>
      </p:sp>
      <p:pic>
        <p:nvPicPr>
          <p:cNvPr id="7" name="Picture 6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Путь: pandas → numpy → `torch.from_numpy()` → `TensorDataset`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`torch.from_numpy(X)`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Независимость: `torch.tensor(X)` или `.copy()`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 задавайте `dtype` — `object`/`int64` для float-тензоров не подходят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 = torch.tensor(df[cols].to_numpy(), dtype=torch.float32)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y_t = torch.tensor(df['y'].to_numpy())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DataFrame → tensor</a:t>
            </a:r>
          </a:p>
        </p:txBody>
      </p:sp>
      <p:pic>
        <p:nvPicPr>
          <p:cNvPr id="7" name="Picture 6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93637"/>
            <a:ext cx="4343400" cy="13450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Импутация `fillna(mean())`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как сигнал (`timestamp`, `user_id`) если забыли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fit-зависимые шаги в `sklearn.Pipeline`; pandas — загрузка и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sklearn.model_selection import train_test_split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train, test = train_test_split(df,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mu = train['x'].mean()  # статистика только с train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test['x'] = test['x'].fillna(mu)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Impute после split</a:t>
            </a:r>
          </a:p>
        </p:txBody>
      </p:sp>
      <p:pic>
        <p:nvPicPr>
          <p:cNvPr id="7" name="Picture 6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50 ГБ CSV при 16 ГБ RAM — `read_csv()`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`chunksize` в `read_csv()`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Альтернатива: Parquet + фильтрация через `pyarrow`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chunks = pd.read_csv('big.csv', chunksize=100_000)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for chunk in chunks: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process(chunk)  # обработка по частям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read_csv(chunksize=...)</a:t>
            </a:r>
          </a:p>
        </p:txBody>
      </p:sp>
      <p:pic>
        <p:nvPicPr>
          <p:cNvPr id="7" name="Picture 6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Ручной EDA (`info`, `describe`, `value_counts`)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`ydata-profiling` (бывш. `pandas-profiling`)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74507"/>
            <a:ext cx="4343400" cy="3583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`iterrows` / `itertuples`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`apply`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Первая линия: `.str`, numpy, `np.where` вместо `apply`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df['x'] * 2              # векторизация — быстро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for i in range(len(df)): ...  # цикл — медленно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Векторизация vs цикл</a:t>
            </a:r>
          </a:p>
        </p:txBody>
      </p:sp>
      <p:pic>
        <p:nvPicPr>
          <p:cNvPr id="7" name="Picture 6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 умолчанию `float64`, `int64`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`astype('category')`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`float32` вместо `float64`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`pd.to_numeric(..., downcast='integer')` — автоматический downcast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df['small_int'] = pd.to_numeric(df['small_int'], downcast='integer')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df['category'] = df['category'].astype('category')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Меньше байт на ячейку</a:t>
            </a:r>
          </a:p>
        </p:txBody>
      </p:sp>
      <p:pic>
        <p:nvPicPr>
          <p:cNvPr id="7" name="Picture 6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не сохраняет типы: ID `007`→`7`,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— отчёт бизнесу; внутри ML-пайплайна — `.to_parquet()`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df.to_parquet('data.parquet', index=False)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 = pd.read_parquet('data.parquet')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типы и сжатие сохраняются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Parquet вместо CSV</a:t>
            </a:r>
          </a:p>
        </p:txBody>
      </p:sp>
      <p:pic>
        <p:nvPicPr>
          <p:cNvPr id="7" name="Picture 6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`to_sql(..., index=False)`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`to_json()`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`to_feather()`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`index=False`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694"/>
            <a:ext cx="4343400" cy="29929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`cudf.pandas`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VRAM данные передаёт PyTorch (`tensor.to('cuda')`),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8113"/>
            <a:ext cx="4343400" cy="26960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Jupyter хранит ссылки на старые датафреймы (`_`,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Переопределение `df1`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`del df_old` + `gc.collect()`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Явное управление памятью — навык для больших ноутбуков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del big_df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gc; gc.collect()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 = df[['need', 'only', 'cols']].copy()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del + gc.collect()</a:t>
            </a:r>
          </a:p>
        </p:txBody>
      </p:sp>
      <p:pic>
        <p:nvPicPr>
          <p:cNvPr id="7" name="Picture 6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4435"/>
            <a:ext cx="4343400" cy="132344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`.copy()` / `.loc`;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Fit-зависимое — в Pipeline; перед моделью — `.to_numpy()` +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29535"/>
            <a:ext cx="4343400" cy="24732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`df.info()` — типы и пропуски; `describe()`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/ `corr()`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`drop_duplicates`;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Проверка NaN/inf; Pipeline; `del` + `gc.collect()`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McKinney W. (2010). Data Structures for Statistical Computing in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(2014). Tidy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Reback J., McKinney W., et al. (2020). pandas: powerful Python data analysis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https://colab.research.google.com/github/gurovic/ml-lessons/blob/main/lessons/pandas/code.ipynb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https://colab.research.google.com/github/gurovic/ml-lessons/blob/main/lessons/pandas/project.ipynb</a:t>
            </a:r>
          </a:p>
        </p:txBody>
      </p:sp>
      <p:pic>
        <p:nvPicPr>
          <p:cNvPr id="10" name="Picture 9" descr="_qr_ref_3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32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