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Мотивация: Anscombe quartet — одни stats, разные графики.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OO-стиль предпочтительнее plt.plot напрямую.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curve как ML-пример.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Scatter income vs price из California.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Сравнение метрик моделей.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Остатки модели — hist; Fare Titanic — box по Pclass.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pairplot только на 4–5 признаках — иначе медленно.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Доступность: color +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2×2 EDA на одном экране.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Ссылка на урок линейной регрессии — multicollinearity.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Survived по Sex — countplot.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pie vs bar одних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Согласованность с viz_style.py для PNG слайдов.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Синтетика с heteroscedastic funnel vs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Связь с уроком логистической регрессии.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bar с ylim(0.9, 1.0) vs (0,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Завершение перед project.ipynb.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Визуализация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55555"/>
                </a:solidFill>
              </a:defRPr>
            </a:pPr>
            <a:r>
              <a:t>Автор: Гуровиц Владимир Михайлович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77777"/>
                </a:solidFill>
              </a:defRPr>
            </a:pPr>
            <a:r>
              <a:t>Email: vladimir.gurovic@letovo.ru, gurovic@gmail.com | Telegram: @gurovic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9999"/>
                </a:solidFill>
              </a:defRPr>
            </a:pPr>
            <a:r>
              <a:t>28.06.2026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Зачем визуализировать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График показывает </a:t>
            </a:r>
            <a:r>
              <a:rPr lang="ru-RU" dirty="0" sz="2000" b="1">
                <a:solidFill>
                  <a:srgbClr val="000000"/>
                </a:solidFill>
              </a:rPr>
              <a:t>форму</a:t>
            </a:r>
            <a:r>
              <a:rPr lang="ru-RU" dirty="0" sz="2000">
                <a:solidFill>
                  <a:srgbClr val="000000"/>
                </a:solidFill>
              </a:rPr>
              <a:t xml:space="preserve"> распределения, выбросы и связи быстрее таблицы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EDA до модели: «что вообще в данных?» — scatter, hist, box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Диагностика модели: остатки, ROC, calibration — график ловит ошибки метрик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Хорошая визуализация — аргумент для коллег и проверка собственных гипотез</a:t>
            </a:r>
          </a:p>
        </p:txBody>
      </p:sp>
      <p:pic>
        <p:nvPicPr>
          <p:cNvPr id="4" name="Picture 3" descr="anscombe_quart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25234"/>
            <a:ext cx="4343400" cy="3481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Matplotlib: figure и axes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`fig, ax = plt.subplots()` — </a:t>
            </a:r>
            <a:r>
              <a:rPr lang="ru-RU" dirty="0" sz="2000" b="1">
                <a:solidFill>
                  <a:srgbClr val="000000"/>
                </a:solidFill>
              </a:rPr>
              <a:t>figure</a:t>
            </a:r>
            <a:r>
              <a:rPr lang="ru-RU" dirty="0" sz="2000">
                <a:solidFill>
                  <a:srgbClr val="000000"/>
                </a:solidFill>
              </a:rPr>
              <a:t xml:space="preserve"> (холст) и </a:t>
            </a:r>
            <a:r>
              <a:rPr lang="ru-RU" dirty="0" sz="2000" b="1">
                <a:solidFill>
                  <a:srgbClr val="000000"/>
                </a:solidFill>
              </a:rPr>
              <a:t>axes</a:t>
            </a:r>
            <a:r>
              <a:rPr lang="ru-RU" dirty="0" sz="2000">
                <a:solidFill>
                  <a:srgbClr val="000000"/>
                </a:solidFill>
              </a:rPr>
              <a:t xml:space="preserve"> (область графика)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Рисуем на `ax`: `ax.plot(...)`, `ax.set_xlabel(...)` — не смешивать pyplot без нужды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`plt.tight_layout()` — подгонка отступов перед `plt.show()` или savefig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`%matplotlib inline` в Jupyter — график под ячейкой</a:t>
            </a:r>
          </a:p>
        </p:txBody>
      </p:sp>
      <p:pic>
        <p:nvPicPr>
          <p:cNvPr id="4" name="Picture 3" descr="fig_axe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928206"/>
            <a:ext cx="4343400" cy="32759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Line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`ax.plot(x, y)` — тренды во времени, learning curve, validation curve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Маркеры `marker='o'` помогают при малом числе точек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Несколько линий на одном axes — разные `label` + `ax.legend()`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Не соединяй линией категории без порядка — line для упорядоченной оси X</a:t>
            </a:r>
          </a:p>
        </p:txBody>
      </p:sp>
      <p:pic>
        <p:nvPicPr>
          <p:cNvPr id="4" name="Picture 3" descr="line_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075955"/>
            <a:ext cx="4343400" cy="29804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Scatter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`ax.scatter(x, y, alpha=0.5, s=20)` — связь двух числовых признаков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Цвет `c=target` или `hue` в seaborn — классы или третий признак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Выбросы видны как изолированные точки; кластеры — плотные облака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Базовый график регрессии и классификации в 2D</a:t>
            </a:r>
          </a:p>
        </p:txBody>
      </p:sp>
      <p:pic>
        <p:nvPicPr>
          <p:cNvPr id="4" name="Picture 3" descr="scatter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939656"/>
            <a:ext cx="4343400" cy="32530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Bar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`ax.bar(categories, values)` — сравнение </a:t>
            </a:r>
            <a:r>
              <a:rPr lang="ru-RU" dirty="0" sz="2000" b="1">
                <a:solidFill>
                  <a:srgbClr val="000000"/>
                </a:solidFill>
              </a:rPr>
              <a:t>дискретных</a:t>
            </a:r>
            <a:r>
              <a:rPr lang="ru-RU" dirty="0" sz="2000">
                <a:solidFill>
                  <a:srgbClr val="000000"/>
                </a:solidFill>
              </a:rPr>
              <a:t xml:space="preserve"> категорий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Горизонтальный `barh` — длинные подписи категорий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Grouped bar — несколько серий рядом; stacked — доли суммы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Ось Y для bar должна начинаться с </a:t>
            </a:r>
            <a:r>
              <a:rPr lang="ru-RU" dirty="0" sz="2000" b="1">
                <a:solidFill>
                  <a:srgbClr val="000000"/>
                </a:solidFill>
              </a:rPr>
              <a:t>0</a:t>
            </a:r>
            <a:r>
              <a:rPr lang="ru-RU" dirty="0" sz="2000">
                <a:solidFill>
                  <a:srgbClr val="000000"/>
                </a:solidFill>
              </a:rPr>
              <a:t>, иначе преувеличение различий</a:t>
            </a:r>
          </a:p>
        </p:txBody>
      </p:sp>
      <p:pic>
        <p:nvPicPr>
          <p:cNvPr id="4" name="Picture 3" descr="bar_metrics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073874"/>
            <a:ext cx="4343400" cy="29845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Histogram и box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`ax.hist(data, bins=30)` — распределение одной переменной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Box plot: медиана, IQR, whiskers, точки-выбросы — `ax.boxplot` или `sns.boxplot`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Hist + KDE (seaborn) — форма пика и хвостов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Разное число bins меняет впечатление — пробуй несколько значений</a:t>
            </a:r>
          </a:p>
        </p:txBody>
      </p:sp>
      <p:pic>
        <p:nvPicPr>
          <p:cNvPr id="4" name="Picture 3" descr="hist_box_com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775910"/>
            <a:ext cx="4343400" cy="15804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Seaborn: высокоуровневые графики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Seaborn строит на matplotlib: `sns.scatterplot`, `sns.histplot`, `sns.heatmap`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`data=df, x=, y=, hue=` — имена столбцов вместо массивов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`sns.set_theme(style='whitegrid')` — единый стиль лекции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Для ML-диагностики: `sns.regplot`, `jointplot`, `pairplot` на подмножестве признаков</a:t>
            </a:r>
          </a:p>
        </p:txBody>
      </p:sp>
      <p:pic>
        <p:nvPicPr>
          <p:cNvPr id="4" name="Picture 3" descr="seaborn_scatter_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939656"/>
            <a:ext cx="4343400" cy="32530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Подписи, легенды и цвет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Оси: `set_xlabel`, `set_ylabel`, `set_title` — </a:t>
            </a:r>
            <a:r>
              <a:rPr lang="ru-RU" dirty="0" sz="2000" b="1">
                <a:solidFill>
                  <a:srgbClr val="000000"/>
                </a:solidFill>
              </a:rPr>
              <a:t>на русском</a:t>
            </a:r>
            <a:r>
              <a:rPr lang="ru-RU" dirty="0" sz="2000">
                <a:solidFill>
                  <a:srgbClr val="000000"/>
                </a:solidFill>
              </a:rPr>
              <a:t xml:space="preserve"> в наших ноутбуках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`legend()` — подписи серий; `loc='best'` или явное место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Цвет: colorblind-friendly палитры (`tab10`, `colorblind` в seaborn)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Не полагайся только на цвет — добавь маркер/ linestyle для различия серий</a:t>
            </a:r>
          </a:p>
        </p:txBody>
      </p:sp>
      <p:pic>
        <p:nvPicPr>
          <p:cNvPr id="4" name="Picture 3" descr="legend_color_mar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073874"/>
            <a:ext cx="4343400" cy="29845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Несколько subplots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`fig, axes = plt.subplots(nrows, ncols, figsize=(w,h))` — сетка графиков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`axes.ravel()` — плоский обход ячеек; `axes[0,1]` — доступ по индексу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`fig.suptitle('Общий заголовок')` — над всей фигурой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Одинаковые пределы осей (`sharex`, `sharey`) — для сравнения панелей</a:t>
            </a:r>
          </a:p>
        </p:txBody>
      </p:sp>
      <p:pic>
        <p:nvPicPr>
          <p:cNvPr id="4" name="Picture 3" descr="subplots_grid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25234"/>
            <a:ext cx="4343400" cy="3481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Heatmap и корреляции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`df.corr()` — матрица Pearson; `sns.heatmap(corr, annot=True, cmap='RdBu_r', center=0)`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Сильная |r| ≳ 0.8 — кандидаты на мультиколлинеарность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Корреляция ≠ причинность; скрытые нелинейные связи corr не видит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Масштабируй признаки перед интерпретацией corr в смешанных единицах</a:t>
            </a:r>
          </a:p>
        </p:txBody>
      </p:sp>
      <p:pic>
        <p:nvPicPr>
          <p:cNvPr id="4" name="Picture 3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364913"/>
            <a:ext cx="4343400" cy="44024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Категориальные графики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`sns.countplot(data=df, x='col')` — частоты категорий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`sns.barplot(x=, y=, estimator='mean')` — агрегат по категории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Violin / stripplot — распределение внутри категории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Порядок категорий на оси X задавай явно (`order=`) для читаемости</a:t>
            </a:r>
          </a:p>
        </p:txBody>
      </p:sp>
      <p:pic>
        <p:nvPicPr>
          <p:cNvPr id="4" name="Picture 3" descr="categorical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775910"/>
            <a:ext cx="4343400" cy="15804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Pie chart: ловушки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Круговая диаграмма — </a:t>
            </a:r>
            <a:r>
              <a:rPr lang="ru-RU" dirty="0" sz="2000" b="1">
                <a:solidFill>
                  <a:srgbClr val="000000"/>
                </a:solidFill>
              </a:rPr>
              <a:t>слабой</a:t>
            </a:r>
            <a:r>
              <a:rPr lang="ru-RU" dirty="0" sz="2000">
                <a:solidFill>
                  <a:srgbClr val="000000"/>
                </a:solidFill>
              </a:rPr>
              <a:t xml:space="preserve"> точности сравнения углов и долей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Много секторов (&gt;5) — нечитаемо; малые доли не отличить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Лучше </a:t>
            </a:r>
            <a:r>
              <a:rPr lang="ru-RU" dirty="0" sz="2000" b="1">
                <a:solidFill>
                  <a:srgbClr val="000000"/>
                </a:solidFill>
              </a:rPr>
              <a:t>bar chart</a:t>
            </a:r>
            <a:r>
              <a:rPr lang="ru-RU" dirty="0" sz="2000">
                <a:solidFill>
                  <a:srgbClr val="000000"/>
                </a:solidFill>
              </a:rPr>
              <a:t xml:space="preserve"> для сравнения долей; pie — редко, для 2–3 сегментов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3D pie и «explode» — декоративный шум, не добавляет информации</a:t>
            </a:r>
          </a:p>
        </p:txBody>
      </p:sp>
      <p:pic>
        <p:nvPicPr>
          <p:cNvPr id="4" name="Picture 3" descr="pie_v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719133"/>
            <a:ext cx="4343400" cy="169405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Стиль и читаемость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Белый фон, тёмный текст `#1a1a1a` — как на слайдах курса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Размер шрифта осей 12–14 pt в ноутбуке; `figsize` достаточный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Меньше «chartjunk»: лишние сетки, 3D, тени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Один график — одна мысль; не перегружай элементы</a:t>
            </a:r>
          </a:p>
        </p:txBody>
      </p:sp>
      <p:pic>
        <p:nvPicPr>
          <p:cNvPr id="4" name="Picture 3" descr="style_clean_vs_clu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775910"/>
            <a:ext cx="4343400" cy="15804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Визуализация для ML: остатки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Residual plot: ось X — </a:t>
            </a:r>
            <ns0:m xmlns:ns0="http://schemas.microsoft.com/office/drawing/2010/main">
              <m:oMath xmlns:m="http://schemas.openxmlformats.org/officeDocument/2006/math">
                <m:acc>
                  <m:accPr>
                    <m:chr m:val="̂"/>
                  </m:accPr>
                  <m:e>
                    <m:r>
                      <m:t>y</m:t>
                    </m:r>
                  </m:e>
                </m:acc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, ось Y — </a:t>
            </a:r>
            <ns0:m xmlns:ns0="http://schemas.microsoft.com/office/drawing/2010/main">
              <m:oMath xmlns:m="http://schemas.openxmlformats.org/officeDocument/2006/math">
                <m:r>
                  <m:t>y−</m:t>
                </m:r>
                <m:acc>
                  <m:accPr>
                    <m:chr m:val="̂"/>
                  </m:accPr>
                  <m:e>
                    <m:r>
                      <m:t>y</m:t>
                    </m:r>
                  </m:e>
                </m:acc>
              </m:oMath>
            </ns0:m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Идеал — случайное облако вокруг нуля без «воронки» или U-образного паттерна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Histogram остатков — близость к симметрии (не строгая нормальность)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Тот же приём, что в уроке линейной регрессии — единый язык диагностики</a:t>
            </a:r>
          </a:p>
        </p:txBody>
      </p:sp>
      <p:pic>
        <p:nvPicPr>
          <p:cNvPr id="4" name="Picture 3" descr="residuals_good_vs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775910"/>
            <a:ext cx="4343400" cy="15804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Визуализация для ML: ROC и 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ROC: TPR vs FPR при смене порога; площадь AUC — ранжирование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PR-кривая важнее при </a:t>
            </a:r>
            <a:r>
              <a:rPr lang="ru-RU" dirty="0" sz="2000" b="1">
                <a:solidFill>
                  <a:srgbClr val="000000"/>
                </a:solidFill>
              </a:rPr>
              <a:t>дисбалансе</a:t>
            </a:r>
            <a:r>
              <a:rPr lang="ru-RU" dirty="0" sz="2000">
                <a:solidFill>
                  <a:srgbClr val="000000"/>
                </a:solidFill>
              </a:rPr>
              <a:t xml:space="preserve"> классов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sklearn: `RocCurveDisplay.from_predictions`, `PrecisionRecallDisplay`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Добавляй диагональ случайного классификатора на ROC для ориентира</a:t>
            </a:r>
          </a:p>
        </p:txBody>
      </p:sp>
      <p:pic>
        <p:nvPicPr>
          <p:cNvPr id="4" name="Picture 3" descr="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775910"/>
            <a:ext cx="4343400" cy="158049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Типичные ошибки визуализации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Truncated axis на bar (Y не с нуля) — ложное усиление эффекта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Dual axis с разными масштабами — ложные корреляции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Слишком мало/много bins в histogram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Подписи перекрываются — `rotation`, `tight_layout`, уменьшение шрифта</a:t>
            </a:r>
          </a:p>
        </p:txBody>
      </p:sp>
      <p:pic>
        <p:nvPicPr>
          <p:cNvPr id="4" name="Picture 3" descr="truncated_axis_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775910"/>
            <a:ext cx="4343400" cy="15804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Связь с уроками ML и 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Линейная регрессия: scatter+line, residuals, bar метрик — те же паттерны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Логистическая: ROC/PR, calibration, decision boundary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Деревья: `plot_tree`, feature importance bar, confusion matrix heatmap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Чек-лист: EDA → модель → диагностика; подписи на русском; bar с нуля</a:t>
            </a:r>
          </a:p>
        </p:txBody>
      </p:sp>
      <p:pic>
        <p:nvPicPr>
          <p:cNvPr id="4" name="Picture 3" descr="ml_lessons_viz_coll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25234"/>
            <a:ext cx="4343400" cy="3481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