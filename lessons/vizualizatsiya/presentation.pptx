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Мотивация: Anscombe quartet — одни stats, разные графики.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OO-стиль предпочтительнее plt.plot напрямую.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curve как ML-пример.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Scatter income vs price из California.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метрик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модели — hist; Fare Titanic — box по Pclass.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pairplot только на 4–5 признаках — иначе медленно.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Доступность: color + marker.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2×2 EDA на одном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Ссылка на урок линейной регрессии — multicollinearity.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Survived по Sex — countplot.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pie vs bar одних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Согласованность с viz_style.py для PNG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Синтетика с heteroscedastic funnel vs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Связь с уроком логистической регрессии.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bar с ylim(0.9, 1.0) vs (0,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Завершение перед project.ipynb.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80/01621459.1984.10477176" TargetMode="External"/><Relationship Id="rId3" Type="http://schemas.openxmlformats.org/officeDocument/2006/relationships/hyperlink" Target="https://doi.org/10.1007/s00180-009-0118-0" TargetMode="External"/><Relationship Id="rId4" Type="http://schemas.openxmlformats.org/officeDocument/2006/relationships/hyperlink" Target="https://colab.research.google.com/github/gurovic/ml-lessons/blob/feature/references-and-slide-code/lessons/vizualizatsiya/code.ipynb" TargetMode="External"/><Relationship Id="rId5" Type="http://schemas.openxmlformats.org/officeDocument/2006/relationships/hyperlink" Target="https://colab.research.google.com/github/gurovic/ml-lessons/blob/feature/references-and-slide-code/lessons/vizualizatsiya/project.ipynb" TargetMode="External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Визуализация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визуализировать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 показывает </a:t>
            </a:r>
            <a:r>
              <a:rPr lang="ru-RU" dirty="0" sz="2000" b="1">
                <a:solidFill>
                  <a:srgbClr val="000000"/>
                </a:solidFill>
              </a:rPr>
              <a:t>форму</a:t>
            </a:r>
            <a:r>
              <a:rPr lang="ru-RU" dirty="0" sz="2000">
                <a:solidFill>
                  <a:srgbClr val="000000"/>
                </a:solidFill>
              </a:rPr>
              <a:t xml:space="preserve"> распределения, выбросы и связи быстрее таблицы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EDA до модели: «что вообще в данных?» — scatter, hist, box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Диагностика модели: остатки, ROC, calibration — график ловит ошибки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визуализация — аргумент для коллег и проверка собственных гипотез</a:t>
            </a:r>
          </a:p>
        </p:txBody>
      </p:sp>
      <p:pic>
        <p:nvPicPr>
          <p:cNvPr id="4" name="Picture 3" descr="anscombe_quar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Matplotlib: figure и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`fig, ax = plt.subplots()` — </a:t>
            </a:r>
            <a:r>
              <a:rPr lang="ru-RU" dirty="0" sz="2000" b="1">
                <a:solidFill>
                  <a:srgbClr val="000000"/>
                </a:solidFill>
              </a:rPr>
              <a:t>figure</a:t>
            </a:r>
            <a:r>
              <a:rPr lang="ru-RU" dirty="0" sz="2000">
                <a:solidFill>
                  <a:srgbClr val="000000"/>
                </a:solidFill>
              </a:rPr>
              <a:t xml:space="preserve"> (холст) и </a:t>
            </a:r>
            <a:r>
              <a:rPr lang="ru-RU" dirty="0" sz="2000" b="1">
                <a:solidFill>
                  <a:srgbClr val="000000"/>
                </a:solidFill>
              </a:rPr>
              <a:t>axes</a:t>
            </a:r>
            <a:r>
              <a:rPr lang="ru-RU" dirty="0" sz="2000">
                <a:solidFill>
                  <a:srgbClr val="000000"/>
                </a:solidFill>
              </a:rPr>
              <a:t xml:space="preserve"> (область графика)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Рисуем на `ax`: `ax.plot(...)`, `ax.set_xlabel(...)` — не смешивать pyplot без нужды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`plt.tight_layout()` — подгонка отступов перед `plt.show()` или savefig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`%matplotlib inline` в Jupyter — график под ячейкой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matplotlib.pyplot as plt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fig, ax = plt.subplots(figsize=(6, 4))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ax.plot([1, 2, 3], [1, 4, 9])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ax.set_xlabel('x'); ax.set_ylabel('y')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OO-стиль matplotlib</a:t>
            </a:r>
          </a:p>
        </p:txBody>
      </p:sp>
      <p:pic>
        <p:nvPicPr>
          <p:cNvPr id="7" name="Picture 6" descr="fig_axe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28206"/>
            <a:ext cx="4343400" cy="32759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Line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`ax.plot(x, y)` — тренды во времени, learning curve, validation curve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Маркеры `marker='o'` помогают при малом числе точек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Несколько линий на одном axes — разные `label` + `ax.legend()`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 соединяй линией категории без порядка — line для упорядоченной оси 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ax.plot(x, y, label='train', color='C0')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ax.plot(x, y_test, label='test', linestyle='--')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ax.legend()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Несколько линий</a:t>
            </a:r>
          </a:p>
        </p:txBody>
      </p:sp>
      <p:pic>
        <p:nvPicPr>
          <p:cNvPr id="7" name="Picture 6" descr="line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Scatter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`ax.scatter(x, y, alpha=0.5, s=20)` — связь двух числовых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Цвет `c=target` или `hue` в seaborn — классы или третий признак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Выбросы видны как изолированные точки; кластеры — плотные облака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график регрессии и классификации в 2D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ax.scatter(X[:, 0], X[:, 1], c=y, cmap='viridis', alpha=0.7)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ax.set_xlabel('feature 1'); ax.set_ylabel('feature 2')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0390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Классы цветом</a:t>
            </a:r>
          </a:p>
        </p:txBody>
      </p:sp>
      <p:pic>
        <p:nvPicPr>
          <p:cNvPr id="7" name="Picture 6" descr="scatter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9656"/>
            <a:ext cx="4343400" cy="32530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Bar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`ax.bar(categories, values)` — сравнение </a:t>
            </a:r>
            <a:r>
              <a:rPr lang="ru-RU" dirty="0" sz="2000" b="1">
                <a:solidFill>
                  <a:srgbClr val="000000"/>
                </a:solidFill>
              </a:rPr>
              <a:t>дискретных</a:t>
            </a:r>
            <a:r>
              <a:rPr lang="ru-RU" dirty="0" sz="2000">
                <a:solidFill>
                  <a:srgbClr val="000000"/>
                </a:solidFill>
              </a:rPr>
              <a:t xml:space="preserve">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Горизонтальный `barh` — длинные подписи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Grouped bar — несколько серий рядом; stacked — доли суммы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Ось Y для bar должна начинаться с </a:t>
            </a:r>
            <a:r>
              <a:rPr lang="ru-RU" dirty="0" sz="2000" b="1">
                <a:solidFill>
                  <a:srgbClr val="000000"/>
                </a:solidFill>
              </a:rPr>
              <a:t>0</a:t>
            </a:r>
            <a:r>
              <a:rPr lang="ru-RU" dirty="0" sz="2000">
                <a:solidFill>
                  <a:srgbClr val="000000"/>
                </a:solidFill>
              </a:rPr>
              <a:t>, иначе преувеличение различий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ax.bar(categories, values, color='steelblue')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ax.set_ylabel('count')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plt.xticks(rotation=45)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Столбчатая диаграмма</a:t>
            </a:r>
          </a:p>
        </p:txBody>
      </p:sp>
      <p:pic>
        <p:nvPicPr>
          <p:cNvPr id="7" name="Picture 6" descr="bar_metric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Histogram и box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`ax.hist(data, bins=30)` — распределение одной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Box plot: медиана, IQR, whiskers, точки-выбросы — `ax.boxplot` или `sns.boxplot`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Hist + KDE (seaborn) — форма пика и хвостов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Разное число bins меняет впечатление — пробуй несколько значений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ax.hist(data, bins=30, edgecolor='white')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ax.boxplot(data, vert=True)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ax.set_title('Распределение')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hist + boxplot</a:t>
            </a:r>
          </a:p>
        </p:txBody>
      </p:sp>
      <p:pic>
        <p:nvPicPr>
          <p:cNvPr id="7" name="Picture 6" descr="hist_box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Seaborn: высокоуровневые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Seaborn строит на matplotlib: `sns.scatterplot`, `sns.histplot`, `sns.heatmap`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`data=df, x=, y=, hue=` — имена столбцов вместо массивов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`sns.set_theme(style='whitegrid')` — единый стиль лекции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ML-диагностики: `sns.regplot`, `jointplot`, `pairplot` на подмножестве признаков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seaborn as sns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sns.scatterplot(data=df, x='x', y='y', hue='class')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sns.regplot(data=df, x='x', y='y', scatter_kws={'alpha': 0.5})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scatterplot / regplot</a:t>
            </a:r>
          </a:p>
        </p:txBody>
      </p:sp>
      <p:pic>
        <p:nvPicPr>
          <p:cNvPr id="7" name="Picture 6" descr="seaborn_scatter_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9656"/>
            <a:ext cx="4343400" cy="32530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Подписи, легенды и цвет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Оси: `set_xlabel`, `set_ylabel`, `set_title` — </a:t>
            </a:r>
            <a:r>
              <a:rPr lang="ru-RU" dirty="0" sz="2000" b="1">
                <a:solidFill>
                  <a:srgbClr val="000000"/>
                </a:solidFill>
              </a:rPr>
              <a:t>на русском</a:t>
            </a:r>
            <a:r>
              <a:rPr lang="ru-RU" dirty="0" sz="2000">
                <a:solidFill>
                  <a:srgbClr val="000000"/>
                </a:solidFill>
              </a:rPr>
              <a:t xml:space="preserve"> в наших ноутбуках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`legend()` — подписи серий; `loc='best'` или явное место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Цвет: colorblind-friendly палитры (`tab10`, `colorblind` в seaborn)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 полагайся только на цвет — добавь маркер/ linestyle для различия серий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ax.set_title('ROC-кривая', fontsize=14)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ax.legend(loc='lower right')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ax.grid(True, alpha=0.3)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title / legend / grid</a:t>
            </a:r>
          </a:p>
        </p:txBody>
      </p:sp>
      <p:pic>
        <p:nvPicPr>
          <p:cNvPr id="7" name="Picture 6" descr="legend_color_mar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Несколько subplots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`fig, axes = plt.subplots(nrows, ncols, figsize=(w,h))` — сетка графиков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`axes.ravel()` — плоский обход ячеек; `axes[0,1]` — доступ по индексу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`fig.suptitle('Общий заголовок')` — над всей фигурой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Одинаковые пределы осей (`sharex`, `sharey`) — для сравнения панелей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fig, axes = plt.subplots(2, 2, figsize=(8, 6))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axes[0, 0].hist(a); axes[0, 1].scatter(x, y)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fig.tight_layout()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Сетка 2×2</a:t>
            </a:r>
          </a:p>
        </p:txBody>
      </p:sp>
      <p:pic>
        <p:nvPicPr>
          <p:cNvPr id="7" name="Picture 6" descr="subplots_grid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Heatmap и корреляции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`df.corr()` — матрица Pearson; `sns.heatmap(corr, annot=True, cmap='RdBu_r', center=0)`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|r| ≳ 0.8 — кандидаты на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Корреляция ≠ причинность; скрытые нелинейные связи corr не видит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Масштабируй признаки перед интерпретацией corr в смешанных единицах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seaborn as sns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corr = df.corr(numeric_only=True)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sns.heatmap(corr, annot=True, cmap='coolwarm', vmin=-1, vmax=1)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heatmap корреляций</a:t>
            </a:r>
          </a:p>
        </p:txBody>
      </p:sp>
      <p:pic>
        <p:nvPicPr>
          <p:cNvPr id="7" name="Picture 6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64913"/>
            <a:ext cx="4343400" cy="44024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Категориальные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`sns.countplot(data=df, x='col')` — частоты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`sns.barplot(x=, y=, estimator='mean')` — агрегат по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Violin / stripplot — распределение внутри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Порядок категорий на оси X задавай явно (`order=`) для читаемости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sns.countplot(data=df, x='category', order=df['category'].value_counts().index)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plt.xticks(rotation=30)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0390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countplot</a:t>
            </a:r>
          </a:p>
        </p:txBody>
      </p:sp>
      <p:pic>
        <p:nvPicPr>
          <p:cNvPr id="7" name="Picture 6" descr="categorical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Pie chart: ловушки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Круговая диаграмма — </a:t>
            </a:r>
            <a:r>
              <a:rPr lang="ru-RU" dirty="0" sz="2000" b="1">
                <a:solidFill>
                  <a:srgbClr val="000000"/>
                </a:solidFill>
              </a:rPr>
              <a:t>слабой</a:t>
            </a:r>
            <a:r>
              <a:rPr lang="ru-RU" dirty="0" sz="2000">
                <a:solidFill>
                  <a:srgbClr val="000000"/>
                </a:solidFill>
              </a:rPr>
              <a:t xml:space="preserve"> точности сравнения углов и долей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Много секторов (&gt;5) — нечитаемо; малые доли не отличить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Лучше </a:t>
            </a:r>
            <a:r>
              <a:rPr lang="ru-RU" dirty="0" sz="2000" b="1">
                <a:solidFill>
                  <a:srgbClr val="000000"/>
                </a:solidFill>
              </a:rPr>
              <a:t>bar chart</a:t>
            </a:r>
            <a:r>
              <a:rPr lang="ru-RU" dirty="0" sz="2000">
                <a:solidFill>
                  <a:srgbClr val="000000"/>
                </a:solidFill>
              </a:rPr>
              <a:t xml:space="preserve"> для сравнения долей; pie — редко, для 2–3 сегментов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3D pie и «explode» — декоративный шум, не добавляет информации</a:t>
            </a:r>
          </a:p>
        </p:txBody>
      </p:sp>
      <p:pic>
        <p:nvPicPr>
          <p:cNvPr id="4" name="Picture 3" descr="pie_v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19133"/>
            <a:ext cx="4343400" cy="169405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Стиль и читаемость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Белый фон, тёмный текст `#1a1a1a` — как на слайдах курса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Размер шрифта осей 12–14 pt в ноутбуке; `figsize` достаточный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Меньше «chartjunk»: лишние сетки, 3D, тени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 график — одна мысль; не перегружай элементы</a:t>
            </a:r>
          </a:p>
        </p:txBody>
      </p:sp>
      <p:pic>
        <p:nvPicPr>
          <p:cNvPr id="4" name="Picture 3" descr="style_clean_vs_cl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Residual plot: ось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ось Y —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Идеал — случайное облако вокруг нуля без «воронки» или U-образного паттерна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Histogram остатков — близость к симметрии (не строгая нормальность)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Тот же приём, что в уроке линейной регрессии — единый язык диагностики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residuals = y_test - y_pred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ax.scatter(y_pred, residuals, alpha=0.6)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ax.axhline(0, color='red', linestyle='--')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Остатки vs предсказание</a:t>
            </a:r>
          </a:p>
        </p:txBody>
      </p:sp>
      <p:pic>
        <p:nvPicPr>
          <p:cNvPr id="7" name="Picture 6" descr="residuals_good_vs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ROC и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ROC: TPR vs FPR при смене порога; площадь AUC — ранжирование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PR-кривая важнее при </a:t>
            </a:r>
            <a:r>
              <a:rPr lang="ru-RU" dirty="0" sz="2000" b="1">
                <a:solidFill>
                  <a:srgbClr val="000000"/>
                </a:solidFill>
              </a:rPr>
              <a:t>дисбалансе</a:t>
            </a:r>
            <a:r>
              <a:rPr lang="ru-RU" dirty="0" sz="2000">
                <a:solidFill>
                  <a:srgbClr val="000000"/>
                </a:solidFill>
              </a:rPr>
              <a:t xml:space="preserve">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sklearn: `RocCurveDisplay.from_predictions`, `PrecisionRecallDisplay`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Добавляй диагональ случайного классификатора на ROC для ориентира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sklearn.metrics import RocCurveDisplay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RocCurveDisplay.from_predictions(y_test, y_score)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plt.title('ROC')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RocCurveDisplay</a:t>
            </a:r>
          </a:p>
        </p:txBody>
      </p:sp>
      <p:pic>
        <p:nvPicPr>
          <p:cNvPr id="7" name="Picture 6" descr="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Типичные ошибки визуализации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Truncated axis на bar (Y не с нуля) — ложное усиление эффекта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Dual axis с разными масштабами — ложные корреляции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Слишком мало/много bins в histogram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Подписи перекрываются — `rotation`, `tight_layout`, уменьшение шрифта</a:t>
            </a:r>
          </a:p>
        </p:txBody>
      </p:sp>
      <p:pic>
        <p:nvPicPr>
          <p:cNvPr id="4" name="Picture 3" descr="truncated_axis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Связь с уроками ML и 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регрессия: scatter+line, residuals, bar метрик — те же паттерны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Логистическая: ROC/PR, calibration, decision boundary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Деревья: `plot_tree`, feature importance bar, confusion matrix heatmap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Чек-лист: EDA → модель → диагностика; подписи на русском; bar с нуля</a:t>
            </a:r>
          </a:p>
        </p:txBody>
      </p:sp>
      <p:pic>
        <p:nvPicPr>
          <p:cNvPr id="4" name="Picture 3" descr="ml_lessons_viz_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Cleveland W.S., McGill R. (1984). Graphical Perception: Theory, Experimentation, and Application to the Development of Graphical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Wickham H. (2010). A Layered Grammar of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Tufte E.R. (1983). The Visual Display of Quantitative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4"/>
              </a:rPr>
              <a:t>https://colab.research.google.com/github/gurovic/ml-lessons/blob/feature/references-and-slide-code/lessons/vizualizatsiya/code.ipynb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https://colab.research.google.com/github/gurovic/ml-lessons/blob/feature/references-and-slide-code/lessons/vizualizatsiya/project.ipynb</a:t>
            </a:r>
          </a:p>
        </p:txBody>
      </p:sp>
      <p:pic>
        <p:nvPicPr>
          <p:cNvPr id="10" name="Picture 9" descr="_qr_ref_18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8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