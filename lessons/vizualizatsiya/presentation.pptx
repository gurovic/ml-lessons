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машинном обучении график — не украшение слайда, а инструмент мышления. Он помогает на этапе EDA понять, что вообще лежит в данных: форму распределений, выбросы, связи между признаками. На этапе моделирования визуализация переводит абстрактные метрики в картинку: остатки, ROC, learning curve показывают, *где* и *почему* модель ошибается. Наконец, перед заказчиком или коллегами один хороший график часто убеждает сильнее, чем таблица из десяти чисел.</a:t>
            </a:r>
          </a:p>
          <a:p/>
          <a:p>
            <a:r>
              <a:t>Золотое правило простое: перед построением графика сформулируйте вопрос. «Хочу понять, есть ли дрейф между train и test» — да, строим ECDF. «Просто нарисую что-нибудь красивое» — нет, это трата времени и риск ложных выводов. Классический пример — квартет Энскомба: у четырёх наборов данных одинаковые среднее, дисперсия и корреляция, но scatter-плоты радикально разные. Статистика без графика здесь обманчива. В курсе мы опираемся на четыре библиотеки: matplotlib как фундамент, seaborn для типовой статистики, plotly для интерактива и встроенные методы pandas для мгновенного обзора.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существует «лучшей» библиотеки — есть подходящая под контекст. Matplotlib даёт полный контроль над каждым элементом рисунка: цветом линии, положением легенды, форматом осей. Именно на нём построены seaborn и многие другие обёртки, поэтому понимание matplotlib неизбежно, даже если вы 90% времени пишете `sns.*`. Seaborn экономит десятки строк кода: `scatterplot`, `histplot`, `heatmap` сразу приходят с разумными дефолтами и статистическими надстройками вроде регрессионной линии или KDE.</a:t>
            </a:r>
          </a:p>
          <a:p/>
          <a:p>
            <a:r>
              <a:t>Plotly добавляет интерактив: zoom, hover с точными значениями, фильтрацию серий — это бесценно при презентации или разборе большого датасета в ноутбуке, но на сотнях тысяч точек может тормозить. Pandas `df.plot()` — самый быстрый старт: открыли CSV, вызвали `df.hist()` — и уже видите порядок величин. Практическое правило: начинайте EDA с seaborn или pandas, переходите на plotly, когда нужен интерактив, и спускайтесь на matplotlib, когда нужна тонкая кастомизация под статью или брендбук.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вы впервые открываете незнакомый датасет, задача — за полминуты получить общую картину, не настраивая стили и не импортируя лишнего. Метод `df.plot()` и его варианты (`kind='hist'`, `'box'`, `'scatter'`) рисуют прямо из DataFrame: указываете столбцы — получаете график. `value_counts().plot(kind='bar')` мгновенно показывает частоты категорий, а `df.plot.hist()` накладывает гистограммы всех числовых колонок — удобно для первого взгляда на масштабы и формы.</a:t>
            </a:r>
          </a:p>
          <a:p/>
          <a:p>
            <a:r>
              <a:t>Ограничение осознанное: дефолтный стиль pandas скромный, контроль над цветами, аннотациями и компоновкой ограничен. Это нормально — pandas plot не заменяет seaborn на финальных слайдах, он разведывает местность. Используйте его в первые 30 секунд работы с данными, а затем переходите к более выразительным инструментам, когда уже знаете, *что* именно хотите показать.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Matplotlib устроен иерархически. **Figure** — это весь «лист», холст заданного размера в дюймах. **Axes** — прямоугольная область внутри figure, где живут оси, подписи и сами линии/точки. Привычный вызов `fig, ax = plt.subplots()` создаёт пару: один лист и одну область для рисования. Все методы `ax.plot()`, `ax.scatter()`, `ax.set_xlabel()` работают с конкретной областью — это объектно-ориентированный (OO) стиль, и он предпочтительнее хаотичных вызовов `plt.plot()` без явного `ax`.</a:t>
            </a:r>
          </a:p>
          <a:p/>
          <a:p>
            <a:r>
              <a:t>Понимание иерархии критично, когда на одном листе несколько графиков или когда нужно точно контролировать отступы. `plt.tight_layout()` или `constrained_layout=True` автоматически подгоняют расстояния, чтобы подписи осей не налезали друг на друга. В Jupyter не забудьте `%matplotlib inline`, чтобы график появился под ячейкой. Если вы освоите связку figure–axes, subplots и savefig — вы уже можете построить практически любой статический график в ML-проекте.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Один слайд — одна мысль, но иногда одна мысль требует четырёх картинок: сравнить распределение age в train и test, показать scatter таргета, boxplot по категории и bar с частотами. `plt.subplots(2, 2, figsize=(12, 10))` возвращает figure и массив axes; обращение `axes[0, 0]`, `axes[0, 1]` задаёт, куда рисовать. Общий заголовок — `fig.suptitle()`, он стоит над всей композицией.</a:t>
            </a:r>
          </a:p>
          <a:p/>
          <a:p>
            <a:r>
              <a:t>Типичная ошибка новичков — нарисовать четыре графика и забыть про `tight_layout()`: подписи осей обрезаются или накладываются. Для сравнения панелей полезны `sharex=True` или `sharey=True` — тогда масштабы совпадают и глаз честно сравнивает формы. Subplot — стандартный приём для EDA-dashboard: за один экран вы отвечаете на несколько связанных вопросов о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Базовый график отвечает на вопрос «что в данных», кастомизированный — ещё и «на что смотреть». Цвет (`color`, `cmap`), прозрачность (`alpha`) и тип линии (`linestyle`, `marker`) помогают развести серии, особенно когда легенда перегружена. Аннотации через `ax.annotate()` со стрелкой к конкретной точке превращают абстрактный scatter в историю: «вот этот выброс сдвинул регрессию».</a:t>
            </a:r>
          </a:p>
          <a:p/>
          <a:p>
            <a:r>
              <a:t>Легенда должна быть читаемой: `loc='best'` или явное место, `frameon=False` для минimalist-стиля. Лёгкая сетка `ax.grid(True, alpha=0.3)` облегчает считывание значений, не превращая фон в решётку. Для презентаций увеличивайте шрифты через `rcParams` или `sns.set_context('talk')` — на проекторе мелкий текст просто исчезает. Помните: кастомизация служит ясности, а не декору.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График в ноутбуке живёт до перезапуска kernel; для отчёта, статьи или Confluence его нужно сохранить. `plt.savefig('plot.png', dpi=300, bbox_inches='tight')` — растр высокого разрешения для слайдов и документов. Параметр `bbox_inches='tight'` обрезает лишние поля и, главное, не отрезает подписи осей — без него края часто «съедаются». Векторные `.svg` и `.pdf` масштабируются без пикселизации — их просят журналы и типографии.</a:t>
            </a:r>
          </a:p>
          <a:p/>
          <a:p>
            <a:r>
              <a:t>Plotly сохраняется иначе: `fig.write_html('plot.html')` даёт интерактивный файл, который можно отправить коллеге или встроить в intranet. Прозрачный фон (`transparent=True`) уместен для наложения на тёмный слайд, но для печати обычно лучше белый `facecolor='white'`. Выбирайте формат под носитель: экран — 100–150 dpi, печать — 300 dpi, журнал — 600 dpi и вектор.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Plotly Express (`import plotly.express as px`) построен вокруг идеи «одна функция — один осмысленный график». `px.scatter(df, x='area', y='price', color='city', hover_data=['id'])` сразу даёт цвет по категории и всплывающую подсказку с дополнительными полями — в matplotlib на это ушли бы десятки строк. `px.histogram` с `marginal='box'` добавляет боковые распределения; `px.line` для временных рядов включает zoom по умолчанию.</a:t>
            </a:r>
          </a:p>
          <a:p/>
          <a:p>
            <a:r>
              <a:t>Интерактив особенно ценен на совещании: можно навести на точку, отфильтровать класс в легенде, приблизить подозрительный кластер. `fig.show()` в ноутбуке, `fig.write_html()` для шаринга. Plotly не заменяет seaborn на каждом шаге EDA — он дороже по ресурсам, — но там, где audience должна *исследовать* данные, а не только посмотреть, он незаменим.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Когда двух осей мало, `px.scatter_3d` даёт третье измерение с вращением мышью — полезно для демонстрации PCA-компонент или трёх признаков одновременно. Анимация через `animation_frame='year'` показывает, как облако точек смещается во времени; slider внизу графика позволяет «прокрутить» историю. `make_subplots()` собирает несколько plotly-графиков на одной странице с общей легендой.</a:t>
            </a:r>
          </a:p>
          <a:p/>
          <a:p>
            <a:r>
              <a:t>Ограничения реальны: десятки и сотни тысяч точек без `render_mode='webgl'` или агрегации (hexbin, datashader) тормозят браузер. 3D-scatter на миллионе строк — скорее антипаттерн, чем EDA. Для production-дашбордов plotly часто встраивают в Dash или Streamlit: график становится частью приложения, а не статичной картинки.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Перед моделью нужно понять форму каждого числового признака. `sns.histplot(data, kde=True)` совмещает столбцы частот и сглаженную оценку плотности — видно, симметрично ли распределение, есть ли несколько «горбов», тянется ли правый хвост. Heavy tail намекает на log-трансформацию: модели линейной регрессии и многие метрики чувствительны к выбросам в хвосте. Мультимодальность — сигнал, что в одном столбце смешаны разные группы (например, «доход» богатых и бедных клиентов без явной метки).</a:t>
            </a:r>
          </a:p>
          <a:p/>
          <a:p>
            <a:r>
              <a:t>Число bins — компромисс: мало — теряются детали, много — появляется шум из случайных флуктуаций. Сравните 10, 30 и 100 bins на одних данных, чтобы почувствовать эффект. В plotly аналог — `px.histogram` с `marginal='violin'`. После гистограммы часто следует решение: log1p, winsorization или разбиение на сегменты — график подсказывает *что* пробовать.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plot сжимает распределение в пять чисел: минимум, Q1, медиана, Q3, максимум (с поправкой на «усы» по правилу 1.5×IQR). Точки за усами — кандидаты в выбросы. `sns.boxplot(x='category', y='price')` сразу сравнивает несколько групп: видно, где медиана выше, где разброс шире (гетероскедастичность), где торчат аномалии.</a:t>
            </a:r>
          </a:p>
          <a:p/>
          <a:p>
            <a:r>
              <a:t>Важно помнить ограничение: box plot не показывает форму — две бимодальные выборки с одинаковыми квантилями выглядят одинаково. Поэтому box — быстрый скрининг, а не полная диагностика. Для интерактивной работы `px.box(..., points='all')` даёт hover на каждой точке — удобно расследовать конкретный выброс. Решение после box plot: удалить, обрезать (winsorize), или оставить и использовать робастную модель — график показывает *масштаб* проблемы.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Violin plot — это box plot, «разрезанный» и заполненный KDE: видна не только медиана, но и вся форма плотности. Классический инсайт: в городе A средний доход выше, но распределение бимодальное — есть два слоя населения. Box plot показал бы одну медиану и скрыл бы эту структуру. Для регрессии violin по категориальному признаку и непрерывному таргету сразу подсказывает, где модели будет трудно: высокая дисперсия внутри группы, странная форма.</a:t>
            </a:r>
          </a:p>
          <a:p/>
          <a:p>
            <a:r>
              <a:t>Seaborn: `sns.violinplot(data=df, x='city', y='income')`. Plotly: `px.violin(..., box=True, points='outliers')` совмещает violin, box и точки выбросов. Violin требует достаточного числа наблюдений в группе — на пяти точках KDE бессмысленен. Используйте его, когда сравниваете *форму*, а не только центр.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Scatter — базовый график ML: ось X — признак, ось Y — таргет или второй признак, каждая точка — объект. `sns.scatterplot(..., hue='city')` добавляет цвет по категории — видны ли кластеры, параллельные облака, нелинейность. Линейный тренд намекает на линейную модель; U-образный — на полином или дерево; кольцо — на нелинейную границу или артеfact.</a:t>
            </a:r>
          </a:p>
          <a:p/>
          <a:p>
            <a:r>
              <a:t>Когда точек много, обычный scatter превращается в кашу — используйте `alpha=0.1` или `jointplot(kind='hex')`: hexbin агрегирует плотность цветом. Marginal histograms сверху и справа показывают распределения каждой переменной отдельно — не нужно строить три графика вручную. Для сотен тысяч строк — `render_mode='webgl'` в plotly или предварительная выборка.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Таблица `df.isnull().sum()` говорит *сколько* пропусков, но не *как* они устроены. Библиотека missingno рисует матрицу: белые полосы — NaN, порядок строк и столбцов помогает увидеть блоки. `msno.dendrogram(df)` кластеризует признаки по схожести паттернов пропусков: если столбцы A и B пропадают вместе, возможно, пропуск **не случайный** (MNAR — missing not at random).</a:t>
            </a:r>
          </a:p>
          <a:p/>
          <a:p>
            <a:r>
              <a:t>Это критично для стратегии imputation: заполнение средним при систематических пропусках смещает распределение и портит модель. График не заменяет формальный тест MCAR/MAR/MNAR, но направляет интуицию: нужен ли отдельный индикатор «был пропуск», групповая imputation или другой источник данных. Пропуски — часть EDA, которую нельзя сводить к одной цифре.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Матрица корреляций — карта линейных связей между признаками. `sns.heatmap(df.corr(), annot=True, cmap='coolwarm', center=0)` раскрашивает ячейки: красный — положительная связь, синий — отрицательная, белый около нуля. Пары с |r| &gt; 0.9 — кандидаты на удаление одного из дублей: два почти одинаковых признака не добавляют информации, но ломают интерпретацию весов в линейных моделях.</a:t>
            </a:r>
          </a:p>
          <a:p/>
          <a:p>
            <a:r>
              <a:t>Смотрите и на столбец таргета: высокая корреляция с признаком — хороший знак, но помните, что Пирсон видит только линейность; для монотонных нелинейных связей — `method='spearman'`. Heatmap не доказывает причинность: корреляция площади и цены не означает, что увеличение площади *вызывает* рост цены. Plotly `px.imshow` добавляет hover с точным значением r — удобно на больших матрицах.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Модель обучена на train, но в production данные могут сдвинуться: другой возраст клиентов, другой сезон, другой регион. ECDF (эмпирическая функция распределения) показывает долю объектов с значением меньше x — кривая монотонно растёт от 0 до 1. `sns.ecdfplot(data=..., hue='split')` накладывает train и prod: если кривые расходятся, признак **дрейфует**.</a:t>
            </a:r>
          </a:p>
          <a:p/>
          <a:p>
            <a:r>
              <a:t>Преимущество ECDF перед гистограммой — не нужно выбирать bins; сравнение честное. Overlay KDE (кривые плотности) даёт ту же идею в сглаженном виде. Data drift не гарантирует падение качества, но объясняет его: модель оптимизировалась под одно распределение, а получает другое. Мониторинг ECDF по ключевым признакам — стандарт MLOps-практики.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классификации первый вопрос после загрузки данных: «сколько объектов каждого класса?» `sns.countplot(x='target')` или `value_counts().plot(kind='bar')` отвечают за секунду. Если соотношение 95:5 или 100:1, accuracy вводит в заблуждение: модель, всегда предсказывающая majority class, уже имеет 95% «точности».</a:t>
            </a:r>
          </a:p>
          <a:p/>
          <a:p>
            <a:r>
              <a:t>График сразу задаёт повестку: `class_weight='balanced'`, oversampling/undersampling, метрики PR-AUC и F1 вместо accuracy, stratified split. Count plot стоит строить **до** обучения и **после** каждого resampling — убедиться, что вы не сломали валидацию. Для интерактива — `px.histogram(df, x='target', color='target')` с процентами в hover.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Классификатор в 2D можно «увидеть»: `DecisionBoundaryDisplay.from_estimator(model, X, y)` рисует фоновую сетку цветов по предсказанному классу и накладывает точки данных. Логистическая регрессия даёт прямую (или гиперплоскость в многомерном случае) границу; дерево или RBF-SVM — изломанную, обтекающую кластеры.</a:t>
            </a:r>
          </a:p>
          <a:p/>
          <a:p>
            <a:r>
              <a:t>Классический учебный пример — XOR: линейная модель не разделит классы ни при каких весах, нелинейная — справится. Граница решений также выявляет переобучение: дерево глубины 20 обводит каждую точку train, а на test выглядит как «островки» вокруг выбросов. Работает только в 2D (или 2 признака из PCA) — но для интуиции этого достаточно.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вас 50 признаков — scatter не построишь. Снижение размерности проецирует данные в 2D или 3D для **визуального** осмотра. PCA — линейная проекция с максимальной дисперсией: быстро, интерпретируемо (оси — комбинации признаков), но может размазать нелинейные кластеры. t-SNE и UMAP сохраняют локальные neighborhood — кластеры на графике часто совпадают с семантикой (цифры, классы), но расстояния между кластерами **не интерпретируются** буквально.</a:t>
            </a:r>
          </a:p>
          <a:p/>
          <a:p>
            <a:r>
              <a:t>Критично: координаты t-SNE/UMAP **не подставляйте** как признаки в модель без отдельного обоснования — это leakage и переобучение на артеfact embedding. Используйте для презентации («вот почему мы ожидаем 10 классов») и для sanity check разметки. UMAP быстрее t-SNE на больших выборках; для 3D — `px.scatter_3d` с PCA-компонентами.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K-means требует заранее задать число кластеров K — откуда его взять? Elbow method: строим график WCSS (within-cluster sum of squares) от K и ищем «локоть», где убывание замедляется — добавление кластеров перестаёт сильно помогать. Silhouette score измеряет, насколько объект ближе к своему кластеру, чем к чужому: значения около 1 — хорошо, около 0 — на границе, отрицательные — возможно, объект в «чужом» кластере.</a:t>
            </a:r>
          </a:p>
          <a:p/>
          <a:p>
            <a:r>
              <a:t>Silhouette plot показывает распределение scores **по каждому кластеру** — сразу видно, что кластер 2 широкий и «размытый», а кластер 0 компактный. Рядом на одной figure — elbow и silhouette: два независимых аргумента за одно K. Ни один метод не даёт истину в последней инстанции — используйте их вместе с domain knowledge.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Остаток — $e = y - \hat{y}$. Идеальная линейная регрессия при корректной спецификации даёт облако остатков **случайным** вокруг нуля без структуры. `sns.residplot(x=y_pred, y=residuals, lowess=True)` строит scatter остатков против предсказания и добавляет сглаженную линию LOWESS: если она горизонтальна — хорошо; U-образная — не учтена нелинейность; наклонная — смещение; воронка — гетероскедастичность (дисперсия ошибки растёт с $\hat{y}$).</a:t>
            </a:r>
          </a:p>
          <a:p/>
          <a:p>
            <a:r>
              <a:t>Residual plot важнее одного числа RMSE: RMSE может быть приемлемым, пока модель систематически недооценивает дорогие объекты. Увидев воронку, вы пробуете log-трансформацию таргета или weighted loss. Plotly-версия с `trendline='lowess'` удобна для интерактивного разбора выбросов.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Q-Q plot сравнивает квантили ваших остатков с квантили теоретического нормального распределения. `statsmodels.api.qqplot(residuals, line='s')` — если точки лежат на диагонали, ошибки близки к нормальным; отклонения на хвостах — тяжёлые хвосты (outliers чаще, чем у нормального).</a:t>
            </a:r>
          </a:p>
          <a:p/>
          <a:p>
            <a:r>
              <a:t>Для классического inference (доверительные интервалы, t-тесты на коэффициенты) нормальность остатков важна; для многих ML-моделей — менее критична, но форма хвостов подсказывает выбор функции потерь: при тяжёлых хвостах MSE чувствителен к выбросам, MAE или Huber — робастнее. Q-Q — дополнение к residual plot, не замена.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Scatter «истинное y» против «предсказанное ŷ» с диагональю $y = x$ — интуитивная метрика качества регрессии. Точки на диагонали — идеальные предсказания; систематическое смещение выше или ниже — bias; разброс вокруг диagonali — variance. В заголовок добавьте $R^2$ и RMSE, чтобы связать картинку с числами.</a:t>
            </a:r>
          </a:p>
          <a:p/>
          <a:p>
            <a:r>
              <a:t>Хорошая модель даёт облако, плотное вдоль диагонали; плохая — «облако» или веер. На краях диапазона часто видно, где модель экстраполирует и ошибается сильнее. Plotly `trendline='ols'` показывает линию регрессии pred vs true — она должна совпасть с диагональю при unbiased predictor.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Confusion matrix — таблица «истинный класс × предсказанный». Диагональ — верные ответы, off-diagonal — путаница: модель приняла класс 2 за класс 3. `ConfusionMatrixDisplay.from_estimator` рисует heatmap с подписями — сразу видно, **какие** классы проблемные, а не только общий accuracy.</a:t>
            </a:r>
          </a:p>
          <a:p/>
          <a:p>
            <a:r>
              <a:t>`normalize='true'` нормирует по строкам — в ячейках recall для каждого класса («из всех настоящих двоек сколько угадано»). При дисбалансе смотрите на редкий класс отдельно: общая accuracy может быть высокой, а recall minority — нулевым. Цветовая карта `cmap='Blues'` и `annot=True` делают матрицу читаемой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Бинарный классификатор выдаёт вероятность; порог 0.5 — не единственный выбор. ROC-кривая: по оси FPR и TPR при переборе порогов; площадь AUC — качество ранжирования независимо от порога. Диагональ — случайный классifier. PR-кривая (precision vs recall) информативнее при **сильном дисбалансе**: ROC может выглядеть оптимистично, пока PR показывает низкий precision на редком классе.</a:t>
            </a:r>
          </a:p>
          <a:p/>
          <a:p>
            <a:r>
              <a:t>Overlay нескольких моделей на одном графике — стандарт сравнения на слайде защиты проекта. `RocCurveDisplay` и `PrecisionRecallDisplay` из sklearn экономят код. Выбор порога — бизнес-решение: в медицине часто повышают recall (не пропустить болезнь), в спам-фильтре — precision (не блокировать важную почту).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curve показывает метрику на train и validation в зависимости от размера обучающей выборки (или иногда от итераций). `LearningCurveDisplay.from_estimator` — готовый инструмент sklearn. Большой разрыв: train высоко, val низко — **переобучение**; нужна регуляризация, меньше параметров или больше данных. Обе кривые низко — **недообучение**; модель слишком простая. Обе высоко и сходятся — хороший баланс.</a:t>
            </a:r>
          </a:p>
          <a:p/>
          <a:p>
            <a:r>
              <a:t>`fill_between` для доверительных интервалов показывает нестабильность оценки на малых subsample. Learning curve отвечает на вопрос «поможет ли мне ещё 10 000 разметок» — если val-кривая ещё растёт, данные могут помочь; если плато — упёрлись в bias модели.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Средний score по 5-fold CV — одна цифра; box plot scores по фолдам — **картина стабильности**. Узкий box — модель ведёт себя предсказуемо на разных подвыборках; широкий — один неудачный fold может сильно испортить деплой. Line plot с маркерами по fold выявляет аномальный фолд («что было в этом сплите?»).</a:t>
            </a:r>
          </a:p>
          <a:p/>
          <a:p>
            <a:r>
              <a:t>Сравнение двух моделей side-by-side boxplot честнее, чем «модель A: 0.82, модель B: 0.81» — возможно, B просто повезло с split. В production нестабильная модель — риск: завтра метрика может упасть без видимых причин. CV + визуализация variance — часть ответственного model selection.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GridSearchCV перебирает сетку параметров и возвращает таблицу результатов. Heatmap двух параметров (например, `max_depth` × `min_samples_leaf` для дерева) показывает «ландшафт» метрики: тёмные ячейки — лучше, светлые — хуже. **Плато** — широкая область с близким качеством — подсказка: гиперпараметры не нужно подгонять с точностью до единицы, модель робастна.</a:t>
            </a:r>
          </a:p>
          <a:p/>
          <a:p>
            <a:r>
              <a:t>Line plot «метрика vs один параметр» с error bars по CV полезен, когда второй параметр зафиксирован. Интерактивный `px.imshow` с hover — для разбора в ноутбуке. Визуализация grid search защищает от overfitting к конкретной ячейке сетки: выбирайте центр плато, а не случайный пик.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`feature_importances_` у деревьев удобен, но смещён: признаки с большим числом уникальных значений часто получают завышенный вес. **Permutation importance** честнее: перемешиваем столбец признака, смотрим, насколько падает метрика на validation. Если падение большое — признак важен; если нулевое — модель им не пользуется.</a:t>
            </a:r>
          </a:p>
          <a:p/>
          <a:p>
            <a:r>
              <a:t>Bar chart горизонтальных полос с `xerr` (разброс по повторениям permute) показывает и среднюю важность, и неопределённость. Один признак с широкими error bars — возможно, его эффект нестабилен или коррелирован с другим. Permutation importance работает для любой модели с `predict`/`predict_proba`, не только для деревьев.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Разрозненные графики в одном отчёте — разные шрифты, сетки, палитры — выглядят непрофессионально и утомляют читателя. `plt.style.use('seaborn-v0_8-whitegrid')` или `sns.set_theme(style='whitegrid', palette='husl')` задают единый вид одной строкой в начале ноутбука. Кастомная палитра бренда через `sns.set_palette([...])` или `rcParams` закрепляет цвета классов на всех графиках проекта.</a:t>
            </a:r>
          </a:p>
          <a:p/>
          <a:p>
            <a:r>
              <a:t>Для презентаций увеличьте `figure.figsize` и `font.size`; для статей — минималистичный стиль без лишней сетки. Задайте стиль **один раз** в setup-ячейке, а не подбирайте на каждом plot. Консистентность снижает когнитивную нагрузку: audience узнаёт «ваши» графики и фокусируется на содержании.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Сравнение train и test на одном графике — overlay гистограмм с `alpha=0.5` и разными `label`: два полупрозрачных слоя показывают сдвиг распределения лучше, чем два отдельных рисунка. То же для learning curve: train и val на одних осях. `FacetGrid` в seaborn разбивает данные по категории (`col='city'`) и рисует маленькие multiples — паттерн «small multiples» Эдварда Тафти.</a:t>
            </a:r>
          </a:p>
          <a:p/>
          <a:p>
            <a:r>
              <a:t>Осторожно с `twinx()` — второй y-axis часто создаёт ложное впечатление корреляции между сериями с разным масштабом. Plotly `make_subplots` собирает интерактивные панели с синхронным zoom. Правило: overlay — для **одной осмысленной** сравниваемой величины; facet — для **разных подгрупп** одного типа графика.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`figsize` задаёт размер figure в дюймах до рasterization — (10, 6) удобно для статьи, (16, 9) для широкоформатного слайда. DPI при `savefig` определяет плотность пикселей: 100 — экран и черновики, 300 — печать и финальные слайды, 600 — некоторые журналы. Физический размер на бумаге = figsize × dpi логически связаны: увеличивайте figsize **или** dpi, но понимайте, зачем.</a:t>
            </a:r>
          </a:p>
          <a:p/>
          <a:p>
            <a:r>
              <a:t>`bbox_inches='tight'` и `facecolor='white'` — стандарт финального экспорта. SVG/PDF для векторной графики часто легче и чётче PNG для линий и текста. Золотое сечение (~1.618:1) для aspect ratio приятно глазу, но главное — чтобы подписи читались в целевом носителе: проверьте PNG на проекторе или в PDF перед отправкой.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Pie chart — классический антипаттерн для точного сравнения долей: человек плохо оценивает углы. Bar chart с той же информацией читается быстрее. 3D-столбцы искажают perceived height — избегайте. Rainbow colormap (`jet`) не монотонен в яркости и неудобен для дальтоников; `viridis`/`plasma` — безопаснее. График без подписей осей, единиц и title — бесполезен через неделю даже для автора.</a:t>
            </a:r>
          </a:p>
          <a:p/>
          <a:p>
            <a:r>
              <a:t>Best practice: один график — один инсайт; тест «5 секунд» — покажите коллеге, поймёт ли он мысль без устных пояснений. Для презентаций — крупный шрифт, контраст, минимум текста на самом plot. Для статей — grayscale-friendly палитры (проверьте ч/б печать). Антипаттерны не запрещены законом, но каждый должен быть осознанным выбором, а не дефолтом Excel.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— шпаргалка, которую можно распечатать или повесить рядом с монитором. Распределение одной переменной — hist + KDE; выбросы — box; сравнение групп — violin; связь пары признаков — scatter и jointplot; пропуски — missingno; мультиколлинеарность — heatmap corr; дрейф — ECDF; дисбаланс классов — count plot. Для моделей: границы решений (2D), PCA/UMAP (много признаков), residual и Q-Q (регрессия), confusion matrix и ROC/PR (классификация), learning curve (bias-variance), permutation importance (интерпретация).</a:t>
            </a:r>
          </a:p>
          <a:p/>
          <a:p>
            <a:r>
              <a:t>По библиотекам: pandas — первые 30 секунд; seaborn — основной EDA; plotly — интерактив и презентации; matplotlib — финальная полировка и нестандартная вёрстка. Ни один пункт чек-листа не отменяет главного правила с первого слайда: сначала вопрос, потом график. С этим набором инструментов вы закрываете визуальную часть типичного ML-проекта от загрузки CSV до отчёта перед stakeholders.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n.wikipedia.org/wiki/Anscombe%27s_quartet" TargetMode="External"/><Relationship Id="rId3" Type="http://schemas.openxmlformats.org/officeDocument/2006/relationships/hyperlink" Target="https://www.jstor.org/stable/2288400" TargetMode="External"/><Relationship Id="rId4" Type="http://schemas.openxmlformats.org/officeDocument/2006/relationships/hyperlink" Target="https://matplotlib.org/stable/citing.html" TargetMode="External"/><Relationship Id="rId5" Type="http://schemas.openxmlformats.org/officeDocument/2006/relationships/hyperlink" Target="https://seaborn.pydata.org/index.html" TargetMode="External"/><Relationship Id="rId6" Type="http://schemas.openxmlformats.org/officeDocument/2006/relationships/hyperlink" Target="https://colab.research.google.com/github/gurovic/ml-lessons/blob/main/lessons/vizualizatsiya/code.ipynb" TargetMode="External"/><Relationship Id="rId7" Type="http://schemas.openxmlformats.org/officeDocument/2006/relationships/hyperlink" Target="https://colab.research.google.com/github/gurovic/ml-lessons/blob/main/lessons/vizualizatsiya/project.ipynb" TargetMode="External"/><Relationship Id="rId8" Type="http://schemas.openxmlformats.org/officeDocument/2006/relationships/image" Target="../media/image29.png"/><Relationship Id="rId9" Type="http://schemas.openxmlformats.org/officeDocument/2006/relationships/image" Target="../media/image30.png"/><Relationship Id="rId10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Визуализация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Философия визуализации в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Визуализация решает три задачи: </a:t>
            </a:r>
            <a:r>
              <a:rPr lang="ru-RU" dirty="0" sz="2000" b="1">
                <a:solidFill>
                  <a:srgbClr val="000000"/>
                </a:solidFill>
              </a:rPr>
              <a:t>EDA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 b="1">
                <a:solidFill>
                  <a:srgbClr val="000000"/>
                </a:solidFill>
              </a:rPr>
              <a:t>диагностика моделей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 b="1">
                <a:solidFill>
                  <a:srgbClr val="000000"/>
                </a:solidFill>
              </a:rPr>
              <a:t>объяснение результатов</a:t>
            </a:r>
            <a:r>
              <a:rPr lang="ru-RU" dirty="0" sz="2000">
                <a:solidFill>
                  <a:srgbClr val="000000"/>
                </a:solidFill>
              </a:rPr>
              <a:t xml:space="preserve"> бизнесу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Золотое правило: каждый график отвечает на </a:t>
            </a:r>
            <a:r>
              <a:rPr lang="ru-RU" dirty="0" sz="2000" b="1">
                <a:solidFill>
                  <a:srgbClr val="000000"/>
                </a:solidFill>
              </a:rPr>
              <a:t>конкретный вопрос</a:t>
            </a:r>
            <a:r>
              <a:rPr lang="ru-RU" dirty="0" sz="2000">
                <a:solidFill>
                  <a:srgbClr val="000000"/>
                </a:solidFill>
              </a:rPr>
              <a:t xml:space="preserve"> — без вопроса график не строим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Плохая визуализация ведёт к неверным решениям; хорошая даёт инсайт за </a:t>
            </a:r>
            <a:r>
              <a:rPr lang="ru-RU" dirty="0" sz="2000" b="1">
                <a:solidFill>
                  <a:srgbClr val="000000"/>
                </a:solidFill>
              </a:rPr>
              <a:t>3 секунды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Главные библиотеки: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matplotlib</a:t>
            </a:r>
            <a:r>
              <a:rPr lang="ru-RU" dirty="0" sz="2000">
                <a:solidFill>
                  <a:srgbClr val="000000"/>
                </a:solidFill>
              </a:rPr>
              <a:t xml:space="preserve"> (низкоуровневая база),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seaborn</a:t>
            </a:r>
            <a:r>
              <a:rPr lang="ru-RU" dirty="0" sz="2000">
                <a:solidFill>
                  <a:srgbClr val="000000"/>
                </a:solidFill>
              </a:rPr>
              <a:t xml:space="preserve"> (статистика из коробки),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plotly</a:t>
            </a:r>
            <a:r>
              <a:rPr lang="ru-RU" dirty="0" sz="2000">
                <a:solidFill>
                  <a:srgbClr val="000000"/>
                </a:solidFill>
              </a:rPr>
              <a:t xml:space="preserve"> (интерактив),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pandas</a:t>
            </a:r>
            <a:r>
              <a:rPr lang="ru-RU" dirty="0" sz="2000">
                <a:solidFill>
                  <a:srgbClr val="000000"/>
                </a:solidFill>
              </a:rPr>
              <a:t xml:space="preserve"> built-in (быстрые графики)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Выбор библиотеки под задачу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matplotlib</a:t>
            </a:r>
            <a:r>
              <a:rPr lang="ru-RU" dirty="0" sz="2000">
                <a:solidFill>
                  <a:srgbClr val="000000"/>
                </a:solidFill>
              </a:rPr>
              <a:t xml:space="preserve"> — полный контроль, кастомные графики, статьи; </a:t>
            </a:r>
            <a:r>
              <a:rPr lang="ru-RU" dirty="0" sz="2000" b="1">
                <a:solidFill>
                  <a:srgbClr val="000000"/>
                </a:solidFill>
              </a:rPr>
              <a:t>основа</a:t>
            </a:r>
            <a:r>
              <a:rPr lang="ru-RU" dirty="0" sz="2000">
                <a:solidFill>
                  <a:srgbClr val="000000"/>
                </a:solidFill>
              </a:rPr>
              <a:t xml:space="preserve"> для остальных библиотек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seaborn</a:t>
            </a:r>
            <a:r>
              <a:rPr lang="ru-RU" dirty="0" sz="2000">
                <a:solidFill>
                  <a:srgbClr val="000000"/>
                </a:solidFill>
              </a:rPr>
              <a:t xml:space="preserve"> — </a:t>
            </a:r>
            <a:r>
              <a:rPr lang="ru-RU" dirty="0" sz="2000" b="1">
                <a:solidFill>
                  <a:srgbClr val="000000"/>
                </a:solidFill>
              </a:rPr>
              <a:t>90% EDA</a:t>
            </a:r>
            <a:r>
              <a:rPr lang="ru-RU" dirty="0" sz="2000">
                <a:solidFill>
                  <a:srgbClr val="000000"/>
                </a:solidFill>
              </a:rPr>
              <a:t>: красивые дефолты, статистика одной строкой; работает поверх matplotlib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plotly</a:t>
            </a:r>
            <a:r>
              <a:rPr lang="ru-RU" dirty="0" sz="2000">
                <a:solidFill>
                  <a:srgbClr val="000000"/>
                </a:solidFill>
              </a:rPr>
              <a:t xml:space="preserve"> — интерактивные дашборды и презентации (zoom, hover, export); медленнее на больших данных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pandas</a:t>
            </a:r>
            <a:r>
              <a:rPr lang="ru-RU" dirty="0" sz="2000">
                <a:solidFill>
                  <a:srgbClr val="000000"/>
                </a:solidFill>
              </a:rPr>
              <a:t xml:space="preserve"> built-in (df.plot) — быстрые разведочные графики прямо из DataFrame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Правило: </a:t>
            </a:r>
            <a:r>
              <a:rPr lang="ru-RU" dirty="0" sz="2000" b="1">
                <a:solidFill>
                  <a:srgbClr val="000000"/>
                </a:solidFill>
              </a:rPr>
              <a:t>seaborn</a:t>
            </a:r>
            <a:r>
              <a:rPr lang="ru-RU" dirty="0" sz="2000">
                <a:solidFill>
                  <a:srgbClr val="000000"/>
                </a:solidFill>
              </a:rPr>
              <a:t xml:space="preserve"> для EDA → </a:t>
            </a:r>
            <a:r>
              <a:rPr lang="ru-RU" dirty="0" sz="2000" b="1">
                <a:solidFill>
                  <a:srgbClr val="000000"/>
                </a:solidFill>
              </a:rPr>
              <a:t>plotly</a:t>
            </a:r>
            <a:r>
              <a:rPr lang="ru-RU" dirty="0" sz="2000">
                <a:solidFill>
                  <a:srgbClr val="000000"/>
                </a:solidFill>
              </a:rPr>
              <a:t xml:space="preserve"> для интерактива → </a:t>
            </a:r>
            <a:r>
              <a:rPr lang="ru-RU" dirty="0" sz="2000" b="1">
                <a:solidFill>
                  <a:srgbClr val="000000"/>
                </a:solidFill>
              </a:rPr>
              <a:t>matplotlib</a:t>
            </a:r>
            <a:r>
              <a:rPr lang="ru-RU" dirty="0" sz="2000">
                <a:solidFill>
                  <a:srgbClr val="000000"/>
                </a:solidFill>
              </a:rPr>
              <a:t xml:space="preserve"> для тонкой настройки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Быстрый старт: pandas built-in визуализация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</a:t>
            </a:r>
            <a:r>
              <a:rPr lang="ru-RU" dirty="0" sz="2000" b="1">
                <a:solidFill>
                  <a:srgbClr val="000000"/>
                </a:solidFill>
              </a:rPr>
              <a:t>моментальный обзор</a:t>
            </a:r>
            <a:r>
              <a:rPr lang="ru-RU" dirty="0" sz="2000">
                <a:solidFill>
                  <a:srgbClr val="000000"/>
                </a:solidFill>
              </a:rPr>
              <a:t xml:space="preserve"> данных без импорта дополнительных библиотек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Гистограмма, box plot, scatter и bar chart — одной цепочкой вызовов от DataFrame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Частоты категорий — через value_counts и столбчатую диаграмму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Overlay гистограмм всех числовых столбцов — быстрый взгляд на масштабы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Ограничение: меньше контроля над стилем; использовать в </a:t>
            </a:r>
            <a:r>
              <a:rPr lang="ru-RU" dirty="0" sz="2000" b="1">
                <a:solidFill>
                  <a:srgbClr val="000000"/>
                </a:solidFill>
              </a:rPr>
              <a:t>первые 30 секунд</a:t>
            </a:r>
            <a:r>
              <a:rPr lang="ru-RU" dirty="0" sz="2000">
                <a:solidFill>
                  <a:srgbClr val="000000"/>
                </a:solidFill>
              </a:rPr>
              <a:t xml:space="preserve"> знакомства с датасетом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Matplotlib: архитектура Figure и Axes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понимать </a:t>
            </a:r>
            <a:r>
              <a:rPr lang="ru-RU" dirty="0" sz="2000" b="1">
                <a:solidFill>
                  <a:srgbClr val="000000"/>
                </a:solidFill>
              </a:rPr>
              <a:t>иерархию объектов</a:t>
            </a:r>
            <a:r>
              <a:rPr lang="ru-RU" dirty="0" sz="2000">
                <a:solidFill>
                  <a:srgbClr val="000000"/>
                </a:solidFill>
              </a:rPr>
              <a:t xml:space="preserve"> — без неё сложно править сложные фигуры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Figure</a:t>
            </a:r>
            <a:r>
              <a:rPr lang="ru-RU" dirty="0" sz="2000">
                <a:solidFill>
                  <a:srgbClr val="000000"/>
                </a:solidFill>
              </a:rPr>
              <a:t xml:space="preserve"> — весь «лист» (холст); </a:t>
            </a:r>
            <a:r>
              <a:rPr lang="ru-RU" dirty="0" sz="2000" b="1">
                <a:solidFill>
                  <a:srgbClr val="000000"/>
                </a:solidFill>
              </a:rPr>
              <a:t>Axes</a:t>
            </a:r>
            <a:r>
              <a:rPr lang="ru-RU" dirty="0" sz="2000">
                <a:solidFill>
                  <a:srgbClr val="000000"/>
                </a:solidFill>
              </a:rPr>
              <a:t xml:space="preserve"> — прямоугольная область, где рисуется график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Сначала создаём figure и axes, затем вызываем методы </a:t>
            </a:r>
            <a:r>
              <a:rPr lang="ru-RU" dirty="0" sz="2000" b="1">
                <a:solidFill>
                  <a:srgbClr val="000000"/>
                </a:solidFill>
              </a:rPr>
              <a:t>на axes</a:t>
            </a:r>
            <a:r>
              <a:rPr lang="ru-RU" dirty="0" sz="2000">
                <a:solidFill>
                  <a:srgbClr val="000000"/>
                </a:solidFill>
              </a:rPr>
              <a:t xml:space="preserve"> — plot, scatter, подписи осей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Перед показом или сохранением — </a:t>
            </a:r>
            <a:r>
              <a:rPr lang="ru-RU" dirty="0" sz="2000" b="1">
                <a:solidFill>
                  <a:srgbClr val="000000"/>
                </a:solidFill>
              </a:rPr>
              <a:t>подгонка отступов</a:t>
            </a:r>
            <a:r>
              <a:rPr lang="ru-RU" dirty="0" sz="2000">
                <a:solidFill>
                  <a:srgbClr val="000000"/>
                </a:solidFill>
              </a:rPr>
              <a:t>, иначе подписи обрежутся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Эта схема — основа для subplot, кастомизации и export в PNG/PDF</a:t>
            </a:r>
          </a:p>
        </p:txBody>
      </p:sp>
      <p:pic>
        <p:nvPicPr>
          <p:cNvPr id="4" name="Picture 3" descr="mpl_code_sub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0652" y="1371600"/>
            <a:ext cx="2082669" cy="2025396"/>
          </a:xfrm>
          <a:prstGeom prst="rect">
            <a:avLst/>
          </a:prstGeom>
        </p:spPr>
      </p:pic>
      <p:pic>
        <p:nvPicPr>
          <p:cNvPr id="5" name="Picture 4" descr="mpl_code_axes_metho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7619" y="3707891"/>
            <a:ext cx="2448736" cy="202539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Несколько графиков на одной фигуре: subplot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</a:t>
            </a:r>
            <a:r>
              <a:rPr lang="ru-RU" dirty="0" sz="2000" b="1">
                <a:solidFill>
                  <a:srgbClr val="000000"/>
                </a:solidFill>
              </a:rPr>
              <a:t>сравнить</a:t>
            </a:r>
            <a:r>
              <a:rPr lang="ru-RU" dirty="0" sz="2000">
                <a:solidFill>
                  <a:srgbClr val="000000"/>
                </a:solidFill>
              </a:rPr>
              <a:t xml:space="preserve"> train и test (или до/после) на одном экране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subplots — сетка маленьких графиков внутри одного figure; у каждой ячейки свой axes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Верхний ряд: одна и та же переменная в train и test — сразу виден </a:t>
            </a:r>
            <a:r>
              <a:rPr lang="ru-RU" dirty="0" sz="2000" b="1">
                <a:solidFill>
                  <a:srgbClr val="000000"/>
                </a:solidFill>
              </a:rPr>
              <a:t>сдвиг распределения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Общий заголовок всей фигуры — suptitle; подписи осей — в каждой ячейке отдельно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constrained_layout или tight_layout — </a:t>
            </a:r>
            <a:r>
              <a:rPr lang="ru-RU" dirty="0" sz="2000" b="1">
                <a:solidFill>
                  <a:srgbClr val="000000"/>
                </a:solidFill>
              </a:rPr>
              <a:t>обязательны</a:t>
            </a:r>
            <a:r>
              <a:rPr lang="ru-RU" dirty="0" sz="2000">
                <a:solidFill>
                  <a:srgbClr val="000000"/>
                </a:solidFill>
              </a:rPr>
              <a:t xml:space="preserve">, иначе подписи и заголовки </a:t>
            </a:r>
            <a:r>
              <a:rPr lang="ru-RU" dirty="0" sz="2000" b="1">
                <a:solidFill>
                  <a:srgbClr val="000000"/>
                </a:solidFill>
              </a:rPr>
              <a:t>перекрываются</a:t>
            </a:r>
          </a:p>
        </p:txBody>
      </p:sp>
      <p:pic>
        <p:nvPicPr>
          <p:cNvPr id="4" name="Picture 3" descr="subplot_train_test_cl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1454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Кастомизация: цвета, стили, аннотации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график должен </a:t>
            </a:r>
            <a:r>
              <a:rPr lang="ru-RU" dirty="0" sz="2000" b="1">
                <a:solidFill>
                  <a:srgbClr val="000000"/>
                </a:solidFill>
              </a:rPr>
              <a:t>читаться</a:t>
            </a:r>
            <a:r>
              <a:rPr lang="ru-RU" dirty="0" sz="2000">
                <a:solidFill>
                  <a:srgbClr val="000000"/>
                </a:solidFill>
              </a:rPr>
              <a:t xml:space="preserve"> на проекторе и в PDF — не только в ноутбуке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Цвет и прозрачность</a:t>
            </a:r>
            <a:r>
              <a:rPr lang="ru-RU" dirty="0" sz="2000">
                <a:solidFill>
                  <a:srgbClr val="000000"/>
                </a:solidFill>
              </a:rPr>
              <a:t xml:space="preserve"> разводят серии; палитра </a:t>
            </a:r>
            <a:r>
              <a:rPr lang="ru-RU" dirty="0" sz="2000" b="1">
                <a:solidFill>
                  <a:srgbClr val="000000"/>
                </a:solidFill>
              </a:rPr>
              <a:t>viridis</a:t>
            </a:r>
            <a:r>
              <a:rPr lang="ru-RU" dirty="0" sz="2000">
                <a:solidFill>
                  <a:srgbClr val="000000"/>
                </a:solidFill>
              </a:rPr>
              <a:t xml:space="preserve"> удобна для дальтоников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Тип линии и маркеры</a:t>
            </a:r>
            <a:r>
              <a:rPr lang="ru-RU" dirty="0" sz="2000">
                <a:solidFill>
                  <a:srgbClr val="000000"/>
                </a:solidFill>
              </a:rPr>
              <a:t xml:space="preserve"> — запасной способ отличить классы, если цветов мало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Аннотация со стрелкой</a:t>
            </a:r>
            <a:r>
              <a:rPr lang="ru-RU" dirty="0" sz="2000">
                <a:solidFill>
                  <a:srgbClr val="000000"/>
                </a:solidFill>
              </a:rPr>
              <a:t xml:space="preserve"> — один выброс или ключевая точка, без простыни текста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Легенда и лёгкая сетка</a:t>
            </a:r>
            <a:r>
              <a:rPr lang="ru-RU" dirty="0" sz="2000">
                <a:solidFill>
                  <a:srgbClr val="000000"/>
                </a:solidFill>
              </a:rPr>
              <a:t xml:space="preserve"> помогают считывать значения; для слайдов — </a:t>
            </a:r>
            <a:r>
              <a:rPr lang="ru-RU" dirty="0" sz="2000" b="1">
                <a:solidFill>
                  <a:srgbClr val="000000"/>
                </a:solidFill>
              </a:rPr>
              <a:t>крупный шрифт</a:t>
            </a:r>
          </a:p>
        </p:txBody>
      </p:sp>
      <p:pic>
        <p:nvPicPr>
          <p:cNvPr id="4" name="Picture 3" descr="customization_annotate_leg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49488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Сохранение и экспорт графиков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сохранить график для </a:t>
            </a:r>
            <a:r>
              <a:rPr lang="ru-RU" dirty="0" sz="2000" b="1">
                <a:solidFill>
                  <a:srgbClr val="000000"/>
                </a:solidFill>
              </a:rPr>
              <a:t>отчёта</a:t>
            </a:r>
            <a:r>
              <a:rPr lang="ru-RU" dirty="0" sz="2000">
                <a:solidFill>
                  <a:srgbClr val="000000"/>
                </a:solidFill>
              </a:rPr>
              <a:t>, статьи или внутреннего дашборда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PNG, dpi=300</a:t>
            </a:r>
            <a:r>
              <a:rPr lang="ru-RU" dirty="0" sz="2000">
                <a:solidFill>
                  <a:srgbClr val="000000"/>
                </a:solidFill>
              </a:rPr>
              <a:t xml:space="preserve"> — слайды и печать; </a:t>
            </a:r>
            <a:r>
              <a:rPr lang="ru-RU" dirty="0" sz="2000" b="1">
                <a:solidFill>
                  <a:srgbClr val="000000"/>
                </a:solidFill>
              </a:rPr>
              <a:t>SVG/PDF</a:t>
            </a:r>
            <a:r>
              <a:rPr lang="ru-RU" dirty="0" sz="2000">
                <a:solidFill>
                  <a:srgbClr val="000000"/>
                </a:solidFill>
              </a:rPr>
              <a:t xml:space="preserve"> — статьи, масштаб без потери качества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Прозрачный фон</a:t>
            </a:r>
            <a:r>
              <a:rPr lang="ru-RU" dirty="0" sz="2000">
                <a:solidFill>
                  <a:srgbClr val="000000"/>
                </a:solidFill>
              </a:rPr>
              <a:t xml:space="preserve"> (transparent=True) — для наложения на цветной слайд или сайт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Plotly → HTML</a:t>
            </a:r>
            <a:r>
              <a:rPr lang="ru-RU" dirty="0" sz="2000">
                <a:solidFill>
                  <a:srgbClr val="000000"/>
                </a:solidFill>
              </a:rPr>
              <a:t xml:space="preserve"> — интерактив для коллег (zoom, hover)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bbox_inches='tight'</a:t>
            </a:r>
            <a:r>
              <a:rPr lang="ru-RU" dirty="0" sz="2000">
                <a:solidFill>
                  <a:srgbClr val="000000"/>
                </a:solidFill>
              </a:rPr>
              <a:t xml:space="preserve"> — иначе при savefig </a:t>
            </a:r>
            <a:r>
              <a:rPr lang="ru-RU" dirty="0" sz="2000" b="1">
                <a:solidFill>
                  <a:srgbClr val="000000"/>
                </a:solidFill>
              </a:rPr>
              <a:t>обрежутся</a:t>
            </a:r>
            <a:r>
              <a:rPr lang="ru-RU" dirty="0" sz="2000">
                <a:solidFill>
                  <a:srgbClr val="000000"/>
                </a:solidFill>
              </a:rPr>
              <a:t xml:space="preserve"> подписи осей и легенда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Plotly: интерактивные графики одной строкой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</a:t>
            </a:r>
            <a:r>
              <a:rPr lang="ru-RU" dirty="0" sz="2000" b="1">
                <a:solidFill>
                  <a:srgbClr val="000000"/>
                </a:solidFill>
              </a:rPr>
              <a:t>исследовать</a:t>
            </a:r>
            <a:r>
              <a:rPr lang="ru-RU" dirty="0" sz="2000">
                <a:solidFill>
                  <a:srgbClr val="000000"/>
                </a:solidFill>
              </a:rPr>
              <a:t xml:space="preserve"> данные — zoom, hover, фильтр серий в легенде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Plotly Express</a:t>
            </a:r>
            <a:r>
              <a:rPr lang="ru-RU" dirty="0" sz="2000">
                <a:solidFill>
                  <a:srgbClr val="000000"/>
                </a:solidFill>
              </a:rPr>
              <a:t xml:space="preserve"> — один вызов на типичный график: scatter, histogram, line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Scatter: цвет по категории, hover с дополнительными полями (id, сегмент)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Histogram с marginal box — распределение и квантили на одном экране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Plotly: продвинутые возможности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</a:t>
            </a:r>
            <a:r>
              <a:rPr lang="ru-RU" dirty="0" sz="2000" b="1">
                <a:solidFill>
                  <a:srgbClr val="000000"/>
                </a:solidFill>
              </a:rPr>
              <a:t>3D</a:t>
            </a:r>
            <a:r>
              <a:rPr lang="ru-RU" dirty="0" sz="2000">
                <a:solidFill>
                  <a:srgbClr val="000000"/>
                </a:solidFill>
              </a:rPr>
              <a:t>, анимация, несколько графиков на одной странице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Несколько subplots в одном plotly-figure</a:t>
            </a:r>
          </a:p>
        </p:txBody>
      </p:sp>
      <p:pic>
        <p:nvPicPr>
          <p:cNvPr id="4" name="Picture 3" descr="plotly_3d_animation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Распределение одной переменной: гистограмма и KDE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понять распределение признака — нужна ли </a:t>
            </a:r>
            <a:r>
              <a:rPr lang="ru-RU" dirty="0" sz="2000" b="1">
                <a:solidFill>
                  <a:srgbClr val="000000"/>
                </a:solidFill>
              </a:rPr>
              <a:t>трансформация</a:t>
            </a:r>
            <a:r>
              <a:rPr lang="ru-RU" dirty="0" sz="2000">
                <a:solidFill>
                  <a:srgbClr val="000000"/>
                </a:solidFill>
              </a:rPr>
              <a:t xml:space="preserve"> (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log1p</a:t>
            </a:r>
            <a:r>
              <a:rPr lang="ru-RU" dirty="0" sz="2000">
                <a:solidFill>
                  <a:srgbClr val="000000"/>
                </a:solidFill>
              </a:rPr>
              <a:t>), есть ли моды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sns.histplot(df['income'], kde=True)</a:t>
            </a:r>
            <a:r>
              <a:rPr lang="ru-RU" dirty="0" sz="2000">
                <a:solidFill>
                  <a:srgbClr val="000000"/>
                </a:solidFill>
              </a:rPr>
              <a:t xml:space="preserve"> — гистограмма + кривая плотности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Ищем: </a:t>
            </a:r>
            <a:r>
              <a:rPr lang="ru-RU" dirty="0" sz="2000" b="1">
                <a:solidFill>
                  <a:srgbClr val="000000"/>
                </a:solidFill>
              </a:rPr>
              <a:t>heavy tail</a:t>
            </a:r>
            <a:r>
              <a:rPr lang="ru-RU" dirty="0" sz="2000">
                <a:solidFill>
                  <a:srgbClr val="000000"/>
                </a:solidFill>
              </a:rPr>
              <a:t xml:space="preserve"> (повод для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log1p</a:t>
            </a:r>
            <a:r>
              <a:rPr lang="ru-RU" dirty="0" sz="2000">
                <a:solidFill>
                  <a:srgbClr val="000000"/>
                </a:solidFill>
              </a:rPr>
              <a:t xml:space="preserve">), </a:t>
            </a:r>
            <a:r>
              <a:rPr lang="ru-RU" dirty="0" sz="2000" b="1">
                <a:solidFill>
                  <a:srgbClr val="000000"/>
                </a:solidFill>
              </a:rPr>
              <a:t>мультимодальность</a:t>
            </a:r>
            <a:r>
              <a:rPr lang="ru-RU" dirty="0" sz="2000">
                <a:solidFill>
                  <a:srgbClr val="000000"/>
                </a:solidFill>
              </a:rPr>
              <a:t xml:space="preserve"> (смешаны группы), выбросы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Параметр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bins</a:t>
            </a:r>
            <a:r>
              <a:rPr lang="ru-RU" dirty="0" sz="2000">
                <a:solidFill>
                  <a:srgbClr val="000000"/>
                </a:solidFill>
              </a:rPr>
              <a:t>: мало — скрыты детали, много — шум</a:t>
            </a:r>
          </a:p>
        </p:txBody>
      </p:sp>
      <p:pic>
        <p:nvPicPr>
          <p:cNvPr id="4" name="Picture 3" descr="histplot_kde_heavy_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49488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Быстрый поиск выбросов: Box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найти аномалии по </a:t>
            </a:r>
            <a:r>
              <a:rPr lang="ru-RU" dirty="0" sz="2000" b="1">
                <a:solidFill>
                  <a:srgbClr val="000000"/>
                </a:solidFill>
              </a:rPr>
              <a:t>IQR</a:t>
            </a:r>
            <a:r>
              <a:rPr lang="ru-RU" dirty="0" sz="2000">
                <a:solidFill>
                  <a:srgbClr val="000000"/>
                </a:solidFill>
              </a:rPr>
              <a:t>, сравнить распределения по группам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sns.boxplot(data=df, x='category', y='price')</a:t>
            </a:r>
            <a:r>
              <a:rPr lang="ru-RU" dirty="0" sz="2000">
                <a:solidFill>
                  <a:srgbClr val="000000"/>
                </a:solidFill>
              </a:rPr>
              <a:t xml:space="preserve"> — медиана, квантили, выбросы за «усами»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Ограничение: </a:t>
            </a:r>
            <a:r>
              <a:rPr lang="ru-RU" dirty="0" sz="2000" b="1">
                <a:solidFill>
                  <a:srgbClr val="000000"/>
                </a:solidFill>
              </a:rPr>
              <a:t>не показывает форму</a:t>
            </a:r>
            <a:r>
              <a:rPr lang="ru-RU" dirty="0" sz="2000">
                <a:solidFill>
                  <a:srgbClr val="000000"/>
                </a:solidFill>
              </a:rPr>
              <a:t xml:space="preserve"> распределения — бимодальность скрывается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Интерактив: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px.box(df, x='category', y='price', points='all')</a:t>
            </a:r>
            <a:r>
              <a:rPr lang="ru-RU" dirty="0" sz="2000">
                <a:solidFill>
                  <a:srgbClr val="000000"/>
                </a:solidFill>
              </a:rPr>
              <a:t xml:space="preserve"> — hover на каждой точке</a:t>
            </a:r>
          </a:p>
        </p:txBody>
      </p:sp>
      <p:pic>
        <p:nvPicPr>
          <p:cNvPr id="4" name="Picture 3" descr="boxplot_outliers_iq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90891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Сравнение распределений: Violin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сравнить распределение </a:t>
            </a:r>
            <a:r>
              <a:rPr lang="ru-RU" dirty="0" sz="2000" b="1">
                <a:solidFill>
                  <a:srgbClr val="000000"/>
                </a:solidFill>
              </a:rPr>
              <a:t>таргета</a:t>
            </a:r>
            <a:r>
              <a:rPr lang="ru-RU" dirty="0" sz="2000">
                <a:solidFill>
                  <a:srgbClr val="000000"/>
                </a:solidFill>
              </a:rPr>
              <a:t xml:space="preserve"> по категориальным признакам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sns.violinplot(data=df, x='city', y='income')</a:t>
            </a:r>
            <a:r>
              <a:rPr lang="ru-RU" dirty="0" sz="2000">
                <a:solidFill>
                  <a:srgbClr val="000000"/>
                </a:solidFill>
              </a:rPr>
              <a:t xml:space="preserve"> — объединяет box plot и KDE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Инсайт: «В Москве средний доход выше, но форма </a:t>
            </a:r>
            <a:r>
              <a:rPr lang="ru-RU" dirty="0" sz="2000" b="1">
                <a:solidFill>
                  <a:srgbClr val="000000"/>
                </a:solidFill>
              </a:rPr>
              <a:t>бимодальная</a:t>
            </a:r>
            <a:r>
              <a:rPr lang="ru-RU" dirty="0" sz="2000">
                <a:solidFill>
                  <a:srgbClr val="000000"/>
                </a:solidFill>
              </a:rPr>
              <a:t>» — box plot это скрыл бы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Идеален для анализа таргета в </a:t>
            </a:r>
            <a:r>
              <a:rPr lang="ru-RU" dirty="0" sz="2000" b="1">
                <a:solidFill>
                  <a:srgbClr val="000000"/>
                </a:solidFill>
              </a:rPr>
              <a:t>регрессии</a:t>
            </a:r>
            <a:r>
              <a:rPr lang="ru-RU" dirty="0" sz="2000">
                <a:solidFill>
                  <a:srgbClr val="000000"/>
                </a:solidFill>
              </a:rPr>
              <a:t>: сразу видно, где предсказывать сложно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Plotly: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px.violin(df, x='city', y='income', box=True, points='outliers')</a:t>
            </a:r>
          </a:p>
        </p:txBody>
      </p:sp>
      <p:pic>
        <p:nvPicPr>
          <p:cNvPr id="4" name="Picture 3" descr="violin_vs_box_bi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90891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Связь двух непрерывных признаков: Scatter и marginal distributions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увидеть </a:t>
            </a:r>
            <a:r>
              <a:rPr lang="ru-RU" dirty="0" sz="2000" b="1">
                <a:solidFill>
                  <a:srgbClr val="000000"/>
                </a:solidFill>
              </a:rPr>
              <a:t>линейную/нелинейную</a:t>
            </a:r>
            <a:r>
              <a:rPr lang="ru-RU" dirty="0" sz="2000">
                <a:solidFill>
                  <a:srgbClr val="000000"/>
                </a:solidFill>
              </a:rPr>
              <a:t xml:space="preserve"> связь, кластеры, выбросы в паре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sns.scatterplot(data=df, x='area', y='price', hue='city')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Ищем: линейный тренд, нелинейность (нужны полиномы или деревья), кластеры</a:t>
            </a:r>
          </a:p>
        </p:txBody>
      </p:sp>
      <p:pic>
        <p:nvPicPr>
          <p:cNvPr id="4" name="Picture 3" descr="jointplot_hex_margin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639" y="1371600"/>
            <a:ext cx="4410695" cy="436168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Пропуски в данных: missingno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увидеть </a:t>
            </a:r>
            <a:r>
              <a:rPr lang="ru-RU" dirty="0" sz="2000" b="1">
                <a:solidFill>
                  <a:srgbClr val="000000"/>
                </a:solidFill>
              </a:rPr>
              <a:t>паттерны пропусков</a:t>
            </a:r>
            <a:r>
              <a:rPr lang="ru-RU" dirty="0" sz="2000">
                <a:solidFill>
                  <a:srgbClr val="000000"/>
                </a:solidFill>
              </a:rPr>
              <a:t xml:space="preserve"> — случайные или систематические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Библиотека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missingno</a:t>
            </a:r>
            <a:r>
              <a:rPr lang="ru-RU" dirty="0" sz="2000">
                <a:solidFill>
                  <a:srgbClr val="000000"/>
                </a:solidFill>
              </a:rPr>
              <a:t xml:space="preserve"> визуализирует пропуски одной командой</a:t>
            </a:r>
          </a:p>
        </p:txBody>
      </p:sp>
      <p:pic>
        <p:nvPicPr>
          <p:cNvPr id="4" name="Picture 3" descr="missingno_matrix_dend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90891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Мультиколлинеарность: Heatmap корреляций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найти </a:t>
            </a:r>
            <a:r>
              <a:rPr lang="ru-RU" dirty="0" sz="2000" b="1">
                <a:solidFill>
                  <a:srgbClr val="000000"/>
                </a:solidFill>
              </a:rPr>
              <a:t>дублирующие признаки</a:t>
            </a:r>
            <a:r>
              <a:rPr lang="ru-RU" dirty="0" sz="2000">
                <a:solidFill>
                  <a:srgbClr val="000000"/>
                </a:solidFill>
              </a:rPr>
              <a:t xml:space="preserve"> и их связь с таргетом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sns.heatmap(df.corr(), annot=True, cmap='coolwarm', center=0)</a:t>
            </a:r>
            <a:r>
              <a:rPr lang="ru-RU" dirty="0" sz="2000">
                <a:solidFill>
                  <a:srgbClr val="000000"/>
                </a:solidFill>
              </a:rPr>
              <a:t xml:space="preserve"> — карта с центром в нуле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Ищем: </a:t>
            </a:r>
            <ns0:m xmlns:ns0="http://schemas.microsoft.com/office/drawing/2010/main">
              <m:oMath xmlns:m="http://schemas.openxmlformats.org/officeDocument/2006/math">
                <m:r>
                  <m:t>|r|&gt;0.9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кандидаты на удаление; высокая корреляция с </a:t>
            </a:r>
            <a:r>
              <a:rPr lang="ru-RU" dirty="0" sz="2000" b="1">
                <a:solidFill>
                  <a:srgbClr val="000000"/>
                </a:solidFill>
              </a:rPr>
              <a:t>таргетом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Пирсон по умолчанию (линейная связь); для нелинейной —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method='spearman'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Plotly: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px.imshow(df.corr(), text_auto='.2f', color_continuous_scale='RdBu_r')</a:t>
            </a:r>
          </a:p>
        </p:txBody>
      </p:sp>
      <p:pic>
        <p:nvPicPr>
          <p:cNvPr id="4" name="Picture 3" descr="correlation_heatmap_multicol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90891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Детектирование дрейфа данных: ECDF и overlay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сравнить распределения </a:t>
            </a:r>
            <a:r>
              <a:rPr lang="ru-RU" dirty="0" sz="2000" b="1">
                <a:solidFill>
                  <a:srgbClr val="000000"/>
                </a:solidFill>
              </a:rPr>
              <a:t>train/test/production</a:t>
            </a:r>
            <a:r>
              <a:rPr lang="ru-RU" dirty="0" sz="2000">
                <a:solidFill>
                  <a:srgbClr val="000000"/>
                </a:solidFill>
              </a:rPr>
              <a:t xml:space="preserve"> — выявить </a:t>
            </a:r>
            <a:r>
              <a:rPr lang="ru-RU" dirty="0" sz="2000" b="1">
                <a:solidFill>
                  <a:srgbClr val="000000"/>
                </a:solidFill>
              </a:rPr>
              <a:t>Data Drift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Расхождение кривых означает </a:t>
            </a:r>
            <a:r>
              <a:rPr lang="ru-RU" dirty="0" sz="2000" b="1">
                <a:solidFill>
                  <a:srgbClr val="000000"/>
                </a:solidFill>
              </a:rPr>
              <a:t>дрейф</a:t>
            </a:r>
            <a:r>
              <a:rPr lang="ru-RU" dirty="0" sz="2000">
                <a:solidFill>
                  <a:srgbClr val="000000"/>
                </a:solidFill>
              </a:rPr>
              <a:t xml:space="preserve"> — модель может деградировать</a:t>
            </a:r>
          </a:p>
        </p:txBody>
      </p:sp>
      <p:pic>
        <p:nvPicPr>
          <p:cNvPr id="4" name="Picture 3" descr="ecdf_train_prod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49488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Дисбаланс классов: Count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увидеть распределение классов в </a:t>
            </a:r>
            <a:r>
              <a:rPr lang="ru-RU" dirty="0" sz="2000" b="1">
                <a:solidFill>
                  <a:srgbClr val="000000"/>
                </a:solidFill>
              </a:rPr>
              <a:t>классификации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sns.countplot(data=df, x='target')</a:t>
            </a:r>
            <a:r>
              <a:rPr lang="ru-RU" dirty="0" sz="2000">
                <a:solidFill>
                  <a:srgbClr val="000000"/>
                </a:solidFill>
              </a:rPr>
              <a:t xml:space="preserve"> — частоты каждого класса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Если соотношение </a:t>
            </a:r>
            <a:r>
              <a:rPr lang="ru-RU" dirty="0" sz="2000" b="1">
                <a:solidFill>
                  <a:srgbClr val="000000"/>
                </a:solidFill>
              </a:rPr>
              <a:t>100:1</a:t>
            </a:r>
            <a:r>
              <a:rPr lang="ru-RU" dirty="0" sz="2000">
                <a:solidFill>
                  <a:srgbClr val="000000"/>
                </a:solidFill>
              </a:rPr>
              <a:t xml:space="preserve"> — accuracy бесполезна; нужны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class_weight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 b="1">
                <a:solidFill>
                  <a:srgbClr val="000000"/>
                </a:solidFill>
              </a:rPr>
              <a:t>PR-AUC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Стройте </a:t>
            </a:r>
            <a:r>
              <a:rPr lang="ru-RU" dirty="0" sz="2000" b="1">
                <a:solidFill>
                  <a:srgbClr val="000000"/>
                </a:solidFill>
              </a:rPr>
              <a:t>в начале</a:t>
            </a:r>
            <a:r>
              <a:rPr lang="ru-RU" dirty="0" sz="2000">
                <a:solidFill>
                  <a:srgbClr val="000000"/>
                </a:solidFill>
              </a:rPr>
              <a:t xml:space="preserve"> каждого классификационного проекта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Альтернатива: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df['target'].value_counts().plot(kind='bar')</a:t>
            </a:r>
            <a:r>
              <a:rPr lang="ru-RU" dirty="0" sz="2000">
                <a:solidFill>
                  <a:srgbClr val="000000"/>
                </a:solidFill>
              </a:rPr>
              <a:t xml:space="preserve"> или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px.histogram(df, x='target')</a:t>
            </a:r>
          </a:p>
        </p:txBody>
      </p:sp>
      <p:pic>
        <p:nvPicPr>
          <p:cNvPr id="4" name="Picture 3" descr="countplot_class_imbal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90891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Границы решений: Decision Boundaries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визуализировать, как </a:t>
            </a:r>
            <a:r>
              <a:rPr lang="ru-RU" dirty="0" sz="2000" b="1">
                <a:solidFill>
                  <a:srgbClr val="000000"/>
                </a:solidFill>
              </a:rPr>
              <a:t>классификатор</a:t>
            </a:r>
            <a:r>
              <a:rPr lang="ru-RU" dirty="0" sz="2000">
                <a:solidFill>
                  <a:srgbClr val="000000"/>
                </a:solidFill>
              </a:rPr>
              <a:t xml:space="preserve"> разделяет пространство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DecisionBoundaryDisplay.from_estimator(clf, X, y)</a:t>
            </a:r>
            <a:r>
              <a:rPr lang="ru-RU" dirty="0" sz="2000">
                <a:solidFill>
                  <a:srgbClr val="000000"/>
                </a:solidFill>
              </a:rPr>
              <a:t xml:space="preserve"> — для </a:t>
            </a:r>
            <a:r>
              <a:rPr lang="ru-RU" dirty="0" sz="2000" b="1">
                <a:solidFill>
                  <a:srgbClr val="000000"/>
                </a:solidFill>
              </a:rPr>
              <a:t>2D</a:t>
            </a:r>
            <a:r>
              <a:rPr lang="ru-RU" dirty="0" sz="2000">
                <a:solidFill>
                  <a:srgbClr val="000000"/>
                </a:solidFill>
              </a:rPr>
              <a:t>-классификаторов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Видим: линейная граница (логрег), нелинейная (деревья, SVM RBF), </a:t>
            </a:r>
            <a:r>
              <a:rPr lang="ru-RU" dirty="0" sz="2000" b="1">
                <a:solidFill>
                  <a:srgbClr val="000000"/>
                </a:solidFill>
              </a:rPr>
              <a:t>переобучение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Кастомизация: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alpha=0.3</a:t>
            </a:r>
            <a:r>
              <a:rPr lang="ru-RU" dirty="0" sz="2000">
                <a:solidFill>
                  <a:srgbClr val="000000"/>
                </a:solidFill>
              </a:rPr>
              <a:t xml:space="preserve"> для прозрачности + overlay scatter точек</a:t>
            </a:r>
          </a:p>
        </p:txBody>
      </p:sp>
      <p:pic>
        <p:nvPicPr>
          <p:cNvPr id="4" name="Picture 3" descr="decision_boundary_linear_non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49488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Многомерные данные: PCA, t-SNE, UMAP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визуализировать многомерные данные в </a:t>
            </a:r>
            <a:r>
              <a:rPr lang="ru-RU" dirty="0" sz="2000" b="1">
                <a:solidFill>
                  <a:srgbClr val="000000"/>
                </a:solidFill>
              </a:rPr>
              <a:t>2D/3D</a:t>
            </a:r>
            <a:r>
              <a:rPr lang="ru-RU" dirty="0" sz="2000">
                <a:solidFill>
                  <a:srgbClr val="000000"/>
                </a:solidFill>
              </a:rPr>
              <a:t>, увидеть кластеры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PCA</a:t>
            </a:r>
            <a:r>
              <a:rPr lang="ru-RU" dirty="0" sz="2000">
                <a:solidFill>
                  <a:srgbClr val="000000"/>
                </a:solidFill>
              </a:rPr>
              <a:t xml:space="preserve"> — линейное снижение размерности, сохраняет </a:t>
            </a:r>
            <a:r>
              <a:rPr lang="ru-RU" dirty="0" sz="2000" b="1">
                <a:solidFill>
                  <a:srgbClr val="000000"/>
                </a:solidFill>
              </a:rPr>
              <a:t>глобальную</a:t>
            </a:r>
            <a:r>
              <a:rPr lang="ru-RU" dirty="0" sz="2000">
                <a:solidFill>
                  <a:srgbClr val="000000"/>
                </a:solidFill>
              </a:rPr>
              <a:t xml:space="preserve"> структуру</a:t>
            </a:r>
          </a:p>
        </p:txBody>
      </p:sp>
      <p:pic>
        <p:nvPicPr>
          <p:cNvPr id="4" name="Picture 3" descr="pca_vs_umap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Кластеризация: Silhouette plot и Elbow 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выбрать оптимальное число кластеров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в </a:t>
            </a:r>
            <a:r>
              <a:rPr lang="ru-RU" dirty="0" sz="2000" b="1">
                <a:solidFill>
                  <a:srgbClr val="000000"/>
                </a:solidFill>
              </a:rPr>
              <a:t>K-means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Elbow method</a:t>
            </a:r>
            <a:r>
              <a:rPr lang="ru-RU" dirty="0" sz="2000">
                <a:solidFill>
                  <a:srgbClr val="000000"/>
                </a:solidFill>
              </a:rPr>
              <a:t xml:space="preserve">: график WCSS от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ищем «локоть»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fig, (ax1, ax2) = plt.subplots(1, 2)</a:t>
            </a:r>
            <a:r>
              <a:rPr lang="ru-RU" dirty="0" sz="2000">
                <a:solidFill>
                  <a:srgbClr val="000000"/>
                </a:solidFill>
              </a:rPr>
              <a:t xml:space="preserve"> — elbow и silhouette рядом</a:t>
            </a:r>
          </a:p>
        </p:txBody>
      </p:sp>
      <p:pic>
        <p:nvPicPr>
          <p:cNvPr id="4" name="Picture 3" descr="elbow_silhouette_k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4037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 регрессии: Residual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проверить качество регрессии, найти </a:t>
            </a:r>
            <a:r>
              <a:rPr lang="ru-RU" dirty="0" sz="2000" b="1">
                <a:solidFill>
                  <a:srgbClr val="000000"/>
                </a:solidFill>
              </a:rPr>
              <a:t>систематические ошибки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sns.residplot(x=y_pred, y=y_true - y_pred, lowess=True)</a:t>
            </a:r>
            <a:r>
              <a:rPr lang="ru-RU" dirty="0" sz="2000">
                <a:solidFill>
                  <a:srgbClr val="000000"/>
                </a:solidFill>
              </a:rPr>
              <a:t xml:space="preserve"> — остатки vs предсказания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Хорошая модель: </a:t>
            </a:r>
            <a:r>
              <a:rPr lang="ru-RU" dirty="0" sz="2000" b="1">
                <a:solidFill>
                  <a:srgbClr val="000000"/>
                </a:solidFill>
              </a:rPr>
              <a:t>хаотичное облако</a:t>
            </a:r>
            <a:r>
              <a:rPr lang="ru-RU" dirty="0" sz="2000">
                <a:solidFill>
                  <a:srgbClr val="000000"/>
                </a:solidFill>
              </a:rPr>
              <a:t xml:space="preserve"> вокруг нуля (гомоскедастичность)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Plotly: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px.scatter(x=y_pred, y=residuals, trendline='lowess')</a:t>
            </a:r>
          </a:p>
        </p:txBody>
      </p:sp>
      <p:pic>
        <p:nvPicPr>
          <p:cNvPr id="4" name="Picture 3" descr="residual_plot_good_b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494889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Нормальность остатков: Q-Q plot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проверить </a:t>
            </a:r>
            <a:r>
              <a:rPr lang="ru-RU" dirty="0" sz="2000" b="1">
                <a:solidFill>
                  <a:srgbClr val="000000"/>
                </a:solidFill>
              </a:rPr>
              <a:t>нормальность ошибок</a:t>
            </a:r>
            <a:r>
              <a:rPr lang="ru-RU" dirty="0" sz="2000">
                <a:solidFill>
                  <a:srgbClr val="000000"/>
                </a:solidFill>
              </a:rPr>
              <a:t xml:space="preserve"> (важно для доверительных интервалов)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statsmodels.api.qqplot(residuals, line='s')</a:t>
            </a:r>
            <a:r>
              <a:rPr lang="ru-RU" dirty="0" sz="2000">
                <a:solidFill>
                  <a:srgbClr val="000000"/>
                </a:solidFill>
              </a:rPr>
              <a:t xml:space="preserve"> — квантили остатков vs квантили нормального распределения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Точки должны лежать на </a:t>
            </a:r>
            <a:r>
              <a:rPr lang="ru-RU" dirty="0" sz="2000" b="1">
                <a:solidFill>
                  <a:srgbClr val="000000"/>
                </a:solidFill>
              </a:rPr>
              <a:t>прямой</a:t>
            </a:r>
            <a:r>
              <a:rPr lang="ru-RU" dirty="0" sz="2000">
                <a:solidFill>
                  <a:srgbClr val="000000"/>
                </a:solidFill>
              </a:rPr>
              <a:t xml:space="preserve">; отклонения на хвостах — </a:t>
            </a:r>
            <a:r>
              <a:rPr lang="ru-RU" dirty="0" sz="2000" b="1">
                <a:solidFill>
                  <a:srgbClr val="000000"/>
                </a:solidFill>
              </a:rPr>
              <a:t>тяжёлые хвосты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ML: при тяжёлых хвостах используйте </a:t>
            </a:r>
            <a:r>
              <a:rPr lang="ru-RU" dirty="0" sz="2000" b="1">
                <a:solidFill>
                  <a:srgbClr val="000000"/>
                </a:solidFill>
              </a:rPr>
              <a:t>MAE/Huber</a:t>
            </a:r>
            <a:r>
              <a:rPr lang="ru-RU" dirty="0" sz="2000">
                <a:solidFill>
                  <a:srgbClr val="000000"/>
                </a:solidFill>
              </a:rPr>
              <a:t xml:space="preserve"> вместо MSE</a:t>
            </a:r>
          </a:p>
        </p:txBody>
      </p:sp>
      <p:pic>
        <p:nvPicPr>
          <p:cNvPr id="4" name="Picture 3" descr="qqplot_residuals_norm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90079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Предсказание vs реальность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</a:t>
            </a:r>
            <a:r>
              <a:rPr lang="ru-RU" dirty="0" sz="2000" b="1">
                <a:solidFill>
                  <a:srgbClr val="000000"/>
                </a:solidFill>
              </a:rPr>
              <a:t>визуально</a:t>
            </a:r>
            <a:r>
              <a:rPr lang="ru-RU" dirty="0" sz="2000">
                <a:solidFill>
                  <a:srgbClr val="000000"/>
                </a:solidFill>
              </a:rPr>
              <a:t xml:space="preserve"> оценить качество регрессии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sns.scatterplot(x=y_true, y=y_pred)</a:t>
            </a:r>
            <a:r>
              <a:rPr lang="ru-RU" dirty="0" sz="2000">
                <a:solidFill>
                  <a:srgbClr val="000000"/>
                </a:solidFill>
              </a:rPr>
              <a:t xml:space="preserve"> + диагональная линия </a:t>
            </a:r>
            <ns0:m xmlns:ns0="http://schemas.microsoft.com/office/drawing/2010/main">
              <m:oMath xmlns:m="http://schemas.openxmlformats.org/officeDocument/2006/math">
                <m:r>
                  <m:t>y=x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Хорошая модель: точки </a:t>
            </a:r>
            <a:r>
              <a:rPr lang="ru-RU" dirty="0" sz="2000" b="1">
                <a:solidFill>
                  <a:srgbClr val="000000"/>
                </a:solidFill>
              </a:rPr>
              <a:t>плотно вокруг диагонали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Метрики в заголовке: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ax.set_title(f'R2={r2:.2f}, RMSE={rmse:.2f}')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Plotly: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px.scatter(x=y_true, y=y_pred, trendline='ols')</a:t>
            </a:r>
            <a:r>
              <a:rPr lang="ru-RU" dirty="0" sz="2000">
                <a:solidFill>
                  <a:srgbClr val="000000"/>
                </a:solidFill>
              </a:rPr>
              <a:t xml:space="preserve"> + диагональ</a:t>
            </a:r>
          </a:p>
        </p:txBody>
      </p:sp>
      <p:pic>
        <p:nvPicPr>
          <p:cNvPr id="4" name="Picture 3" descr="predicted_vs_actual_diag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51518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 классификации: Confusion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понять, </a:t>
            </a:r>
            <a:r>
              <a:rPr lang="ru-RU" dirty="0" sz="2000" b="1">
                <a:solidFill>
                  <a:srgbClr val="000000"/>
                </a:solidFill>
              </a:rPr>
              <a:t>какие классы</a:t>
            </a:r>
            <a:r>
              <a:rPr lang="ru-RU" dirty="0" sz="2000">
                <a:solidFill>
                  <a:srgbClr val="000000"/>
                </a:solidFill>
              </a:rPr>
              <a:t xml:space="preserve"> модель путает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ConfusionMatrixDisplay.from_estimator(model, X, y)</a:t>
            </a:r>
            <a:r>
              <a:rPr lang="ru-RU" dirty="0" sz="2000">
                <a:solidFill>
                  <a:srgbClr val="000000"/>
                </a:solidFill>
              </a:rPr>
              <a:t xml:space="preserve"> — тепловая карта ошибок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Ищем: большие </a:t>
            </a:r>
            <a:r>
              <a:rPr lang="ru-RU" dirty="0" sz="2000" b="1">
                <a:solidFill>
                  <a:srgbClr val="000000"/>
                </a:solidFill>
              </a:rPr>
              <a:t>off-diagonal</a:t>
            </a:r>
            <a:r>
              <a:rPr lang="ru-RU" dirty="0" sz="2000">
                <a:solidFill>
                  <a:srgbClr val="000000"/>
                </a:solidFill>
              </a:rPr>
              <a:t xml:space="preserve"> элементы, дисбаланс FN vs FP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Кастомизация: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cmap='Blues'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annot=True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fmt='.0f'</a:t>
            </a:r>
          </a:p>
        </p:txBody>
      </p:sp>
      <p:pic>
        <p:nvPicPr>
          <p:cNvPr id="4" name="Picture 3" descr="confusion_matrix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900799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Качество при разных порогах: ROC и PR кривые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выбрать </a:t>
            </a:r>
            <a:r>
              <a:rPr lang="ru-RU" dirty="0" sz="2000" b="1">
                <a:solidFill>
                  <a:srgbClr val="000000"/>
                </a:solidFill>
              </a:rPr>
              <a:t>оптимальный порог</a:t>
            </a:r>
            <a:r>
              <a:rPr lang="ru-RU" dirty="0" sz="2000">
                <a:solidFill>
                  <a:srgbClr val="000000"/>
                </a:solidFill>
              </a:rPr>
              <a:t>, сравнить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RocCurveDisplay</a:t>
            </a:r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PrecisionRecallDisplay</a:t>
            </a:r>
            <a:r>
              <a:rPr lang="ru-RU" dirty="0" sz="2000">
                <a:solidFill>
                  <a:srgbClr val="000000"/>
                </a:solidFill>
              </a:rPr>
              <a:t xml:space="preserve"> из sklearn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PR-кривая</a:t>
            </a:r>
            <a:r>
              <a:rPr lang="ru-RU" dirty="0" sz="2000">
                <a:solidFill>
                  <a:srgbClr val="000000"/>
                </a:solidFill>
              </a:rPr>
              <a:t xml:space="preserve"> важнее при сильном дисбалансе классов</a:t>
            </a:r>
          </a:p>
        </p:txBody>
      </p:sp>
      <p:pic>
        <p:nvPicPr>
          <p:cNvPr id="4" name="Picture 3" descr="roc_pr_curves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vs недообучение: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понять, нужно ли </a:t>
            </a:r>
            <a:r>
              <a:rPr lang="ru-RU" dirty="0" sz="2000" b="1">
                <a:solidFill>
                  <a:srgbClr val="000000"/>
                </a:solidFill>
              </a:rPr>
              <a:t>больше данных</a:t>
            </a:r>
            <a:r>
              <a:rPr lang="ru-RU" dirty="0" sz="2000">
                <a:solidFill>
                  <a:srgbClr val="000000"/>
                </a:solidFill>
              </a:rPr>
              <a:t xml:space="preserve"> или </a:t>
            </a:r>
            <a:r>
              <a:rPr lang="ru-RU" dirty="0" sz="2000" b="1">
                <a:solidFill>
                  <a:srgbClr val="000000"/>
                </a:solidFill>
              </a:rPr>
              <a:t>более сложная модель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LearningCurveDisplay.from_estimator(model, X, y)</a:t>
            </a:r>
            <a:r>
              <a:rPr lang="ru-RU" dirty="0" sz="2000">
                <a:solidFill>
                  <a:srgbClr val="000000"/>
                </a:solidFill>
              </a:rPr>
              <a:t xml:space="preserve"> — кривые train/validation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Train высоко, Val низко — </a:t>
            </a:r>
            <a:r>
              <a:rPr lang="ru-RU" dirty="0" sz="2000" b="1">
                <a:solidFill>
                  <a:srgbClr val="000000"/>
                </a:solidFill>
              </a:rPr>
              <a:t>переобучение</a:t>
            </a:r>
            <a:r>
              <a:rPr lang="ru-RU" dirty="0" sz="2000">
                <a:solidFill>
                  <a:srgbClr val="000000"/>
                </a:solidFill>
              </a:rPr>
              <a:t xml:space="preserve">; обе низкие — </a:t>
            </a:r>
            <a:r>
              <a:rPr lang="ru-RU" dirty="0" sz="2000" b="1">
                <a:solidFill>
                  <a:srgbClr val="000000"/>
                </a:solidFill>
              </a:rPr>
              <a:t>недообучение</a:t>
            </a:r>
            <a:r>
              <a:rPr lang="ru-RU" dirty="0" sz="2000">
                <a:solidFill>
                  <a:srgbClr val="000000"/>
                </a:solidFill>
              </a:rPr>
              <a:t>; обе высокие — оптимум</a:t>
            </a:r>
          </a:p>
        </p:txBody>
      </p:sp>
      <p:pic>
        <p:nvPicPr>
          <p:cNvPr id="4" name="Picture 3" descr="learning_curve_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50300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Кросс-валидация: стабильность модели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оценить </a:t>
            </a:r>
            <a:r>
              <a:rPr lang="ru-RU" dirty="0" sz="2000" b="1">
                <a:solidFill>
                  <a:srgbClr val="000000"/>
                </a:solidFill>
              </a:rPr>
              <a:t>variance</a:t>
            </a:r>
            <a:r>
              <a:rPr lang="ru-RU" dirty="0" sz="2000">
                <a:solidFill>
                  <a:srgbClr val="000000"/>
                </a:solidFill>
              </a:rPr>
              <a:t xml:space="preserve"> модели, а не только среднее качество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Box plot метрик по фолдам: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sns.boxplot(data=cv_scores)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Line plot: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plt.plot(cv_scores, marker='o')</a:t>
            </a:r>
            <a:r>
              <a:rPr lang="ru-RU" dirty="0" sz="2000">
                <a:solidFill>
                  <a:srgbClr val="000000"/>
                </a:solidFill>
              </a:rPr>
              <a:t xml:space="preserve"> — видны </a:t>
            </a:r>
            <a:r>
              <a:rPr lang="ru-RU" dirty="0" sz="2000" b="1">
                <a:solidFill>
                  <a:srgbClr val="000000"/>
                </a:solidFill>
              </a:rPr>
              <a:t>аномальные фолды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Большой разброс означает </a:t>
            </a:r>
            <a:r>
              <a:rPr lang="ru-RU" dirty="0" sz="2000" b="1">
                <a:solidFill>
                  <a:srgbClr val="000000"/>
                </a:solidFill>
              </a:rPr>
              <a:t>нестабильность</a:t>
            </a:r>
            <a:r>
              <a:rPr lang="ru-RU" dirty="0" sz="2000">
                <a:solidFill>
                  <a:srgbClr val="000000"/>
                </a:solidFill>
              </a:rPr>
              <a:t xml:space="preserve">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Сравнение моделей: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sns.boxplot</a:t>
            </a:r>
            <a:r>
              <a:rPr lang="ru-RU" dirty="0" sz="2000">
                <a:solidFill>
                  <a:srgbClr val="000000"/>
                </a:solidFill>
              </a:rPr>
              <a:t xml:space="preserve"> для нескольких наборов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cv_scores</a:t>
            </a:r>
          </a:p>
        </p:txBody>
      </p:sp>
      <p:pic>
        <p:nvPicPr>
          <p:cNvPr id="4" name="Picture 3" descr="cv_scores_stability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908918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Подбор гиперпараметров: Grid Search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выбрать </a:t>
            </a:r>
            <a:r>
              <a:rPr lang="ru-RU" dirty="0" sz="2000" b="1">
                <a:solidFill>
                  <a:srgbClr val="000000"/>
                </a:solidFill>
              </a:rPr>
              <a:t>лучшие гиперпараметры</a:t>
            </a:r>
            <a:r>
              <a:rPr lang="ru-RU" dirty="0" sz="2000">
                <a:solidFill>
                  <a:srgbClr val="000000"/>
                </a:solidFill>
              </a:rPr>
              <a:t>, увидеть взаимодействия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Heatmap: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sns.heatmap(grid_results)</a:t>
            </a:r>
            <a:r>
              <a:rPr lang="ru-RU" dirty="0" sz="2000">
                <a:solidFill>
                  <a:srgbClr val="000000"/>
                </a:solidFill>
              </a:rPr>
              <a:t xml:space="preserve"> для 2D grid search (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max_depth</a:t>
            </a:r>
            <a:r>
              <a:rPr lang="ru-RU" dirty="0" sz="2000">
                <a:solidFill>
                  <a:srgbClr val="000000"/>
                </a:solidFill>
              </a:rPr>
              <a:t xml:space="preserve"> vs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min_samples_leaf</a:t>
            </a:r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Line plot: зависимость метрики от одного параметра с </a:t>
            </a:r>
            <a:r>
              <a:rPr lang="ru-RU" dirty="0" sz="2000" b="1">
                <a:solidFill>
                  <a:srgbClr val="000000"/>
                </a:solidFill>
              </a:rPr>
              <a:t>доверительными интервалами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Часто есть </a:t>
            </a:r>
            <a:r>
              <a:rPr lang="ru-RU" dirty="0" sz="2000" b="1">
                <a:solidFill>
                  <a:srgbClr val="000000"/>
                </a:solidFill>
              </a:rPr>
              <a:t>«плато»</a:t>
            </a:r>
            <a:r>
              <a:rPr lang="ru-RU" dirty="0" sz="2000">
                <a:solidFill>
                  <a:srgbClr val="000000"/>
                </a:solidFill>
              </a:rPr>
              <a:t xml:space="preserve"> — широкий диапазон параметров даёт схожее качество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Plotly: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px.imshow</a:t>
            </a:r>
            <a:r>
              <a:rPr lang="ru-RU" dirty="0" sz="2000">
                <a:solidFill>
                  <a:srgbClr val="000000"/>
                </a:solidFill>
              </a:rPr>
              <a:t xml:space="preserve"> для интерактивного heatmap с hover</a:t>
            </a:r>
          </a:p>
        </p:txBody>
      </p:sp>
      <p:pic>
        <p:nvPicPr>
          <p:cNvPr id="4" name="Picture 3" descr="grid_search_heatmap_platea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900799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Важность признаков: Permutation Importance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понять, </a:t>
            </a:r>
            <a:r>
              <a:rPr lang="ru-RU" dirty="0" sz="2000" b="1">
                <a:solidFill>
                  <a:srgbClr val="000000"/>
                </a:solidFill>
              </a:rPr>
              <a:t>какие признаки</a:t>
            </a:r>
            <a:r>
              <a:rPr lang="ru-RU" dirty="0" sz="2000">
                <a:solidFill>
                  <a:srgbClr val="000000"/>
                </a:solidFill>
              </a:rPr>
              <a:t xml:space="preserve"> влияют на предсказания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деревьев: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model.feature_importances_</a:t>
            </a:r>
            <a:r>
              <a:rPr lang="ru-RU" dirty="0" sz="2000">
                <a:solidFill>
                  <a:srgbClr val="000000"/>
                </a:solidFill>
              </a:rPr>
              <a:t xml:space="preserve"> — </a:t>
            </a:r>
            <a:r>
              <a:rPr lang="ru-RU" dirty="0" sz="2000" b="1">
                <a:solidFill>
                  <a:srgbClr val="000000"/>
                </a:solidFill>
              </a:rPr>
              <a:t>смещено</a:t>
            </a:r>
            <a:r>
              <a:rPr lang="ru-RU" dirty="0" sz="2000">
                <a:solidFill>
                  <a:srgbClr val="000000"/>
                </a:solidFill>
              </a:rPr>
              <a:t xml:space="preserve"> к high-cardinality признакам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Permutation Importance</a:t>
            </a:r>
            <a:r>
              <a:rPr lang="ru-RU" dirty="0" sz="2000">
                <a:solidFill>
                  <a:srgbClr val="000000"/>
                </a:solidFill>
              </a:rPr>
              <a:t xml:space="preserve"> (честнее): перемешиваем признак, смотрим </a:t>
            </a:r>
            <a:r>
              <a:rPr lang="ru-RU" dirty="0" sz="2000" b="1">
                <a:solidFill>
                  <a:srgbClr val="000000"/>
                </a:solidFill>
              </a:rPr>
              <a:t>падение метрики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sns.barplot(x=result.importances_mean, y=feature_names)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Error bars: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plt.barh(y, x, xerr=std)</a:t>
            </a:r>
            <a:r>
              <a:rPr lang="ru-RU" dirty="0" sz="2000">
                <a:solidFill>
                  <a:srgbClr val="000000"/>
                </a:solidFill>
              </a:rPr>
              <a:t xml:space="preserve"> — показать </a:t>
            </a:r>
            <a:r>
              <a:rPr lang="ru-RU" dirty="0" sz="2000" b="1">
                <a:solidFill>
                  <a:srgbClr val="000000"/>
                </a:solidFill>
              </a:rPr>
              <a:t>variance</a:t>
            </a:r>
            <a:r>
              <a:rPr lang="ru-RU" dirty="0" sz="2000">
                <a:solidFill>
                  <a:srgbClr val="000000"/>
                </a:solidFill>
              </a:rPr>
              <a:t xml:space="preserve"> важности</a:t>
            </a:r>
          </a:p>
        </p:txBody>
      </p:sp>
      <p:pic>
        <p:nvPicPr>
          <p:cNvPr id="4" name="Picture 3" descr="permutation_importance_bar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900799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Стили и темы: единый дизайн для проекта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</a:t>
            </a:r>
            <a:r>
              <a:rPr lang="ru-RU" dirty="0" sz="2000" b="1">
                <a:solidFill>
                  <a:srgbClr val="000000"/>
                </a:solidFill>
              </a:rPr>
              <a:t>консистентный</a:t>
            </a:r>
            <a:r>
              <a:rPr lang="ru-RU" dirty="0" sz="2000">
                <a:solidFill>
                  <a:srgbClr val="000000"/>
                </a:solidFill>
              </a:rPr>
              <a:t xml:space="preserve"> визуальный стиль для всех графиков проекта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plt.style.use('seaborn-v0_8-whitegrid')</a:t>
            </a:r>
            <a:r>
              <a:rPr lang="ru-RU" dirty="0" sz="2000">
                <a:solidFill>
                  <a:srgbClr val="000000"/>
                </a:solidFill>
              </a:rPr>
              <a:t xml:space="preserve"> — готовые стили matplotlib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sns.set_theme(style='whitegrid', palette='husl')</a:t>
            </a:r>
            <a:r>
              <a:rPr lang="ru-RU" dirty="0" sz="2000">
                <a:solidFill>
                  <a:srgbClr val="000000"/>
                </a:solidFill>
              </a:rPr>
              <a:t xml:space="preserve"> — тема seaborn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Кастомная палитра: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sns.set_palette(['#FF6B6B', '#4ECDC4', '#45B7D1'])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rcParams</a:t>
            </a:r>
            <a:r>
              <a:rPr lang="ru-RU" dirty="0" sz="2000">
                <a:solidFill>
                  <a:srgbClr val="000000"/>
                </a:solidFill>
              </a:rPr>
              <a:t xml:space="preserve">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plt.rcParams['figure.figsize'] = (12, 8)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plt.rcParams['font.size'] = 12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презентаций: </a:t>
            </a:r>
            <a:r>
              <a:rPr lang="ru-RU" dirty="0" sz="2000" b="1">
                <a:solidFill>
                  <a:srgbClr val="000000"/>
                </a:solidFill>
              </a:rPr>
              <a:t>увеличенный шрифт</a:t>
            </a:r>
            <a:r>
              <a:rPr lang="ru-RU" dirty="0" sz="2000">
                <a:solidFill>
                  <a:srgbClr val="000000"/>
                </a:solidFill>
              </a:rPr>
              <a:t>, минималистичный стиль, контрастные цвета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Общие техники: overlay и комбинирование графиков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показать </a:t>
            </a:r>
            <a:r>
              <a:rPr lang="ru-RU" dirty="0" sz="2000" b="1">
                <a:solidFill>
                  <a:srgbClr val="000000"/>
                </a:solidFill>
              </a:rPr>
              <a:t>несколько распределений/моделей</a:t>
            </a:r>
            <a:r>
              <a:rPr lang="ru-RU" dirty="0" sz="2000">
                <a:solidFill>
                  <a:srgbClr val="000000"/>
                </a:solidFill>
              </a:rPr>
              <a:t xml:space="preserve"> на одном графике для сравнения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Overlay гистограмм: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plt.hist(train, alpha=0.5, label='train'); plt.hist(test, alpha=0.5, label='test')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Overlay линий: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plt.plot(train_scores); plt.plot(val_scores)</a:t>
            </a:r>
          </a:p>
        </p:txBody>
      </p:sp>
      <p:pic>
        <p:nvPicPr>
          <p:cNvPr id="4" name="Picture 3" descr="overlay_hist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3397" y="1371600"/>
            <a:ext cx="2637180" cy="2025396"/>
          </a:xfrm>
          <a:prstGeom prst="rect">
            <a:avLst/>
          </a:prstGeom>
        </p:spPr>
      </p:pic>
      <p:pic>
        <p:nvPicPr>
          <p:cNvPr id="5" name="Picture 4" descr="overlay_lines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7089" y="3707891"/>
            <a:ext cx="2269795" cy="2025396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Размер и DPI: подготовка для разных целей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ML-задача: оптимизировать </a:t>
            </a:r>
            <a:r>
              <a:rPr lang="ru-RU" dirty="0" sz="2000" b="1">
                <a:solidFill>
                  <a:srgbClr val="000000"/>
                </a:solidFill>
              </a:rPr>
              <a:t>размер и качество</a:t>
            </a:r>
            <a:r>
              <a:rPr lang="ru-RU" dirty="0" sz="2000">
                <a:solidFill>
                  <a:srgbClr val="000000"/>
                </a:solidFill>
              </a:rPr>
              <a:t xml:space="preserve"> графика для статьи, презентации, дашборда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figsize=(width, height)</a:t>
            </a:r>
            <a:r>
              <a:rPr lang="ru-RU" dirty="0" sz="2000">
                <a:solidFill>
                  <a:srgbClr val="000000"/>
                </a:solidFill>
              </a:rPr>
              <a:t xml:space="preserve"> в дюймах: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10</m:t>
                    </m:r>
                  </m:e>
                  <m:e>
                    <m:r>
                      <m:t>6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для статьи, </a:t>
            </a:r>
            <ns0:m xmlns:ns0="http://schemas.microsoft.com/office/drawing/2010/main">
              <m:oMath xmlns:m="http://schemas.openxmlformats.org/officeDocument/2006/math">
                <m:d>
                  <m:dPr>
                    <m:sepChr m:val=","/>
                  </m:dPr>
                  <m:e>
                    <m:r>
                      <m:t>16</m:t>
                    </m:r>
                  </m:e>
                  <m:e>
                    <m:r>
                      <m:t>9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для презентации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plt.savefig('plot.png', dpi=300, bbox_inches='tight', facecolor='white')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Антипаттерны и best practices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611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Антипаттерны</a:t>
            </a:r>
            <a:r>
              <a:rPr lang="ru-RU" dirty="0" sz="2000">
                <a:solidFill>
                  <a:srgbClr val="000000"/>
                </a:solidFill>
              </a:rPr>
              <a:t>: pie charts (замените на bar), 3D графики (искажают), rainbow colormaps (не colorblind-friendly), отсутствие labels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Best practices</a:t>
            </a:r>
            <a:r>
              <a:rPr lang="ru-RU" dirty="0" sz="2000">
                <a:solidFill>
                  <a:srgbClr val="000000"/>
                </a:solidFill>
              </a:rPr>
              <a:t xml:space="preserve">: один график = один инсайт; всегда </a:t>
            </a:r>
            <a:r>
              <a:rPr lang="ru-RU" dirty="0" sz="2000" b="1">
                <a:solidFill>
                  <a:srgbClr val="000000"/>
                </a:solidFill>
              </a:rPr>
              <a:t>title/labels/units</a:t>
            </a:r>
            <a:r>
              <a:rPr lang="ru-RU" dirty="0" sz="2000">
                <a:solidFill>
                  <a:srgbClr val="000000"/>
                </a:solidFill>
              </a:rPr>
              <a:t>; тест на коллегах (</a:t>
            </a:r>
            <a:r>
              <a:rPr lang="ru-RU" dirty="0" sz="2000" b="1">
                <a:solidFill>
                  <a:srgbClr val="000000"/>
                </a:solidFill>
              </a:rPr>
              <a:t>5 секунд</a:t>
            </a:r>
            <a:r>
              <a:rPr lang="ru-RU" dirty="0" sz="2000">
                <a:solidFill>
                  <a:srgbClr val="000000"/>
                </a:solidFill>
              </a:rPr>
              <a:t xml:space="preserve"> на понимание)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Colorblind-friendly: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viridis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plasma</a:t>
            </a:r>
            <a:r>
              <a:rPr lang="ru-RU" dirty="0" sz="2000">
                <a:solidFill>
                  <a:srgbClr val="000000"/>
                </a:solidFill>
              </a:rPr>
              <a:t xml:space="preserve"> — избегайте </a:t>
            </a:r>
            <a:r>
              <a:rPr lang="ru-RU" dirty="0" sz="2000" b="1">
                <a:solidFill>
                  <a:srgbClr val="000000"/>
                </a:solidFill>
              </a:rPr>
              <a:t>красно-зелёных</a:t>
            </a:r>
            <a:r>
              <a:rPr lang="ru-RU" dirty="0" sz="2000">
                <a:solidFill>
                  <a:srgbClr val="000000"/>
                </a:solidFill>
              </a:rPr>
              <a:t xml:space="preserve"> сочетаний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Для презентаций: минимум текста, крупные шрифты, контрастные цвета, белый фон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статей: векторные форматы (SVG/PDF), </a:t>
            </a:r>
            <a:r>
              <a:rPr lang="ru-RU" dirty="0" sz="2000" b="1">
                <a:solidFill>
                  <a:srgbClr val="000000"/>
                </a:solidFill>
              </a:rPr>
              <a:t>grayscale-friendly</a:t>
            </a:r>
            <a:r>
              <a:rPr lang="ru-RU" dirty="0" sz="2000">
                <a:solidFill>
                  <a:srgbClr val="000000"/>
                </a:solidFill>
              </a:rPr>
              <a:t xml:space="preserve"> палитры</a:t>
            </a:r>
          </a:p>
        </p:txBody>
      </p:sp>
      <p:pic>
        <p:nvPicPr>
          <p:cNvPr id="4" name="Picture 3" descr="viz_antipatterns_best_pract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Итоговый чек-лист: какой график для какой задачи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Распределение</a:t>
            </a:r>
            <a:r>
              <a:rPr lang="ru-RU" dirty="0" sz="2000">
                <a:solidFill>
                  <a:srgbClr val="000000"/>
                </a:solidFill>
              </a:rPr>
              <a:t xml:space="preserve"> → hist + KDE | </a:t>
            </a:r>
            <a:r>
              <a:rPr lang="ru-RU" dirty="0" sz="2000" b="1">
                <a:solidFill>
                  <a:srgbClr val="000000"/>
                </a:solidFill>
              </a:rPr>
              <a:t>Выбросы</a:t>
            </a:r>
            <a:r>
              <a:rPr lang="ru-RU" dirty="0" sz="2000">
                <a:solidFill>
                  <a:srgbClr val="000000"/>
                </a:solidFill>
              </a:rPr>
              <a:t xml:space="preserve"> → box plot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Сравнение групп</a:t>
            </a:r>
            <a:r>
              <a:rPr lang="ru-RU" dirty="0" sz="2000">
                <a:solidFill>
                  <a:srgbClr val="000000"/>
                </a:solidFill>
              </a:rPr>
              <a:t xml:space="preserve"> → violin plot | </a:t>
            </a:r>
            <a:r>
              <a:rPr lang="ru-RU" dirty="0" sz="2000" b="1">
                <a:solidFill>
                  <a:srgbClr val="000000"/>
                </a:solidFill>
              </a:rPr>
              <a:t>Связь признаков</a:t>
            </a:r>
            <a:r>
              <a:rPr lang="ru-RU" dirty="0" sz="2000">
                <a:solidFill>
                  <a:srgbClr val="000000"/>
                </a:solidFill>
              </a:rPr>
              <a:t xml:space="preserve"> → scatter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Пропуски</a:t>
            </a:r>
            <a:r>
              <a:rPr lang="ru-RU" dirty="0" sz="2000">
                <a:solidFill>
                  <a:srgbClr val="000000"/>
                </a:solidFill>
              </a:rPr>
              <a:t xml:space="preserve"> → матрица пропусков | </a:t>
            </a:r>
            <a:r>
              <a:rPr lang="ru-RU" dirty="0" sz="2000" b="1">
                <a:solidFill>
                  <a:srgbClr val="000000"/>
                </a:solidFill>
              </a:rPr>
              <a:t>Корреляции</a:t>
            </a:r>
            <a:r>
              <a:rPr lang="ru-RU" dirty="0" sz="2000">
                <a:solidFill>
                  <a:srgbClr val="000000"/>
                </a:solidFill>
              </a:rPr>
              <a:t xml:space="preserve"> → heatmap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Дрейф train/test</a:t>
            </a:r>
            <a:r>
              <a:rPr lang="ru-RU" dirty="0" sz="2000">
                <a:solidFill>
                  <a:srgbClr val="000000"/>
                </a:solidFill>
              </a:rPr>
              <a:t xml:space="preserve"> → overlay гистограмм | </a:t>
            </a:r>
            <a:r>
              <a:rPr lang="ru-RU" dirty="0" sz="2000" b="1">
                <a:solidFill>
                  <a:srgbClr val="000000"/>
                </a:solidFill>
              </a:rPr>
              <a:t>Дисбаланс</a:t>
            </a:r>
            <a:r>
              <a:rPr lang="ru-RU" dirty="0" sz="2000">
                <a:solidFill>
                  <a:srgbClr val="000000"/>
                </a:solidFill>
              </a:rPr>
              <a:t xml:space="preserve"> → count 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Регрессия</a:t>
            </a:r>
            <a:r>
              <a:rPr lang="ru-RU" dirty="0" sz="2000">
                <a:solidFill>
                  <a:srgbClr val="000000"/>
                </a:solidFill>
              </a:rPr>
              <a:t xml:space="preserve"> → predicted vs actual, residuals, Q-Q | </a:t>
            </a:r>
            <a:r>
              <a:rPr lang="ru-RU" dirty="0" sz="2000" b="1">
                <a:solidFill>
                  <a:srgbClr val="000000"/>
                </a:solidFill>
              </a:rPr>
              <a:t>Классификация</a:t>
            </a:r>
            <a:r>
              <a:rPr lang="ru-RU" dirty="0" sz="2000">
                <a:solidFill>
                  <a:srgbClr val="000000"/>
                </a:solidFill>
              </a:rPr>
              <a:t xml:space="preserve"> → confusion matrix, ROC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Grid search</a:t>
            </a:r>
            <a:r>
              <a:rPr lang="ru-RU" dirty="0" sz="2000">
                <a:solidFill>
                  <a:srgbClr val="000000"/>
                </a:solidFill>
              </a:rPr>
              <a:t xml:space="preserve"> → heatmap | </a:t>
            </a:r>
            <a:r>
              <a:rPr lang="ru-RU" dirty="0" sz="2000" b="1">
                <a:solidFill>
                  <a:srgbClr val="000000"/>
                </a:solidFill>
              </a:rPr>
              <a:t>Переобучение</a:t>
            </a:r>
            <a:r>
              <a:rPr lang="ru-RU" dirty="0" sz="2000">
                <a:solidFill>
                  <a:srgbClr val="000000"/>
                </a:solidFill>
              </a:rPr>
              <a:t xml:space="preserve"> → learning curve | </a:t>
            </a:r>
            <a:r>
              <a:rPr lang="ru-RU" dirty="0" sz="2000" b="1">
                <a:solidFill>
                  <a:srgbClr val="000000"/>
                </a:solidFill>
              </a:rPr>
              <a:t>Важность</a:t>
            </a:r>
            <a:r>
              <a:rPr lang="ru-RU" dirty="0" sz="2000">
                <a:solidFill>
                  <a:srgbClr val="000000"/>
                </a:solidFill>
              </a:rPr>
              <a:t xml:space="preserve"> → permutation importance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Библиотеки: </a:t>
            </a:r>
            <a:r>
              <a:rPr lang="ru-RU" dirty="0" sz="2000" b="1">
                <a:solidFill>
                  <a:srgbClr val="000000"/>
                </a:solidFill>
              </a:rPr>
              <a:t>seaborn</a:t>
            </a:r>
            <a:r>
              <a:rPr lang="ru-RU" dirty="0" sz="2000">
                <a:solidFill>
                  <a:srgbClr val="000000"/>
                </a:solidFill>
              </a:rPr>
              <a:t xml:space="preserve"> для EDA, </a:t>
            </a:r>
            <a:r>
              <a:rPr lang="ru-RU" dirty="0" sz="2000" b="1">
                <a:solidFill>
                  <a:srgbClr val="000000"/>
                </a:solidFill>
              </a:rPr>
              <a:t>plotly</a:t>
            </a:r>
            <a:r>
              <a:rPr lang="ru-RU" dirty="0" sz="2000">
                <a:solidFill>
                  <a:srgbClr val="000000"/>
                </a:solidFill>
              </a:rPr>
              <a:t xml:space="preserve"> для интерактива, </a:t>
            </a:r>
            <a:r>
              <a:rPr lang="ru-RU" dirty="0" sz="2000" b="1">
                <a:solidFill>
                  <a:srgbClr val="000000"/>
                </a:solidFill>
              </a:rPr>
              <a:t>matplotlib</a:t>
            </a:r>
            <a:r>
              <a:rPr lang="ru-RU" dirty="0" sz="2000">
                <a:solidFill>
                  <a:srgbClr val="000000"/>
                </a:solidFill>
              </a:rPr>
              <a:t xml:space="preserve"> для кастомизации, </a:t>
            </a:r>
            <a:r>
              <a:rPr lang="ru-RU" dirty="0" sz="2000" b="1">
                <a:solidFill>
                  <a:srgbClr val="000000"/>
                </a:solidFill>
              </a:rPr>
              <a:t>pandas</a:t>
            </a:r>
            <a:r>
              <a:rPr lang="ru-RU" dirty="0" sz="2000">
                <a:solidFill>
                  <a:srgbClr val="000000"/>
                </a:solidFill>
              </a:rPr>
              <a:t xml:space="preserve"> для быстрых графиков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Anscombe F.J. (1973). Anscombe's Quartet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Cleveland W.S., McGill R. (1984). Graphical Perception: Theory, Experimentation, and Application to the Development of Graphical Methods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Hunter J.D. (2007). matplotlib: A 2D Graphics Environment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5"/>
              </a:rPr>
              <a:t>Waskom M.L. (2021). seaborn: statistical data visualization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41064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88536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https://colab.research.google.com/github/gurovic/ml-lessons/blob/main/lessons/vizualizatsiya/code.ipynb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45736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7"/>
              </a:rPr>
              <a:t>https://colab.research.google.com/github/gurovic/ml-lessons/blob/main/lessons/vizualizatsiya/project.ipynb</a:t>
            </a:r>
          </a:p>
        </p:txBody>
      </p:sp>
      <p:pic>
        <p:nvPicPr>
          <p:cNvPr id="11" name="Picture 10" descr="_qr_ref_35_0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3" name="Picture 12" descr="_qr_ref_35_1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