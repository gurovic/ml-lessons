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Anscombe quartet — одни stats, разные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OO-стиль предпочтительнее plt.plot напрямую.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curve как ML-пример.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income vs price из California.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метрик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модели — hist; Fare Titanic — box по Pclass.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pairplot только на 4–5 признаках — иначе медленно.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Доступность: color +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2×2 EDA на одном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Ссылка на урок линейной регрессии — multicollinearity.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Survived по Sex — countplot.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pie vs bar одних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Согласованность с viz_style.py для PNG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Синтетика с heteroscedastic funnel vs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Связь с уроком логистической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bar с ylim(0.9, 1.0) vs (0,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Завершение перед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culty.washington.edu/aragon/classes/hcde511/s12/readings/cleveland84.pdf" TargetMode="External"/><Relationship Id="rId3" Type="http://schemas.openxmlformats.org/officeDocument/2006/relationships/hyperlink" Target="http://vita.had.co.nz/papers/layered-grammar.pdf" TargetMode="External"/><Relationship Id="rId4" Type="http://schemas.openxmlformats.org/officeDocument/2006/relationships/hyperlink" Target="https://colab.research.google.com/github/gurovic/ml-lessons/blob/main/lessons/vizualizatsiya/code.ipynb" TargetMode="External"/><Relationship Id="rId5" Type="http://schemas.openxmlformats.org/officeDocument/2006/relationships/hyperlink" Target="https://colab.research.google.com/github/gurovic/ml-lessons/blob/main/lessons/vizualizatsiya/project.ipynb" TargetMode="External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визуализировать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График показывает </a:t>
            </a:r>
            <a:r>
              <a:rPr lang="ru-RU" dirty="0" sz="2000" b="1">
                <a:solidFill>
                  <a:srgbClr val="000000"/>
                </a:solidFill>
              </a:rPr>
              <a:t>форму</a:t>
            </a:r>
            <a:r>
              <a:rPr lang="ru-RU" dirty="0" sz="2000">
                <a:solidFill>
                  <a:srgbClr val="000000"/>
                </a:solidFill>
              </a:rPr>
              <a:t xml:space="preserve"> распределения, выбросы и связи быстрее таблицы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EDA до модели: «что вообще в данных?» — scatter, hist, box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Диагностика модели: остатки, ROC, calibration — график ловит ошибки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Хорошая визуализация — аргумент для коллег и проверка собственных гипотез</a:t>
            </a:r>
          </a:p>
        </p:txBody>
      </p:sp>
      <p:pic>
        <p:nvPicPr>
          <p:cNvPr id="4" name="Picture 3" descr="anscombe_quar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724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Matplotlib: figure и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fig, ax = plt.subplots()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figure</a:t>
            </a:r>
            <a:r>
              <a:rPr lang="ru-RU" dirty="0" sz="2000">
                <a:solidFill>
                  <a:srgbClr val="000000"/>
                </a:solidFill>
              </a:rPr>
              <a:t xml:space="preserve"> (холст) и </a:t>
            </a:r>
            <a:r>
              <a:rPr lang="ru-RU" dirty="0" sz="2000" b="1">
                <a:solidFill>
                  <a:srgbClr val="000000"/>
                </a:solidFill>
              </a:rPr>
              <a:t>axes</a:t>
            </a:r>
            <a:r>
              <a:rPr lang="ru-RU" dirty="0" sz="2000">
                <a:solidFill>
                  <a:srgbClr val="000000"/>
                </a:solidFill>
              </a:rPr>
              <a:t xml:space="preserve"> (область графика)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Рисуем на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</a:t>
            </a:r>
            <a:r>
              <a:rPr lang="ru-RU" dirty="0" sz="2000">
                <a:solidFill>
                  <a:srgbClr val="000000"/>
                </a:solidFill>
              </a:rPr>
              <a:t xml:space="preserve">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ax.plot(...)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ax.set_xlabel(...)</a:t>
            </a:r>
            <a:r>
              <a:rPr lang="ru-RU" dirty="0" sz="2000">
                <a:solidFill>
                  <a:srgbClr val="000000"/>
                </a:solidFill>
              </a:rPr>
              <a:t xml:space="preserve"> — не смешивать pyplot без нужды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plt.tight_layout()</a:t>
            </a:r>
            <a:r>
              <a:rPr lang="ru-RU" dirty="0" sz="2000">
                <a:solidFill>
                  <a:srgbClr val="000000"/>
                </a:solidFill>
              </a:rPr>
              <a:t xml:space="preserve"> — подгонка отступов перед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plt.show()</a:t>
            </a:r>
            <a:r>
              <a:rPr lang="ru-RU" dirty="0" sz="2000">
                <a:solidFill>
                  <a:srgbClr val="000000"/>
                </a:solidFill>
              </a:rPr>
              <a:t xml:space="preserve"> или savefig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%matplotlib inline</a:t>
            </a:r>
            <a:r>
              <a:rPr lang="ru-RU" dirty="0" sz="2000">
                <a:solidFill>
                  <a:srgbClr val="000000"/>
                </a:solidFill>
              </a:rPr>
              <a:t xml:space="preserve"> в Jupyter — график под ячейкой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693156"/>
            <a:ext cx="6172200" cy="7442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matplotlib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pyplot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as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plt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plt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subplots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figsize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A070"/>
                </a:solidFill>
                <a:latin typeface="Consolas"/>
              </a:rPr>
              <a:t>6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4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plot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3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4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9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set_xlabel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;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set_ylabel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OO-стиль matplotlib</a:t>
            </a:r>
          </a:p>
        </p:txBody>
      </p:sp>
      <p:pic>
        <p:nvPicPr>
          <p:cNvPr id="10" name="Picture 9" descr="fig_axe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267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Line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ax.plot(x, y)</a:t>
            </a:r>
            <a:r>
              <a:rPr lang="ru-RU" dirty="0" sz="2000">
                <a:solidFill>
                  <a:srgbClr val="000000"/>
                </a:solidFill>
              </a:rPr>
              <a:t xml:space="preserve"> — тренды во времени, learning curve, validation curve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Маркеры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marker='o'</a:t>
            </a:r>
            <a:r>
              <a:rPr lang="ru-RU" dirty="0" sz="2000">
                <a:solidFill>
                  <a:srgbClr val="000000"/>
                </a:solidFill>
              </a:rPr>
              <a:t xml:space="preserve"> помогают при малом числе точек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Несколько линий на одном axes — разные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label</a:t>
            </a:r>
            <a:r>
              <a:rPr lang="ru-RU" dirty="0" sz="2000">
                <a:solidFill>
                  <a:srgbClr val="000000"/>
                </a:solidFill>
              </a:rPr>
              <a:t xml:space="preserve"> +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ax.legend()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 соединяй линией категории без порядка — line для упорядоченной оси 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plot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label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train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color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C0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plot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y_test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label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test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linestyle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--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legend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Несколько линий</a:t>
            </a:r>
          </a:p>
        </p:txBody>
      </p:sp>
      <p:pic>
        <p:nvPicPr>
          <p:cNvPr id="9" name="Picture 8" descr="line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8084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Scatter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ax.scatter(x, y, alpha=0.5, s=20)</a:t>
            </a:r>
            <a:r>
              <a:rPr lang="ru-RU" dirty="0" sz="2000">
                <a:solidFill>
                  <a:srgbClr val="000000"/>
                </a:solidFill>
              </a:rPr>
              <a:t xml:space="preserve"> — связь двух числовых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Цвет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c=target</a:t>
            </a:r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hue</a:t>
            </a:r>
            <a:r>
              <a:rPr lang="ru-RU" dirty="0" sz="2000">
                <a:solidFill>
                  <a:srgbClr val="000000"/>
                </a:solidFill>
              </a:rPr>
              <a:t xml:space="preserve"> в seaborn — классы или третий признак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Выбросы видны как изолированные точки; кластеры — плотные облака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Базовый график регрессии и классификации в 2D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972556"/>
            <a:ext cx="6172200" cy="4648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scatter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cmap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viridis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alpha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0.7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set_xlabel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feature 1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;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set_ylabel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feature 2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Классы цветом</a:t>
            </a:r>
          </a:p>
        </p:txBody>
      </p:sp>
      <p:pic>
        <p:nvPicPr>
          <p:cNvPr id="8" name="Picture 7" descr="scatter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0004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Bar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ax.bar(categories, values)</a:t>
            </a:r>
            <a:r>
              <a:rPr lang="ru-RU" dirty="0" sz="2000">
                <a:solidFill>
                  <a:srgbClr val="000000"/>
                </a:solidFill>
              </a:rPr>
              <a:t xml:space="preserve"> — сравнение </a:t>
            </a:r>
            <a:r>
              <a:rPr lang="ru-RU" dirty="0" sz="2000" b="1">
                <a:solidFill>
                  <a:srgbClr val="000000"/>
                </a:solidFill>
              </a:rPr>
              <a:t>дискретных</a:t>
            </a:r>
            <a:r>
              <a:rPr lang="ru-RU" dirty="0" sz="2000">
                <a:solidFill>
                  <a:srgbClr val="000000"/>
                </a:solidFill>
              </a:rPr>
              <a:t xml:space="preserve">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Горизонтальный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barh</a:t>
            </a:r>
            <a:r>
              <a:rPr lang="ru-RU" dirty="0" sz="2000">
                <a:solidFill>
                  <a:srgbClr val="000000"/>
                </a:solidFill>
              </a:rPr>
              <a:t xml:space="preserve"> — длинные подписи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Grouped bar — несколько серий рядом; stacked — доли суммы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Ось Y для bar должна начинаться с </a:t>
            </a:r>
            <a:r>
              <a:rPr lang="ru-RU" dirty="0" sz="2000" b="1">
                <a:solidFill>
                  <a:srgbClr val="000000"/>
                </a:solidFill>
              </a:rPr>
              <a:t>0</a:t>
            </a:r>
            <a:r>
              <a:rPr lang="ru-RU" dirty="0" sz="2000">
                <a:solidFill>
                  <a:srgbClr val="000000"/>
                </a:solidFill>
              </a:rPr>
              <a:t>, иначе преувеличение различий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bar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categories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values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color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steelblue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set_ylabel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count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xticks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rotation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45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Столбчатая диаграмма</a:t>
            </a:r>
          </a:p>
        </p:txBody>
      </p:sp>
      <p:pic>
        <p:nvPicPr>
          <p:cNvPr id="9" name="Picture 8" descr="bar_metric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7995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Histogram и box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ax.hist(data, bins=30)</a:t>
            </a:r>
            <a:r>
              <a:rPr lang="ru-RU" dirty="0" sz="2000">
                <a:solidFill>
                  <a:srgbClr val="000000"/>
                </a:solidFill>
              </a:rPr>
              <a:t xml:space="preserve"> — распределение одной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Box plot: медиана, IQR, whiskers, точки-выбросы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ax.boxplot</a:t>
            </a:r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sns.boxplot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Hist + KDE (seaborn) — форма пика и хвостов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Разное число bins меняет впечатление — пробуй несколько значений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hist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data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bins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30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edgecolor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white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boxplot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data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vert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True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set_title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Распределение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hist + boxplot</a:t>
            </a:r>
          </a:p>
        </p:txBody>
      </p:sp>
      <p:pic>
        <p:nvPicPr>
          <p:cNvPr id="9" name="Picture 8" descr="hist_box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Seaborn: высокоуровневые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Seaborn строит на matplotlib: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sns.scatterplot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sns.histplot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data=df, x=, y=, hue=</a:t>
            </a:r>
            <a:r>
              <a:rPr lang="ru-RU" dirty="0" sz="2000">
                <a:solidFill>
                  <a:srgbClr val="000000"/>
                </a:solidFill>
              </a:rPr>
              <a:t xml:space="preserve"> — имена столбцов вместо массивов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sns.set_theme(style='whitegrid')</a:t>
            </a:r>
            <a:r>
              <a:rPr lang="ru-RU" dirty="0" sz="2000">
                <a:solidFill>
                  <a:srgbClr val="000000"/>
                </a:solidFill>
              </a:rPr>
              <a:t xml:space="preserve"> — единый стиль лекции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ML-диагностики: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sns.regplot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jointplot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pairplot</a:t>
            </a:r>
            <a:r>
              <a:rPr lang="ru-RU" dirty="0" sz="2000">
                <a:solidFill>
                  <a:srgbClr val="000000"/>
                </a:solidFill>
              </a:rPr>
              <a:t xml:space="preserve"> на подмножестве признаков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scatterplot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data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hue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class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regplot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data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scatter_kws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{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alpha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40A070"/>
                </a:solidFill>
                <a:latin typeface="Consolas"/>
              </a:rPr>
              <a:t>0.5</a:t>
            </a:r>
            <a:r>
              <a:rPr sz="1100">
                <a:solidFill>
                  <a:srgbClr val="000000"/>
                </a:solidFill>
                <a:latin typeface="Consolas"/>
              </a:rPr>
              <a:t>}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scatterplot / regplot</a:t>
            </a:r>
          </a:p>
        </p:txBody>
      </p:sp>
      <p:pic>
        <p:nvPicPr>
          <p:cNvPr id="9" name="Picture 8" descr="seaborn_scatter_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3442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Подписи, легенды и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Оси: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set_xlabel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set_ylabel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set_title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на русском</a:t>
            </a:r>
            <a:r>
              <a:rPr lang="ru-RU" dirty="0" sz="2000">
                <a:solidFill>
                  <a:srgbClr val="000000"/>
                </a:solidFill>
              </a:rPr>
              <a:t xml:space="preserve"> в наших ноутбуках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legend()</a:t>
            </a:r>
            <a:r>
              <a:rPr lang="ru-RU" dirty="0" sz="2000">
                <a:solidFill>
                  <a:srgbClr val="000000"/>
                </a:solidFill>
              </a:rPr>
              <a:t xml:space="preserve"> — подписи серий;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loc='best'</a:t>
            </a:r>
            <a:r>
              <a:rPr lang="ru-RU" dirty="0" sz="2000">
                <a:solidFill>
                  <a:srgbClr val="000000"/>
                </a:solidFill>
              </a:rPr>
              <a:t xml:space="preserve"> или явное место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Цвет: colorblind-friendly палитры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tab10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colorblind</a:t>
            </a:r>
            <a:r>
              <a:rPr lang="ru-RU" dirty="0" sz="2000">
                <a:solidFill>
                  <a:srgbClr val="000000"/>
                </a:solidFill>
              </a:rPr>
              <a:t xml:space="preserve"> в seaborn)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 полагайся только на цвет — добавь маркер/ linestyle для различия серий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set_title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ROC-кривая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fontsize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14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legend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loc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lower right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grid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 b="1">
                <a:solidFill>
                  <a:srgbClr val="007020"/>
                </a:solidFill>
                <a:latin typeface="Consolas"/>
              </a:rPr>
              <a:t>True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alpha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0.3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title / legend / grid</a:t>
            </a:r>
          </a:p>
        </p:txBody>
      </p:sp>
      <p:pic>
        <p:nvPicPr>
          <p:cNvPr id="9" name="Picture 8" descr="legend_color_mar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7995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Несколько subplots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fig, axes = plt.subplots(nrows, ncols, figsize=(w,h))</a:t>
            </a:r>
            <a:r>
              <a:rPr lang="ru-RU" dirty="0" sz="2000">
                <a:solidFill>
                  <a:srgbClr val="000000"/>
                </a:solidFill>
              </a:rPr>
              <a:t xml:space="preserve"> — сетка графиков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axes.ravel()</a:t>
            </a:r>
            <a:r>
              <a:rPr lang="ru-RU" dirty="0" sz="2000">
                <a:solidFill>
                  <a:srgbClr val="000000"/>
                </a:solidFill>
              </a:rPr>
              <a:t xml:space="preserve"> — плоский обход ячеек;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axes[0,1]</a:t>
            </a:r>
            <a:r>
              <a:rPr lang="ru-RU" dirty="0" sz="2000">
                <a:solidFill>
                  <a:srgbClr val="000000"/>
                </a:solidFill>
              </a:rPr>
              <a:t xml:space="preserve"> — доступ по индексу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fig.suptitle('Общий заголовок')</a:t>
            </a:r>
            <a:r>
              <a:rPr lang="ru-RU" dirty="0" sz="2000">
                <a:solidFill>
                  <a:srgbClr val="000000"/>
                </a:solidFill>
              </a:rPr>
              <a:t xml:space="preserve"> — над всей фигурой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Одинаковые пределы осей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sharex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sharey</a:t>
            </a:r>
            <a:r>
              <a:rPr lang="ru-RU" dirty="0" sz="2000">
                <a:solidFill>
                  <a:srgbClr val="000000"/>
                </a:solidFill>
              </a:rPr>
              <a:t>) — для сравнения панелей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axes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plt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subplots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A070"/>
                </a:solidFill>
                <a:latin typeface="Consolas"/>
              </a:rPr>
              <a:t>2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figsize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A070"/>
                </a:solidFill>
                <a:latin typeface="Consolas"/>
              </a:rPr>
              <a:t>8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6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axes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hist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a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;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axes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scatter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tight_layout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2×2</a:t>
            </a:r>
          </a:p>
        </p:txBody>
      </p:sp>
      <p:pic>
        <p:nvPicPr>
          <p:cNvPr id="9" name="Picture 8" descr="subplots_grid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724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Heatmap и корреляции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df.corr()</a:t>
            </a:r>
            <a:r>
              <a:rPr lang="ru-RU" dirty="0" sz="2000">
                <a:solidFill>
                  <a:srgbClr val="000000"/>
                </a:solidFill>
              </a:rPr>
              <a:t xml:space="preserve"> — матрица Pearson;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sns.heatmap(corr, annot=True, cmap='RdBu_r', center=0)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Сильная |r| ≳ 0.8 — кандидаты на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Корреляция ≠ причинность; скрытые нелинейные связи corr не видит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Масштабируй признаки перед интерпретацией corr в смешанных единицах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corr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corr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numeric_only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True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heatmap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corr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annot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True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cmap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coolwarm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vmin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666666"/>
                </a:solidFill>
                <a:latin typeface="Consolas"/>
              </a:rPr>
              <a:t>-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vmax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heatmap корреляций</a:t>
            </a:r>
          </a:p>
        </p:txBody>
      </p:sp>
      <p:pic>
        <p:nvPicPr>
          <p:cNvPr id="9" name="Picture 8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6613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Категориальные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sns.countplot(data=df, x='col')</a:t>
            </a:r>
            <a:r>
              <a:rPr lang="ru-RU" dirty="0" sz="2000">
                <a:solidFill>
                  <a:srgbClr val="000000"/>
                </a:solidFill>
              </a:rPr>
              <a:t xml:space="preserve"> — частоты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sns.barplot(x=, y=, estimator='mean')</a:t>
            </a:r>
            <a:r>
              <a:rPr lang="ru-RU" dirty="0" sz="2000">
                <a:solidFill>
                  <a:srgbClr val="000000"/>
                </a:solidFill>
              </a:rPr>
              <a:t xml:space="preserve"> — агрегат по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Violin / stripplot — распределение внутри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Порядок категорий на оси X задавай явно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order=</a:t>
            </a:r>
            <a:r>
              <a:rPr lang="ru-RU" dirty="0" sz="2000">
                <a:solidFill>
                  <a:srgbClr val="000000"/>
                </a:solidFill>
              </a:rPr>
              <a:t>) для читаемости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countplot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data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category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order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category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value_counts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index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xticks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rotation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30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countplot</a:t>
            </a:r>
          </a:p>
        </p:txBody>
      </p:sp>
      <p:pic>
        <p:nvPicPr>
          <p:cNvPr id="9" name="Picture 8" descr="categorical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Pie chart: ловушки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Круговая диаграмма — </a:t>
            </a:r>
            <a:r>
              <a:rPr lang="ru-RU" dirty="0" sz="2000" b="1">
                <a:solidFill>
                  <a:srgbClr val="000000"/>
                </a:solidFill>
              </a:rPr>
              <a:t>слабой</a:t>
            </a:r>
            <a:r>
              <a:rPr lang="ru-RU" dirty="0" sz="2000">
                <a:solidFill>
                  <a:srgbClr val="000000"/>
                </a:solidFill>
              </a:rPr>
              <a:t xml:space="preserve"> точности сравнения углов и долей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Много секторов (&gt;5) — нечитаемо; малые доли не отличить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Лучше </a:t>
            </a:r>
            <a:r>
              <a:rPr lang="ru-RU" dirty="0" sz="2000" b="1">
                <a:solidFill>
                  <a:srgbClr val="000000"/>
                </a:solidFill>
              </a:rPr>
              <a:t>bar chart</a:t>
            </a:r>
            <a:r>
              <a:rPr lang="ru-RU" dirty="0" sz="2000">
                <a:solidFill>
                  <a:srgbClr val="000000"/>
                </a:solidFill>
              </a:rPr>
              <a:t xml:space="preserve"> для сравнения долей; pie — редко, для 2–3 сегментов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3D pie и «explode» — декоративный шум, не добавляет информации</a:t>
            </a:r>
          </a:p>
        </p:txBody>
      </p:sp>
      <p:pic>
        <p:nvPicPr>
          <p:cNvPr id="4" name="Picture 3" descr="pie_v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Стиль и читаемость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Белый фон, тёмный текст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#1a1a1a</a:t>
            </a:r>
            <a:r>
              <a:rPr lang="ru-RU" dirty="0" sz="2000">
                <a:solidFill>
                  <a:srgbClr val="000000"/>
                </a:solidFill>
              </a:rPr>
              <a:t xml:space="preserve"> — как на слайдах курса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Размер шрифта осей 12–14 pt в ноутбуке;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figsize</a:t>
            </a:r>
            <a:r>
              <a:rPr lang="ru-RU" dirty="0" sz="2000">
                <a:solidFill>
                  <a:srgbClr val="000000"/>
                </a:solidFill>
              </a:rPr>
              <a:t xml:space="preserve"> достаточный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Меньше «chartjunk»: лишние сетки, 3D, тени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Один график — одна мысль; не перегружай элементы</a:t>
            </a:r>
          </a:p>
        </p:txBody>
      </p:sp>
      <p:pic>
        <p:nvPicPr>
          <p:cNvPr id="4" name="Picture 3" descr="style_clean_vs_cl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Residual plot: ось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ось Y —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Идеал — случайное облако вокруг нуля без «воронки» или U-образного паттерна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Histogram остатков — близость к симметрии (не строгая нормальность)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Тот же приём, что в уроке линейной регрессии — единый язык диагностики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residuals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y_test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-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scatter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residuals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alpha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0.6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axhline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color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red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linestyle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--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Остатки vs предсказание</a:t>
            </a:r>
          </a:p>
        </p:txBody>
      </p:sp>
      <p:pic>
        <p:nvPicPr>
          <p:cNvPr id="9" name="Picture 8" descr="residuals_good_vs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ROC и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ROC: TPR vs FPR при смене порога; площадь AUC — ранжирование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PR-кривая важнее при </a:t>
            </a:r>
            <a:r>
              <a:rPr lang="ru-RU" dirty="0" sz="2000" b="1">
                <a:solidFill>
                  <a:srgbClr val="000000"/>
                </a:solidFill>
              </a:rPr>
              <a:t>дисбалансе</a:t>
            </a:r>
            <a:r>
              <a:rPr lang="ru-RU" dirty="0" sz="2000">
                <a:solidFill>
                  <a:srgbClr val="000000"/>
                </a:solidFill>
              </a:rPr>
              <a:t xml:space="preserve">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sklearn: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RocCurveDisplay.from_predictions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PrecisionRecallDisplay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Добавляй диагональ случайного классификатора на ROC для ориентира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972556"/>
            <a:ext cx="6172200" cy="4648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RocCurveDisplay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from_predictions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y_test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y_score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title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ROC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RocCurveDisplay</a:t>
            </a:r>
          </a:p>
        </p:txBody>
      </p:sp>
      <p:pic>
        <p:nvPicPr>
          <p:cNvPr id="8" name="Picture 7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Типичные ошибки визуализации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Truncated axis на bar (Y не с нуля) — ложное усиление эффекта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Dual axis с разными масштабами — ложные корреляции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Слишком мало/много bins в histogram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Подписи перекрываются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rotation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tight_layout</a:t>
            </a:r>
            <a:r>
              <a:rPr lang="ru-RU" dirty="0" sz="2000">
                <a:solidFill>
                  <a:srgbClr val="000000"/>
                </a:solidFill>
              </a:rPr>
              <a:t>, уменьшение шрифта</a:t>
            </a:r>
          </a:p>
        </p:txBody>
      </p:sp>
      <p:pic>
        <p:nvPicPr>
          <p:cNvPr id="4" name="Picture 3" descr="truncated_axis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Связь с уроками ML и 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Линейная регрессия: scatter+line, residuals, bar метрик — те же паттерны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Логистическая: ROC/PR, calibration, decision boundary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Деревья: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plot_tree</a:t>
            </a:r>
            <a:r>
              <a:rPr lang="ru-RU" dirty="0" sz="2000">
                <a:solidFill>
                  <a:srgbClr val="000000"/>
                </a:solidFill>
              </a:rPr>
              <a:t>, feature importance bar, confusion matrix 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Чек-лист: EDA → модель → диагностика; подписи на русском; bar с нуля</a:t>
            </a:r>
          </a:p>
        </p:txBody>
      </p:sp>
      <p:pic>
        <p:nvPicPr>
          <p:cNvPr id="4" name="Picture 3" descr="ml_lessons_viz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7064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Cleveland W.S., McGill R. (1984). Graphical Perception: Theory, Experimentation, and Application to the Development of Graphical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(2010). A Layered Grammar of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Tufte E.R. (1983). The Visual Display of Quantitative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https://colab.research.google.com/github/gurovic/ml-lessons/blob/main/lessons/vizualizatsiya/code.ipynb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https://colab.research.google.com/github/gurovic/ml-lessons/blob/main/lessons/vizualizatsiya/project.ipynb</a:t>
            </a:r>
          </a:p>
        </p:txBody>
      </p:sp>
      <p:pic>
        <p:nvPicPr>
          <p:cNvPr id="10" name="Picture 9" descr="_qr_ref_18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8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